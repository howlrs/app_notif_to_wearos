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既存のDB監視システムが閾値超過を検知した時に、作業員のスマートウォッチを鳴らす仕組みの試作報告。画面はすべてWear OS 5のエミュレーター（Google公式の仮想ウォッチ）で、実機に入れるものと同じアプリを動かして撮影した。通知はFirebase経由で実際に送っている。</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既存の監視システムが閾値超過を検知した時、その現場に登録された時計をすべて鳴らす。騒音の多い現場でも気付けるよう、音だけでなく振動でも知らせ、確認されるまで繰り返す。時計はスマホと連動させず、現場のWi-Fiだけで動く。</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送信はGoogleの通知配信サービス（Firebase Cloud Messaging）を使う。時計は現場のWi-Fiからインターネットに出られれば受信できる。時計は起動時と番号の変更時に、時計固有の識別子・現場番号・端末番号と、通知の宛先IDを登録APIに送る。送信処理は既存の監視システムに組み込む想定で、参考実装を用意している。</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キッティング（配布前の設定）で1台ずつ行う。入力は番号2つだけで、文字入力はない。1の通知許可の画面が英語なのは、エミュレーターのOS部品に日本語訳が入っていないため。実機では日本語で出る想定。番号の範囲は現場番号1〜999999、端末番号1〜999（暫定）。</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待機画面には常に現場番号と端末番号を出し、取り違えを防ぐ。状態は、待機中（登録済み）、送信中（登録を送っている）、未同期（送れていない。自動で再送する）の3つ。番号の変更は「設定変更」の長押しだけで、触れただけでは入力画面に戻らない。</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朝会の後に時計を配り、作業員が貸し出し台帳を見ながら現場番号と端末番号を入力する運用を想定している。サーバーは時計ごとの固有の識別子で登録を管理し、作業員が入力した端末番号は台帳との照合に使う。そのため、同じ日に別の時計と同じ番号を入力しても、先に登録した時計の登録は消えず、両方に通知が届く。重なった時計には「同じ番号の時計あり　台帳を確認」と表示し、管理側の一覧でも重なりが分かる。前日までの登録と番号が重なるのは貸し出しの入れ替えとして扱う（業務日は4時区切り、設定で変更可）。返却・紛失した時計は管理側で登録から外す。</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画面を消し、省電力状態（Doze）を強制した上で、Firebase経由で実際に送った。計測した回では約1秒で振動とアラーム音が始まった。エミュレーターでの値で、現場のWi-Fiと実機での到達時間は別に測る必要がある（実機確認の項目に含めた）。</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振動は「1秒振動＋0.5秒休止」の繰り返し、音はアラームの音として鳴らし続ける。騒音の中で一度きりの短い振動を逃さないよう、確認まで繰り返す方式に決めた（当初案は約7秒で1回）。60秒で止まった後も通知は残り、手首を上げれば内容を確認できる。おやすみモード時の音の扱いは実機で確認する。</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鳴動中に手首を上げると、通知として警告の題名と本文が出る。下へ送ると「確認」「スマートウォッチで開く」「クリア」が並ぶ。「確認」で鳴動が止まる。「開く」を押すとアプリの警告画面になり、内容・送信時刻・現場と端末の番号、大きな「確認」ボタンが出る。</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警告画面または通知の「確認」を押すと、振動・アラーム音が止まり、通知も消える。押してから約1秒後に確かめた時点で、どれも止まっていた。時計は通常の文字盤に戻る。</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キッティングの最後に、管理側の送信ツールから現場番号と端末番号を指定してテスト通知を送る。題名に【テスト】が付くので、本番の警告と見分けられる。鳴り方と「確認」の操作は本番と同じ。</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Wear OS 5エミュレーターで、Firebase経由の実送信を使って確認した結果。警告の自動表示だけは想定どおりに動かず、手首を上げて表示する方式で対応した（次のページ）。おやすみモード時の音、電池持ち、騒音下での気付き、Google Playからの配信は未確認。アプリの単体テスト19件、送信処理のテスト34件はすべて成功。</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当初は、受信と同時に画面を点けて警告画面を全面に出す想定だった（全画面通知）。Wear OS 5のエミュレーターでは、OS側でこの仕組みが無効になっていて起動しなかった。そこで、振動と音で気付かせ、作業員が手首を上げて内容を見る運用を前提にした。実機（機種ごと）でも同じ動きかを確かめる。</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開発環境では、長時間操作しないでいると通知を受ける接続が切れたままになり、つなぎ直すまで届かないことがあった。開発用の回線（VPN経由）に特有の現象の可能性があるが、現場のWi-Fiで同じことが起きないかを測る。届かなかった警告は5分間だけ保持し、それより古い警告は後から鳴らさない設定にしている。</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エミュレーターでは確かめられない項目。合格の目安は暫定で、現場試行の前に見直す。検証用に実機2台を調達する想定。</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Google Playの「内部テスト」に登録したアカウントだけが、時計のPlayストアからインストールできる。更新も同じ経路で届く。テスターは最大100アカウント。少数の共通アカウントで時計にログインする運用にした。開始にはGoogle Play Consoleの開発者登録（登録料25米ドル、本人確認）が要る。まだ登録していない。</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登録APIと送信処理は、既存の監視システムと同じ環境に置くのが自然。言語やDBに合わせて移植する。現場のWi-Fiから登録APIへ届くこと、HTTPSで公開するドメインが要る。異常が続く間の再通知は、既存システムの警報ルールに合わせる。</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対象機種は、スピーカー付き、Wear OS 4以降、2.4GHzのWi-Fiに対応していることを条件にしたい。通知の宛先は現場単位に決まった（現場の時計すべてへ送る）。確認結果の表示と端末の生存監視は、試行の結果を見て決める。</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1と2は並行して進められる。4は既存システムの構成が分かってから着手する。試行は1現場で2週間ほどを想定し、到達率・遅延・電池・作業員の声をまとめて本格展開を判断する。</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xml"/><Relationship Id="rId3"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xml"/><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image" Target="../media/image6.png"/><Relationship Id="rId6" Type="http://schemas.openxmlformats.org/officeDocument/2006/relationships/image" Target="../media/image7.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 Id="rId3"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 Id="rId3" Type="http://schemas.openxmlformats.org/officeDocument/2006/relationships/image" Target="../media/image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xml"/><Relationship Id="rId3" Type="http://schemas.openxmlformats.org/officeDocument/2006/relationships/image" Target="../media/image2.png"/><Relationship Id="rId4" Type="http://schemas.openxmlformats.org/officeDocument/2006/relationships/image" Target="../media/image9.png"/><Relationship Id="rId5"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 Id="rId3" Type="http://schemas.openxmlformats.org/officeDocument/2006/relationships/image" Target="../media/image1.png"/><Relationship Id="rId4" Type="http://schemas.openxmlformats.org/officeDocument/2006/relationships/image" Target="../media/image10.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xml"/><Relationship Id="rId3" Type="http://schemas.openxmlformats.org/officeDocument/2006/relationships/image" Target="../media/image1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9.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685800" y="1828800"/>
            <a:ext cx="6766560" cy="1737360"/>
          </a:xfrm>
        </p:spPr>
        <p:txBody>
          <a:bodyPr wrap="square" lIns="0" rIns="0" tIns="0" bIns="0" anchor="b">
            <a:noAutofit/>
          </a:bodyPr>
          <a:lstStyle/>
          <a:p>
            <a:pPr algn="l">
              <a:lnSpc>
                <a:spcPct val="120000"/>
              </a:lnSpc>
            </a:pPr>
            <a:r>
              <a:rPr sz="4000" b="1" lang="ja-JP">
                <a:solidFill>
                  <a:srgbClr val="1A1E23"/>
                </a:solidFill>
                <a:latin typeface="BIZ UDPGothic"/>
                <a:ea typeface="BIZ UDPゴシック"/>
                <a:cs typeface="BIZ UDPGothic"/>
              </a:rPr>
              <a:t>工事現場向け</a:t>
            </a:r>
            <a:br/>
            <a:r>
              <a:rPr sz="4000" b="1" lang="ja-JP">
                <a:solidFill>
                  <a:srgbClr val="1A1E23"/>
                </a:solidFill>
                <a:latin typeface="BIZ UDPGothic"/>
                <a:ea typeface="BIZ UDPゴシック"/>
                <a:cs typeface="BIZ UDPGothic"/>
              </a:rPr>
              <a:t>スマートウォッチ通知システム</a:t>
            </a:r>
          </a:p>
        </p:txBody>
      </p:sp>
      <p:sp>
        <p:nvSpPr>
          <p:cNvPr id="3" name="TextBox 2"/>
          <p:cNvSpPr txBox="1"/>
          <p:nvPr/>
        </p:nvSpPr>
        <p:spPr>
          <a:xfrm>
            <a:off x="685800" y="3840480"/>
            <a:ext cx="6400800" cy="914400"/>
          </a:xfrm>
          <a:prstGeom prst="rect">
            <a:avLst/>
          </a:prstGeom>
          <a:noFill/>
        </p:spPr>
        <p:txBody>
          <a:bodyPr wrap="square" lIns="0" rIns="0" tIns="0" bIns="0" anchor="t">
            <a:noAutofit/>
          </a:bodyPr>
          <a:lstStyle/>
          <a:p>
            <a:pPr algn="l">
              <a:lnSpc>
                <a:spcPct val="130000"/>
              </a:lnSpc>
            </a:pPr>
            <a:r>
              <a:rPr sz="2200" b="0" lang="ja-JP">
                <a:solidFill>
                  <a:srgbClr val="1A1E23"/>
                </a:solidFill>
                <a:latin typeface="BIZ UDPGothic"/>
                <a:ea typeface="BIZ UDPゴシック"/>
                <a:cs typeface="BIZ UDPGothic"/>
              </a:rPr>
              <a:t>試作アプリの動作確認報告</a:t>
            </a:r>
          </a:p>
          <a:p>
            <a:pPr algn="l">
              <a:lnSpc>
                <a:spcPct val="130000"/>
              </a:lnSpc>
              <a:spcBef>
                <a:spcPts val="1000"/>
              </a:spcBef>
            </a:pPr>
            <a:r>
              <a:rPr sz="1600" b="0" lang="ja-JP">
                <a:solidFill>
                  <a:srgbClr val="4B5560"/>
                </a:solidFill>
                <a:latin typeface="BIZ UDPGothic"/>
                <a:ea typeface="BIZ UDPゴシック"/>
                <a:cs typeface="BIZ UDPGothic"/>
              </a:rPr>
              <a:t>Wear OS 5エミュレーターでの検証結果と、次に決めること</a:t>
            </a:r>
          </a:p>
        </p:txBody>
      </p:sp>
      <p:sp>
        <p:nvSpPr>
          <p:cNvPr id="4" name="TextBox 3"/>
          <p:cNvSpPr txBox="1"/>
          <p:nvPr/>
        </p:nvSpPr>
        <p:spPr>
          <a:xfrm>
            <a:off x="685800" y="5989320"/>
            <a:ext cx="5486400" cy="320040"/>
          </a:xfrm>
          <a:prstGeom prst="rect">
            <a:avLst/>
          </a:prstGeom>
          <a:noFill/>
        </p:spPr>
        <p:txBody>
          <a:bodyPr wrap="square" lIns="0" rIns="0" tIns="0" bIns="0" anchor="t">
            <a:noAutofit/>
          </a:bodyPr>
          <a:lstStyle/>
          <a:p>
            <a:pPr algn="l">
              <a:lnSpc>
                <a:spcPct val="130000"/>
              </a:lnSpc>
            </a:pPr>
            <a:r>
              <a:rPr sz="1300" b="0" lang="ja-JP">
                <a:solidFill>
                  <a:srgbClr val="69727D"/>
                </a:solidFill>
                <a:latin typeface="BIZ UDPGothic"/>
                <a:ea typeface="BIZ UDPゴシック"/>
                <a:cs typeface="BIZ UDPGothic"/>
              </a:rPr>
              <a:t>2026年10月19日</a:t>
            </a:r>
          </a:p>
        </p:txBody>
      </p:sp>
      <p:pic>
        <p:nvPicPr>
          <p:cNvPr id="5" name="Picture 4" descr="警告画面。赤い背景に「警告: 閾値超過」、送信時刻、現場 101 / 端末 05、「確認」ボタン"/>
          <p:cNvPicPr>
            <a:picLocks noChangeAspect="1"/>
          </p:cNvPicPr>
          <p:nvPr/>
        </p:nvPicPr>
        <p:blipFill>
          <a:blip r:embed="rId2"/>
          <a:stretch>
            <a:fillRect/>
          </a:stretch>
        </p:blipFill>
        <p:spPr>
          <a:xfrm>
            <a:off x="7360920" y="1097280"/>
            <a:ext cx="4480560" cy="448056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685800" y="502920"/>
            <a:ext cx="10820095" cy="1188720"/>
          </a:xfrm>
        </p:spPr>
        <p:txBody>
          <a:bodyPr wrap="square" lIns="0" rIns="0" tIns="0" bIns="0" anchor="t">
            <a:noAutofit/>
          </a:bodyPr>
          <a:lstStyle/>
          <a:p>
            <a:pPr algn="l">
              <a:lnSpc>
                <a:spcPct val="120000"/>
              </a:lnSpc>
            </a:pPr>
            <a:r>
              <a:rPr sz="3000" b="1" lang="ja-JP">
                <a:solidFill>
                  <a:srgbClr val="1A1E23"/>
                </a:solidFill>
                <a:latin typeface="BIZ UDPGothic"/>
                <a:ea typeface="BIZ UDPゴシック"/>
                <a:cs typeface="BIZ UDPGothic"/>
              </a:rPr>
              <a:t>監視システムが異常を検知したら、</a:t>
            </a:r>
            <a:br/>
            <a:r>
              <a:rPr sz="3000" b="1" lang="ja-JP">
                <a:solidFill>
                  <a:srgbClr val="1A1E23"/>
                </a:solidFill>
                <a:latin typeface="BIZ UDPGothic"/>
                <a:ea typeface="BIZ UDPゴシック"/>
                <a:cs typeface="BIZ UDPGothic"/>
              </a:rPr>
              <a:t>作業員の手首へ直接知らせる</a:t>
            </a:r>
          </a:p>
        </p:txBody>
      </p:sp>
      <p:sp>
        <p:nvSpPr>
          <p:cNvPr id="3" name="TextBox 2"/>
          <p:cNvSpPr txBox="1"/>
          <p:nvPr/>
        </p:nvSpPr>
        <p:spPr>
          <a:xfrm>
            <a:off x="685800" y="6382512"/>
            <a:ext cx="9905695" cy="274320"/>
          </a:xfrm>
          <a:prstGeom prst="rect">
            <a:avLst/>
          </a:prstGeom>
          <a:noFill/>
        </p:spPr>
        <p:txBody>
          <a:bodyPr wrap="square" lIns="0" rIns="0" tIns="0" bIns="0" anchor="t">
            <a:noAutofit/>
          </a:bodyPr>
          <a:lstStyle/>
          <a:p>
            <a:pPr algn="l">
              <a:lnSpc>
                <a:spcPct val="130000"/>
              </a:lnSpc>
            </a:pPr>
            <a:r>
              <a:rPr sz="1000" b="0" lang="ja-JP">
                <a:solidFill>
                  <a:srgbClr val="69727D"/>
                </a:solidFill>
                <a:latin typeface="BIZ UDPGothic"/>
                <a:ea typeface="BIZ UDPゴシック"/>
                <a:cs typeface="BIZ UDPGothic"/>
              </a:rPr>
              <a:t>画面: Wear OS 5（API 34）エミュレーターで試作アプリを動かして撮影（2026-10-19）</a:t>
            </a:r>
          </a:p>
        </p:txBody>
      </p:sp>
      <p:sp>
        <p:nvSpPr>
          <p:cNvPr id="4" name="TextBox 3"/>
          <p:cNvSpPr txBox="1"/>
          <p:nvPr/>
        </p:nvSpPr>
        <p:spPr>
          <a:xfrm>
            <a:off x="10591495" y="6382512"/>
            <a:ext cx="914400" cy="274320"/>
          </a:xfrm>
          <a:prstGeom prst="rect">
            <a:avLst/>
          </a:prstGeom>
          <a:noFill/>
        </p:spPr>
        <p:txBody>
          <a:bodyPr wrap="square" lIns="0" rIns="0" tIns="0" bIns="0" anchor="t">
            <a:noAutofit/>
          </a:bodyPr>
          <a:lstStyle/>
          <a:p>
            <a:pPr algn="r">
              <a:lnSpc>
                <a:spcPct val="130000"/>
              </a:lnSpc>
            </a:pPr>
            <a:r>
              <a:rPr sz="1000" b="0" lang="ja-JP">
                <a:solidFill>
                  <a:srgbClr val="69727D"/>
                </a:solidFill>
                <a:latin typeface="BIZ UDPGothic"/>
                <a:ea typeface="BIZ UDPゴシック"/>
                <a:cs typeface="BIZ UDPGothic"/>
              </a:rPr>
              <a:t>2</a:t>
            </a:r>
          </a:p>
        </p:txBody>
      </p:sp>
      <p:sp>
        <p:nvSpPr>
          <p:cNvPr id="5" name="TextBox 4"/>
          <p:cNvSpPr txBox="1"/>
          <p:nvPr/>
        </p:nvSpPr>
        <p:spPr>
          <a:xfrm>
            <a:off x="685800" y="2103120"/>
            <a:ext cx="6126480" cy="3840480"/>
          </a:xfrm>
          <a:prstGeom prst="rect">
            <a:avLst/>
          </a:prstGeom>
          <a:noFill/>
        </p:spPr>
        <p:txBody>
          <a:bodyPr wrap="square" lIns="0" rIns="0" tIns="0" bIns="0" anchor="t">
            <a:noAutofit/>
          </a:bodyPr>
          <a:lstStyle/>
          <a:p>
            <a:pPr algn="l">
              <a:lnSpc>
                <a:spcPct val="135000"/>
              </a:lnSpc>
            </a:pPr>
            <a:r>
              <a:rPr sz="1400" b="1" lang="ja-JP">
                <a:solidFill>
                  <a:srgbClr val="4B5560"/>
                </a:solidFill>
                <a:latin typeface="BIZ UDPGothic"/>
                <a:ea typeface="BIZ UDPゴシック"/>
                <a:cs typeface="BIZ UDPGothic"/>
              </a:rPr>
              <a:t>知らせる相手</a:t>
            </a:r>
          </a:p>
          <a:p>
            <a:pPr algn="l">
              <a:lnSpc>
                <a:spcPct val="135000"/>
              </a:lnSpc>
              <a:spcBef>
                <a:spcPts val="400"/>
              </a:spcBef>
            </a:pPr>
            <a:r>
              <a:rPr sz="2100" b="0" lang="ja-JP">
                <a:solidFill>
                  <a:srgbClr val="1A1E23"/>
                </a:solidFill>
                <a:latin typeface="BIZ UDPGothic"/>
                <a:ea typeface="BIZ UDPゴシック"/>
                <a:cs typeface="BIZ UDPGothic"/>
              </a:rPr>
              <a:t>異常を検知した現場で、時計を着けている作業員全員</a:t>
            </a:r>
          </a:p>
          <a:p>
            <a:pPr algn="l">
              <a:lnSpc>
                <a:spcPct val="135000"/>
              </a:lnSpc>
              <a:spcBef>
                <a:spcPts val="2600"/>
              </a:spcBef>
            </a:pPr>
            <a:r>
              <a:rPr sz="1400" b="1" lang="ja-JP">
                <a:solidFill>
                  <a:srgbClr val="4B5560"/>
                </a:solidFill>
                <a:latin typeface="BIZ UDPGothic"/>
                <a:ea typeface="BIZ UDPゴシック"/>
                <a:cs typeface="BIZ UDPGothic"/>
              </a:rPr>
              <a:t>知らせ方</a:t>
            </a:r>
          </a:p>
          <a:p>
            <a:pPr algn="l">
              <a:lnSpc>
                <a:spcPct val="135000"/>
              </a:lnSpc>
              <a:spcBef>
                <a:spcPts val="400"/>
              </a:spcBef>
            </a:pPr>
            <a:r>
              <a:rPr sz="2100" b="0" lang="ja-JP">
                <a:solidFill>
                  <a:srgbClr val="1A1E23"/>
                </a:solidFill>
                <a:latin typeface="BIZ UDPGothic"/>
                <a:ea typeface="BIZ UDPゴシック"/>
                <a:cs typeface="BIZ UDPGothic"/>
              </a:rPr>
              <a:t>振動とアラーム音。「確認」が押されるまで繰り返す（最大60秒）</a:t>
            </a:r>
          </a:p>
          <a:p>
            <a:pPr algn="l">
              <a:lnSpc>
                <a:spcPct val="135000"/>
              </a:lnSpc>
              <a:spcBef>
                <a:spcPts val="2600"/>
              </a:spcBef>
            </a:pPr>
            <a:r>
              <a:rPr sz="1400" b="1" lang="ja-JP">
                <a:solidFill>
                  <a:srgbClr val="4B5560"/>
                </a:solidFill>
                <a:latin typeface="BIZ UDPGothic"/>
                <a:ea typeface="BIZ UDPゴシック"/>
                <a:cs typeface="BIZ UDPGothic"/>
              </a:rPr>
              <a:t>作業員がすること</a:t>
            </a:r>
          </a:p>
          <a:p>
            <a:pPr algn="l">
              <a:lnSpc>
                <a:spcPct val="135000"/>
              </a:lnSpc>
              <a:spcBef>
                <a:spcPts val="400"/>
              </a:spcBef>
            </a:pPr>
            <a:r>
              <a:rPr sz="2100" b="0" lang="ja-JP">
                <a:solidFill>
                  <a:srgbClr val="1A1E23"/>
                </a:solidFill>
                <a:latin typeface="BIZ UDPGothic"/>
                <a:ea typeface="BIZ UDPゴシック"/>
                <a:cs typeface="BIZ UDPGothic"/>
              </a:rPr>
              <a:t>手首を上げて内容を見て、「確認」を押す</a:t>
            </a:r>
          </a:p>
        </p:txBody>
      </p:sp>
      <p:pic>
        <p:nvPicPr>
          <p:cNvPr id="6" name="Picture 5" descr="通知の表示。「現場アラート」「警告: 閾値超過」と警告の本文"/>
          <p:cNvPicPr>
            <a:picLocks noChangeAspect="1"/>
          </p:cNvPicPr>
          <p:nvPr/>
        </p:nvPicPr>
        <p:blipFill>
          <a:blip r:embed="rId3"/>
          <a:stretch>
            <a:fillRect/>
          </a:stretch>
        </p:blipFill>
        <p:spPr>
          <a:xfrm>
            <a:off x="7498079" y="1600200"/>
            <a:ext cx="4023360" cy="402336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685800" y="502920"/>
            <a:ext cx="10820095" cy="1188720"/>
          </a:xfrm>
        </p:spPr>
        <p:txBody>
          <a:bodyPr wrap="square" lIns="0" rIns="0" tIns="0" bIns="0" anchor="t">
            <a:noAutofit/>
          </a:bodyPr>
          <a:lstStyle/>
          <a:p>
            <a:pPr algn="l">
              <a:lnSpc>
                <a:spcPct val="120000"/>
              </a:lnSpc>
            </a:pPr>
            <a:r>
              <a:rPr sz="3000" b="1" lang="ja-JP">
                <a:solidFill>
                  <a:srgbClr val="1A1E23"/>
                </a:solidFill>
                <a:latin typeface="BIZ UDPGothic"/>
                <a:ea typeface="BIZ UDPゴシック"/>
                <a:cs typeface="BIZ UDPGothic"/>
              </a:rPr>
              <a:t>スマホもSIMも使わず、</a:t>
            </a:r>
            <a:br/>
            <a:r>
              <a:rPr sz="3000" b="1" lang="ja-JP">
                <a:solidFill>
                  <a:srgbClr val="1A1E23"/>
                </a:solidFill>
                <a:latin typeface="BIZ UDPGothic"/>
                <a:ea typeface="BIZ UDPゴシック"/>
                <a:cs typeface="BIZ UDPGothic"/>
              </a:rPr>
              <a:t>現場のWi-Fiだけで通知が届く</a:t>
            </a:r>
          </a:p>
        </p:txBody>
      </p:sp>
      <p:sp>
        <p:nvSpPr>
          <p:cNvPr id="3" name="TextBox 2"/>
          <p:cNvSpPr txBox="1"/>
          <p:nvPr/>
        </p:nvSpPr>
        <p:spPr>
          <a:xfrm>
            <a:off x="685800" y="6382512"/>
            <a:ext cx="9905695" cy="274320"/>
          </a:xfrm>
          <a:prstGeom prst="rect">
            <a:avLst/>
          </a:prstGeom>
          <a:noFill/>
        </p:spPr>
        <p:txBody>
          <a:bodyPr wrap="square" lIns="0" rIns="0" tIns="0" bIns="0" anchor="t">
            <a:noAutofit/>
          </a:bodyPr>
          <a:lstStyle/>
          <a:p>
            <a:pPr algn="l">
              <a:lnSpc>
                <a:spcPct val="130000"/>
              </a:lnSpc>
            </a:pPr>
            <a:r>
              <a:rPr sz="1000" b="0" lang="ja-JP">
                <a:solidFill>
                  <a:srgbClr val="69727D"/>
                </a:solidFill>
                <a:latin typeface="BIZ UDPGothic"/>
                <a:ea typeface="BIZ UDPゴシック"/>
                <a:cs typeface="BIZ UDPGothic"/>
              </a:rPr>
              <a:t>工事現場向け スマートウォッチ通知システム　試作の動作確認報告</a:t>
            </a:r>
          </a:p>
        </p:txBody>
      </p:sp>
      <p:sp>
        <p:nvSpPr>
          <p:cNvPr id="4" name="TextBox 3"/>
          <p:cNvSpPr txBox="1"/>
          <p:nvPr/>
        </p:nvSpPr>
        <p:spPr>
          <a:xfrm>
            <a:off x="10591495" y="6382512"/>
            <a:ext cx="914400" cy="274320"/>
          </a:xfrm>
          <a:prstGeom prst="rect">
            <a:avLst/>
          </a:prstGeom>
          <a:noFill/>
        </p:spPr>
        <p:txBody>
          <a:bodyPr wrap="square" lIns="0" rIns="0" tIns="0" bIns="0" anchor="t">
            <a:noAutofit/>
          </a:bodyPr>
          <a:lstStyle/>
          <a:p>
            <a:pPr algn="r">
              <a:lnSpc>
                <a:spcPct val="130000"/>
              </a:lnSpc>
            </a:pPr>
            <a:r>
              <a:rPr sz="1000" b="0" lang="ja-JP">
                <a:solidFill>
                  <a:srgbClr val="69727D"/>
                </a:solidFill>
                <a:latin typeface="BIZ UDPGothic"/>
                <a:ea typeface="BIZ UDPゴシック"/>
                <a:cs typeface="BIZ UDPGothic"/>
              </a:rPr>
              <a:t>3</a:t>
            </a:r>
          </a:p>
        </p:txBody>
      </p:sp>
      <p:sp>
        <p:nvSpPr>
          <p:cNvPr id="5" name="TextBox 4"/>
          <p:cNvSpPr txBox="1"/>
          <p:nvPr/>
        </p:nvSpPr>
        <p:spPr>
          <a:xfrm>
            <a:off x="685800" y="1783080"/>
            <a:ext cx="10820095" cy="457200"/>
          </a:xfrm>
          <a:prstGeom prst="rect">
            <a:avLst/>
          </a:prstGeom>
          <a:noFill/>
        </p:spPr>
        <p:txBody>
          <a:bodyPr wrap="square" lIns="0" rIns="0" tIns="0" bIns="0" anchor="t">
            <a:noAutofit/>
          </a:bodyPr>
          <a:lstStyle/>
          <a:p>
            <a:pPr algn="l">
              <a:lnSpc>
                <a:spcPct val="130000"/>
              </a:lnSpc>
            </a:pPr>
            <a:r>
              <a:rPr sz="1700" b="0" lang="ja-JP">
                <a:solidFill>
                  <a:srgbClr val="4B5560"/>
                </a:solidFill>
                <a:latin typeface="BIZ UDPGothic"/>
                <a:ea typeface="BIZ UDPゴシック"/>
                <a:cs typeface="BIZ UDPGothic"/>
              </a:rPr>
              <a:t>時計は現場のWi-Fiにつなぐだけで動く。スマホとのペア設定やSIMの契約はいらない。</a:t>
            </a:r>
          </a:p>
        </p:txBody>
      </p:sp>
      <p:sp>
        <p:nvSpPr>
          <p:cNvPr id="6" name="Rounded Rectangle 5"/>
          <p:cNvSpPr/>
          <p:nvPr/>
        </p:nvSpPr>
        <p:spPr>
          <a:xfrm>
            <a:off x="685800" y="2834640"/>
            <a:ext cx="1783080" cy="960120"/>
          </a:xfrm>
          <a:prstGeom prst="roundRect">
            <a:avLst>
              <a:gd name="adj" fmla="val 12000"/>
            </a:avLst>
          </a:prstGeom>
          <a:solidFill>
            <a:srgbClr val="F1F3F5"/>
          </a:solidFill>
          <a:ln>
            <a:noFill/>
          </a:ln>
        </p:spPr>
        <p:txBody>
          <a:bodyPr rtlCol="0" anchor="ctr" wrap="square" lIns="0" rIns="0" tIns="0" bIns="0">
            <a:noAutofit/>
          </a:bodyPr>
          <a:lstStyle/>
          <a:p>
            <a:pPr algn="ctr">
              <a:lnSpc>
                <a:spcPct val="115000"/>
              </a:lnSpc>
            </a:pPr>
            <a:r>
              <a:rPr sz="1600" b="1" lang="ja-JP">
                <a:solidFill>
                  <a:srgbClr val="1A1E23"/>
                </a:solidFill>
                <a:latin typeface="BIZ UDPGothic"/>
                <a:ea typeface="BIZ UDPゴシック"/>
                <a:cs typeface="BIZ UDPGothic"/>
              </a:rPr>
              <a:t>既存の</a:t>
            </a:r>
            <a:br/>
            <a:r>
              <a:rPr sz="1600" b="1" lang="ja-JP">
                <a:solidFill>
                  <a:srgbClr val="1A1E23"/>
                </a:solidFill>
                <a:latin typeface="BIZ UDPGothic"/>
                <a:ea typeface="BIZ UDPゴシック"/>
                <a:cs typeface="BIZ UDPGothic"/>
              </a:rPr>
              <a:t>監視システム</a:t>
            </a:r>
          </a:p>
        </p:txBody>
      </p:sp>
      <p:sp>
        <p:nvSpPr>
          <p:cNvPr id="7" name="TextBox 6"/>
          <p:cNvSpPr txBox="1"/>
          <p:nvPr/>
        </p:nvSpPr>
        <p:spPr>
          <a:xfrm>
            <a:off x="548640" y="4069080"/>
            <a:ext cx="2057400" cy="365760"/>
          </a:xfrm>
          <a:prstGeom prst="rect">
            <a:avLst/>
          </a:prstGeom>
          <a:noFill/>
        </p:spPr>
        <p:txBody>
          <a:bodyPr wrap="square" lIns="0" rIns="0" tIns="0" bIns="0" anchor="t">
            <a:noAutofit/>
          </a:bodyPr>
          <a:lstStyle/>
          <a:p>
            <a:pPr algn="ctr">
              <a:lnSpc>
                <a:spcPct val="130000"/>
              </a:lnSpc>
            </a:pPr>
            <a:r>
              <a:rPr sz="1300" b="0" lang="ja-JP">
                <a:solidFill>
                  <a:srgbClr val="4B5560"/>
                </a:solidFill>
                <a:latin typeface="BIZ UDPGothic"/>
                <a:ea typeface="BIZ UDPゴシック"/>
                <a:cs typeface="BIZ UDPGothic"/>
              </a:rPr>
              <a:t>閾値超過を検知する</a:t>
            </a:r>
          </a:p>
        </p:txBody>
      </p:sp>
      <p:cxnSp>
        <p:nvCxnSpPr>
          <p:cNvPr id="8" name="Connector 7"/>
          <p:cNvCxnSpPr/>
          <p:nvPr/>
        </p:nvCxnSpPr>
        <p:spPr>
          <a:xfrm>
            <a:off x="2523744" y="3314700"/>
            <a:ext cx="347472" cy="0"/>
          </a:xfrm>
          <a:prstGeom prst="line">
            <a:avLst/>
          </a:prstGeom>
          <a:ln w="19050">
            <a:solidFill>
              <a:srgbClr val="4B5560"/>
            </a:solidFill>
            <a:tailEnd type="triangle" w="med" len="med"/>
          </a:ln>
        </p:spPr>
      </p:cxnSp>
      <p:sp>
        <p:nvSpPr>
          <p:cNvPr id="9" name="Rounded Rectangle 8"/>
          <p:cNvSpPr/>
          <p:nvPr/>
        </p:nvSpPr>
        <p:spPr>
          <a:xfrm>
            <a:off x="2926080" y="2834640"/>
            <a:ext cx="1783080" cy="960120"/>
          </a:xfrm>
          <a:prstGeom prst="roundRect">
            <a:avLst>
              <a:gd name="adj" fmla="val 12000"/>
            </a:avLst>
          </a:prstGeom>
          <a:solidFill>
            <a:srgbClr val="F1F3F5"/>
          </a:solidFill>
          <a:ln>
            <a:noFill/>
          </a:ln>
        </p:spPr>
        <p:txBody>
          <a:bodyPr rtlCol="0" anchor="ctr" wrap="square" lIns="0" rIns="0" tIns="0" bIns="0">
            <a:noAutofit/>
          </a:bodyPr>
          <a:lstStyle/>
          <a:p>
            <a:pPr algn="ctr">
              <a:lnSpc>
                <a:spcPct val="115000"/>
              </a:lnSpc>
            </a:pPr>
            <a:r>
              <a:rPr sz="1600" b="1" lang="ja-JP">
                <a:solidFill>
                  <a:srgbClr val="1A1E23"/>
                </a:solidFill>
                <a:latin typeface="BIZ UDPGothic"/>
                <a:ea typeface="BIZ UDPゴシック"/>
                <a:cs typeface="BIZ UDPGothic"/>
              </a:rPr>
              <a:t>通知の</a:t>
            </a:r>
            <a:br/>
            <a:r>
              <a:rPr sz="1600" b="1" lang="ja-JP">
                <a:solidFill>
                  <a:srgbClr val="1A1E23"/>
                </a:solidFill>
                <a:latin typeface="BIZ UDPGothic"/>
                <a:ea typeface="BIZ UDPゴシック"/>
                <a:cs typeface="BIZ UDPGothic"/>
              </a:rPr>
              <a:t>送信処理</a:t>
            </a:r>
          </a:p>
        </p:txBody>
      </p:sp>
      <p:sp>
        <p:nvSpPr>
          <p:cNvPr id="10" name="TextBox 9"/>
          <p:cNvSpPr txBox="1"/>
          <p:nvPr/>
        </p:nvSpPr>
        <p:spPr>
          <a:xfrm>
            <a:off x="2788920" y="4069080"/>
            <a:ext cx="2057400" cy="365760"/>
          </a:xfrm>
          <a:prstGeom prst="rect">
            <a:avLst/>
          </a:prstGeom>
          <a:noFill/>
        </p:spPr>
        <p:txBody>
          <a:bodyPr wrap="square" lIns="0" rIns="0" tIns="0" bIns="0" anchor="t">
            <a:noAutofit/>
          </a:bodyPr>
          <a:lstStyle/>
          <a:p>
            <a:pPr algn="ctr">
              <a:lnSpc>
                <a:spcPct val="130000"/>
              </a:lnSpc>
            </a:pPr>
            <a:r>
              <a:rPr sz="1300" b="0" lang="ja-JP">
                <a:solidFill>
                  <a:srgbClr val="4B5560"/>
                </a:solidFill>
                <a:latin typeface="BIZ UDPGothic"/>
                <a:ea typeface="BIZ UDPゴシック"/>
                <a:cs typeface="BIZ UDPGothic"/>
              </a:rPr>
              <a:t>現場の時計すべてへ送る</a:t>
            </a:r>
          </a:p>
        </p:txBody>
      </p:sp>
      <p:cxnSp>
        <p:nvCxnSpPr>
          <p:cNvPr id="11" name="Connector 10"/>
          <p:cNvCxnSpPr/>
          <p:nvPr/>
        </p:nvCxnSpPr>
        <p:spPr>
          <a:xfrm>
            <a:off x="4764024" y="3314700"/>
            <a:ext cx="347472" cy="0"/>
          </a:xfrm>
          <a:prstGeom prst="line">
            <a:avLst/>
          </a:prstGeom>
          <a:ln w="19050">
            <a:solidFill>
              <a:srgbClr val="4B5560"/>
            </a:solidFill>
            <a:tailEnd type="triangle" w="med" len="med"/>
          </a:ln>
        </p:spPr>
      </p:cxnSp>
      <p:sp>
        <p:nvSpPr>
          <p:cNvPr id="12" name="Rounded Rectangle 11"/>
          <p:cNvSpPr/>
          <p:nvPr/>
        </p:nvSpPr>
        <p:spPr>
          <a:xfrm>
            <a:off x="5166360" y="2834640"/>
            <a:ext cx="1783080" cy="960120"/>
          </a:xfrm>
          <a:prstGeom prst="roundRect">
            <a:avLst>
              <a:gd name="adj" fmla="val 12000"/>
            </a:avLst>
          </a:prstGeom>
          <a:solidFill>
            <a:srgbClr val="F1F3F5"/>
          </a:solidFill>
          <a:ln>
            <a:noFill/>
          </a:ln>
        </p:spPr>
        <p:txBody>
          <a:bodyPr rtlCol="0" anchor="ctr" wrap="square" lIns="0" rIns="0" tIns="0" bIns="0">
            <a:noAutofit/>
          </a:bodyPr>
          <a:lstStyle/>
          <a:p>
            <a:pPr algn="ctr">
              <a:lnSpc>
                <a:spcPct val="115000"/>
              </a:lnSpc>
            </a:pPr>
            <a:r>
              <a:rPr sz="1600" b="1" lang="ja-JP">
                <a:solidFill>
                  <a:srgbClr val="1A1E23"/>
                </a:solidFill>
                <a:latin typeface="BIZ UDPGothic"/>
                <a:ea typeface="BIZ UDPゴシック"/>
                <a:cs typeface="BIZ UDPGothic"/>
              </a:rPr>
              <a:t>Firebase Cloud</a:t>
            </a:r>
            <a:br/>
            <a:r>
              <a:rPr sz="1600" b="1" lang="ja-JP">
                <a:solidFill>
                  <a:srgbClr val="1A1E23"/>
                </a:solidFill>
                <a:latin typeface="BIZ UDPGothic"/>
                <a:ea typeface="BIZ UDPゴシック"/>
                <a:cs typeface="BIZ UDPGothic"/>
              </a:rPr>
              <a:t>Messaging</a:t>
            </a:r>
          </a:p>
        </p:txBody>
      </p:sp>
      <p:sp>
        <p:nvSpPr>
          <p:cNvPr id="13" name="TextBox 12"/>
          <p:cNvSpPr txBox="1"/>
          <p:nvPr/>
        </p:nvSpPr>
        <p:spPr>
          <a:xfrm>
            <a:off x="5029200" y="4069080"/>
            <a:ext cx="2057400" cy="365760"/>
          </a:xfrm>
          <a:prstGeom prst="rect">
            <a:avLst/>
          </a:prstGeom>
          <a:noFill/>
        </p:spPr>
        <p:txBody>
          <a:bodyPr wrap="square" lIns="0" rIns="0" tIns="0" bIns="0" anchor="t">
            <a:noAutofit/>
          </a:bodyPr>
          <a:lstStyle/>
          <a:p>
            <a:pPr algn="ctr">
              <a:lnSpc>
                <a:spcPct val="130000"/>
              </a:lnSpc>
            </a:pPr>
            <a:r>
              <a:rPr sz="1300" b="0" lang="ja-JP">
                <a:solidFill>
                  <a:srgbClr val="4B5560"/>
                </a:solidFill>
                <a:latin typeface="BIZ UDPGothic"/>
                <a:ea typeface="BIZ UDPゴシック"/>
                <a:cs typeface="BIZ UDPGothic"/>
              </a:rPr>
              <a:t>Googleの配信サービス</a:t>
            </a:r>
          </a:p>
        </p:txBody>
      </p:sp>
      <p:cxnSp>
        <p:nvCxnSpPr>
          <p:cNvPr id="14" name="Connector 13"/>
          <p:cNvCxnSpPr/>
          <p:nvPr/>
        </p:nvCxnSpPr>
        <p:spPr>
          <a:xfrm>
            <a:off x="7004304" y="3314700"/>
            <a:ext cx="347472" cy="0"/>
          </a:xfrm>
          <a:prstGeom prst="line">
            <a:avLst/>
          </a:prstGeom>
          <a:ln w="19050">
            <a:solidFill>
              <a:srgbClr val="4B5560"/>
            </a:solidFill>
            <a:tailEnd type="triangle" w="med" len="med"/>
          </a:ln>
        </p:spPr>
      </p:cxnSp>
      <p:sp>
        <p:nvSpPr>
          <p:cNvPr id="15" name="Rounded Rectangle 14"/>
          <p:cNvSpPr/>
          <p:nvPr/>
        </p:nvSpPr>
        <p:spPr>
          <a:xfrm>
            <a:off x="7406640" y="2834640"/>
            <a:ext cx="1783080" cy="960120"/>
          </a:xfrm>
          <a:prstGeom prst="roundRect">
            <a:avLst>
              <a:gd name="adj" fmla="val 12000"/>
            </a:avLst>
          </a:prstGeom>
          <a:solidFill>
            <a:srgbClr val="F1F3F5"/>
          </a:solidFill>
          <a:ln>
            <a:noFill/>
          </a:ln>
        </p:spPr>
        <p:txBody>
          <a:bodyPr rtlCol="0" anchor="ctr" wrap="square" lIns="0" rIns="0" tIns="0" bIns="0">
            <a:noAutofit/>
          </a:bodyPr>
          <a:lstStyle/>
          <a:p>
            <a:pPr algn="ctr">
              <a:lnSpc>
                <a:spcPct val="115000"/>
              </a:lnSpc>
            </a:pPr>
            <a:r>
              <a:rPr sz="1600" b="1" lang="ja-JP">
                <a:solidFill>
                  <a:srgbClr val="1A1E23"/>
                </a:solidFill>
                <a:latin typeface="BIZ UDPGothic"/>
                <a:ea typeface="BIZ UDPゴシック"/>
                <a:cs typeface="BIZ UDPGothic"/>
              </a:rPr>
              <a:t>現場の</a:t>
            </a:r>
            <a:br/>
            <a:r>
              <a:rPr sz="1600" b="1" lang="ja-JP">
                <a:solidFill>
                  <a:srgbClr val="1A1E23"/>
                </a:solidFill>
                <a:latin typeface="BIZ UDPGothic"/>
                <a:ea typeface="BIZ UDPゴシック"/>
                <a:cs typeface="BIZ UDPGothic"/>
              </a:rPr>
              <a:t>Wi-Fi</a:t>
            </a:r>
          </a:p>
        </p:txBody>
      </p:sp>
      <p:sp>
        <p:nvSpPr>
          <p:cNvPr id="16" name="TextBox 15"/>
          <p:cNvSpPr txBox="1"/>
          <p:nvPr/>
        </p:nvSpPr>
        <p:spPr>
          <a:xfrm>
            <a:off x="7269480" y="4069080"/>
            <a:ext cx="2057400" cy="365760"/>
          </a:xfrm>
          <a:prstGeom prst="rect">
            <a:avLst/>
          </a:prstGeom>
          <a:noFill/>
        </p:spPr>
        <p:txBody>
          <a:bodyPr wrap="square" lIns="0" rIns="0" tIns="0" bIns="0" anchor="t">
            <a:noAutofit/>
          </a:bodyPr>
          <a:lstStyle/>
          <a:p>
            <a:pPr algn="ctr">
              <a:lnSpc>
                <a:spcPct val="130000"/>
              </a:lnSpc>
            </a:pPr>
            <a:r>
              <a:rPr sz="1300" b="0" lang="ja-JP">
                <a:solidFill>
                  <a:srgbClr val="4B5560"/>
                </a:solidFill>
                <a:latin typeface="BIZ UDPGothic"/>
                <a:ea typeface="BIZ UDPゴシック"/>
                <a:cs typeface="BIZ UDPGothic"/>
              </a:rPr>
              <a:t>インターネットへの出口</a:t>
            </a:r>
          </a:p>
        </p:txBody>
      </p:sp>
      <p:cxnSp>
        <p:nvCxnSpPr>
          <p:cNvPr id="17" name="Connector 16"/>
          <p:cNvCxnSpPr/>
          <p:nvPr/>
        </p:nvCxnSpPr>
        <p:spPr>
          <a:xfrm>
            <a:off x="9244584" y="3314700"/>
            <a:ext cx="347472" cy="0"/>
          </a:xfrm>
          <a:prstGeom prst="line">
            <a:avLst/>
          </a:prstGeom>
          <a:ln w="19050">
            <a:solidFill>
              <a:srgbClr val="4B5560"/>
            </a:solidFill>
            <a:tailEnd type="triangle" w="med" len="med"/>
          </a:ln>
        </p:spPr>
      </p:cxnSp>
      <p:pic>
        <p:nvPicPr>
          <p:cNvPr id="18" name="Picture 17" descr="登録済みの時計。現場 101 / 端末 05（待機中）"/>
          <p:cNvPicPr>
            <a:picLocks noChangeAspect="1"/>
          </p:cNvPicPr>
          <p:nvPr/>
        </p:nvPicPr>
        <p:blipFill>
          <a:blip r:embed="rId3"/>
          <a:stretch>
            <a:fillRect/>
          </a:stretch>
        </p:blipFill>
        <p:spPr>
          <a:xfrm>
            <a:off x="9738360" y="2537460"/>
            <a:ext cx="1554480" cy="1554480"/>
          </a:xfrm>
          <a:prstGeom prst="rect">
            <a:avLst/>
          </a:prstGeom>
        </p:spPr>
      </p:pic>
      <p:sp>
        <p:nvSpPr>
          <p:cNvPr id="19" name="TextBox 18"/>
          <p:cNvSpPr txBox="1"/>
          <p:nvPr/>
        </p:nvSpPr>
        <p:spPr>
          <a:xfrm>
            <a:off x="9464040" y="4069080"/>
            <a:ext cx="2194560" cy="365760"/>
          </a:xfrm>
          <a:prstGeom prst="rect">
            <a:avLst/>
          </a:prstGeom>
          <a:noFill/>
        </p:spPr>
        <p:txBody>
          <a:bodyPr wrap="square" lIns="0" rIns="0" tIns="0" bIns="0" anchor="t">
            <a:noAutofit/>
          </a:bodyPr>
          <a:lstStyle/>
          <a:p>
            <a:pPr algn="ctr">
              <a:lnSpc>
                <a:spcPct val="130000"/>
              </a:lnSpc>
            </a:pPr>
            <a:r>
              <a:rPr sz="1300" b="0" lang="ja-JP">
                <a:solidFill>
                  <a:srgbClr val="4B5560"/>
                </a:solidFill>
                <a:latin typeface="BIZ UDPGothic"/>
                <a:ea typeface="BIZ UDPゴシック"/>
                <a:cs typeface="BIZ UDPGothic"/>
              </a:rPr>
              <a:t>振動と音で知らせる</a:t>
            </a:r>
          </a:p>
        </p:txBody>
      </p:sp>
      <p:cxnSp>
        <p:nvCxnSpPr>
          <p:cNvPr id="20" name="Connector 19"/>
          <p:cNvCxnSpPr/>
          <p:nvPr/>
        </p:nvCxnSpPr>
        <p:spPr>
          <a:xfrm>
            <a:off x="10515600" y="4480560"/>
            <a:ext cx="0" cy="777240"/>
          </a:xfrm>
          <a:prstGeom prst="line">
            <a:avLst/>
          </a:prstGeom>
          <a:ln w="15875">
            <a:solidFill>
              <a:srgbClr val="69727D"/>
            </a:solidFill>
            <a:prstDash val="dash"/>
          </a:ln>
        </p:spPr>
      </p:cxnSp>
      <p:cxnSp>
        <p:nvCxnSpPr>
          <p:cNvPr id="21" name="Connector 20"/>
          <p:cNvCxnSpPr/>
          <p:nvPr/>
        </p:nvCxnSpPr>
        <p:spPr>
          <a:xfrm flipH="1">
            <a:off x="3817620" y="5257800"/>
            <a:ext cx="6697980" cy="0"/>
          </a:xfrm>
          <a:prstGeom prst="line">
            <a:avLst/>
          </a:prstGeom>
          <a:ln w="15875">
            <a:solidFill>
              <a:srgbClr val="69727D"/>
            </a:solidFill>
            <a:prstDash val="dash"/>
          </a:ln>
        </p:spPr>
      </p:cxnSp>
      <p:cxnSp>
        <p:nvCxnSpPr>
          <p:cNvPr id="22" name="Connector 21"/>
          <p:cNvCxnSpPr/>
          <p:nvPr/>
        </p:nvCxnSpPr>
        <p:spPr>
          <a:xfrm flipV="1">
            <a:off x="3817620" y="4480560"/>
            <a:ext cx="0" cy="777240"/>
          </a:xfrm>
          <a:prstGeom prst="line">
            <a:avLst/>
          </a:prstGeom>
          <a:ln w="15875">
            <a:solidFill>
              <a:srgbClr val="69727D"/>
            </a:solidFill>
            <a:prstDash val="dash"/>
            <a:tailEnd type="triangle" w="med" len="med"/>
          </a:ln>
        </p:spPr>
      </p:cxnSp>
      <p:sp>
        <p:nvSpPr>
          <p:cNvPr id="23" name="TextBox 22"/>
          <p:cNvSpPr txBox="1"/>
          <p:nvPr/>
        </p:nvSpPr>
        <p:spPr>
          <a:xfrm>
            <a:off x="4091939" y="5367528"/>
            <a:ext cx="6149340" cy="365760"/>
          </a:xfrm>
          <a:prstGeom prst="rect">
            <a:avLst/>
          </a:prstGeom>
          <a:noFill/>
        </p:spPr>
        <p:txBody>
          <a:bodyPr wrap="square" lIns="0" rIns="0" tIns="0" bIns="0" anchor="t">
            <a:noAutofit/>
          </a:bodyPr>
          <a:lstStyle/>
          <a:p>
            <a:pPr algn="ctr">
              <a:lnSpc>
                <a:spcPct val="130000"/>
              </a:lnSpc>
            </a:pPr>
            <a:r>
              <a:rPr sz="1300" b="0" lang="ja-JP">
                <a:solidFill>
                  <a:srgbClr val="4B5560"/>
                </a:solidFill>
                <a:latin typeface="BIZ UDPGothic"/>
                <a:ea typeface="BIZ UDPゴシック"/>
                <a:cs typeface="BIZ UDPGothic"/>
              </a:rPr>
              <a:t>端末の登録（初回と番号の変更時）: 現場番号・端末番号と通知の宛先ID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685800" y="502920"/>
            <a:ext cx="10820095" cy="1188720"/>
          </a:xfrm>
        </p:spPr>
        <p:txBody>
          <a:bodyPr wrap="square" lIns="0" rIns="0" tIns="0" bIns="0" anchor="t">
            <a:noAutofit/>
          </a:bodyPr>
          <a:lstStyle/>
          <a:p>
            <a:pPr algn="l">
              <a:lnSpc>
                <a:spcPct val="120000"/>
              </a:lnSpc>
            </a:pPr>
            <a:r>
              <a:rPr sz="3000" b="1" lang="ja-JP">
                <a:solidFill>
                  <a:srgbClr val="1A1E23"/>
                </a:solidFill>
                <a:latin typeface="BIZ UDPGothic"/>
                <a:ea typeface="BIZ UDPゴシック"/>
                <a:cs typeface="BIZ UDPGothic"/>
              </a:rPr>
              <a:t>初期設定は、現場番号と端末番号を入れるだけ</a:t>
            </a:r>
          </a:p>
        </p:txBody>
      </p:sp>
      <p:sp>
        <p:nvSpPr>
          <p:cNvPr id="3" name="TextBox 2"/>
          <p:cNvSpPr txBox="1"/>
          <p:nvPr/>
        </p:nvSpPr>
        <p:spPr>
          <a:xfrm>
            <a:off x="685800" y="6382512"/>
            <a:ext cx="9905695" cy="274320"/>
          </a:xfrm>
          <a:prstGeom prst="rect">
            <a:avLst/>
          </a:prstGeom>
          <a:noFill/>
        </p:spPr>
        <p:txBody>
          <a:bodyPr wrap="square" lIns="0" rIns="0" tIns="0" bIns="0" anchor="t">
            <a:noAutofit/>
          </a:bodyPr>
          <a:lstStyle/>
          <a:p>
            <a:pPr algn="l">
              <a:lnSpc>
                <a:spcPct val="130000"/>
              </a:lnSpc>
            </a:pPr>
            <a:r>
              <a:rPr sz="1000" b="0" lang="ja-JP">
                <a:solidFill>
                  <a:srgbClr val="69727D"/>
                </a:solidFill>
                <a:latin typeface="BIZ UDPGothic"/>
                <a:ea typeface="BIZ UDPゴシック"/>
                <a:cs typeface="BIZ UDPGothic"/>
              </a:rPr>
              <a:t>画面: Wear OS 5（API 34）エミュレーターで試作アプリを動かして撮影（2026-10-19）</a:t>
            </a:r>
          </a:p>
        </p:txBody>
      </p:sp>
      <p:sp>
        <p:nvSpPr>
          <p:cNvPr id="4" name="TextBox 3"/>
          <p:cNvSpPr txBox="1"/>
          <p:nvPr/>
        </p:nvSpPr>
        <p:spPr>
          <a:xfrm>
            <a:off x="10591495" y="6382512"/>
            <a:ext cx="914400" cy="274320"/>
          </a:xfrm>
          <a:prstGeom prst="rect">
            <a:avLst/>
          </a:prstGeom>
          <a:noFill/>
        </p:spPr>
        <p:txBody>
          <a:bodyPr wrap="square" lIns="0" rIns="0" tIns="0" bIns="0" anchor="t">
            <a:noAutofit/>
          </a:bodyPr>
          <a:lstStyle/>
          <a:p>
            <a:pPr algn="r">
              <a:lnSpc>
                <a:spcPct val="130000"/>
              </a:lnSpc>
            </a:pPr>
            <a:r>
              <a:rPr sz="1000" b="0" lang="ja-JP">
                <a:solidFill>
                  <a:srgbClr val="69727D"/>
                </a:solidFill>
                <a:latin typeface="BIZ UDPGothic"/>
                <a:ea typeface="BIZ UDPゴシック"/>
                <a:cs typeface="BIZ UDPGothic"/>
              </a:rPr>
              <a:t>4</a:t>
            </a:r>
          </a:p>
        </p:txBody>
      </p:sp>
      <p:pic>
        <p:nvPicPr>
          <p:cNvPr id="5" name="Picture 4" descr="通知の許可を求める画面"/>
          <p:cNvPicPr>
            <a:picLocks noChangeAspect="1"/>
          </p:cNvPicPr>
          <p:nvPr/>
        </p:nvPicPr>
        <p:blipFill>
          <a:blip r:embed="rId3"/>
          <a:stretch>
            <a:fillRect/>
          </a:stretch>
        </p:blipFill>
        <p:spPr>
          <a:xfrm>
            <a:off x="685800" y="1874519"/>
            <a:ext cx="2331720" cy="2331720"/>
          </a:xfrm>
          <a:prstGeom prst="rect">
            <a:avLst/>
          </a:prstGeom>
        </p:spPr>
      </p:pic>
      <p:sp>
        <p:nvSpPr>
          <p:cNvPr id="6" name="TextBox 5"/>
          <p:cNvSpPr txBox="1"/>
          <p:nvPr/>
        </p:nvSpPr>
        <p:spPr>
          <a:xfrm>
            <a:off x="548640" y="4343400"/>
            <a:ext cx="2606039" cy="1188720"/>
          </a:xfrm>
          <a:prstGeom prst="rect">
            <a:avLst/>
          </a:prstGeom>
          <a:noFill/>
        </p:spPr>
        <p:txBody>
          <a:bodyPr wrap="square" lIns="0" rIns="0" tIns="0" bIns="0" anchor="t">
            <a:noAutofit/>
          </a:bodyPr>
          <a:lstStyle/>
          <a:p>
            <a:pPr algn="ctr">
              <a:lnSpc>
                <a:spcPct val="130000"/>
              </a:lnSpc>
            </a:pPr>
            <a:r>
              <a:rPr sz="1700" b="1" lang="ja-JP">
                <a:solidFill>
                  <a:srgbClr val="B3261E"/>
                </a:solidFill>
                <a:latin typeface="BIZ UDPGothic"/>
                <a:ea typeface="BIZ UDPゴシック"/>
                <a:cs typeface="BIZ UDPGothic"/>
              </a:rPr>
              <a:t>1  </a:t>
            </a:r>
            <a:r>
              <a:rPr sz="1700" b="1" lang="ja-JP">
                <a:solidFill>
                  <a:srgbClr val="1A1E23"/>
                </a:solidFill>
                <a:latin typeface="BIZ UDPGothic"/>
                <a:ea typeface="BIZ UDPゴシック"/>
                <a:cs typeface="BIZ UDPGothic"/>
              </a:rPr>
              <a:t>通知を許可</a:t>
            </a:r>
          </a:p>
          <a:p>
            <a:pPr algn="ctr">
              <a:lnSpc>
                <a:spcPct val="130000"/>
              </a:lnSpc>
              <a:spcBef>
                <a:spcPts val="600"/>
              </a:spcBef>
            </a:pPr>
            <a:r>
              <a:rPr sz="1350" b="0" lang="ja-JP">
                <a:solidFill>
                  <a:srgbClr val="4B5560"/>
                </a:solidFill>
                <a:latin typeface="BIZ UDPGothic"/>
                <a:ea typeface="BIZ UDPゴシック"/>
                <a:cs typeface="BIZ UDPGothic"/>
              </a:rPr>
              <a:t>初回の起動時だけ</a:t>
            </a:r>
            <a:br/>
            <a:r>
              <a:rPr sz="1350" b="0" lang="ja-JP">
                <a:solidFill>
                  <a:srgbClr val="4B5560"/>
                </a:solidFill>
                <a:latin typeface="BIZ UDPGothic"/>
                <a:ea typeface="BIZ UDPゴシック"/>
                <a:cs typeface="BIZ UDPGothic"/>
              </a:rPr>
              <a:t>（英語表示はエミュレーターのため）</a:t>
            </a:r>
          </a:p>
        </p:txBody>
      </p:sp>
      <p:pic>
        <p:nvPicPr>
          <p:cNvPr id="7" name="Picture 6" descr="端末登録画面。現場番号と端末番号の入力欄"/>
          <p:cNvPicPr>
            <a:picLocks noChangeAspect="1"/>
          </p:cNvPicPr>
          <p:nvPr/>
        </p:nvPicPr>
        <p:blipFill>
          <a:blip r:embed="rId4"/>
          <a:stretch>
            <a:fillRect/>
          </a:stretch>
        </p:blipFill>
        <p:spPr>
          <a:xfrm>
            <a:off x="3515258" y="1874519"/>
            <a:ext cx="2331720" cy="2331720"/>
          </a:xfrm>
          <a:prstGeom prst="rect">
            <a:avLst/>
          </a:prstGeom>
        </p:spPr>
      </p:pic>
      <p:sp>
        <p:nvSpPr>
          <p:cNvPr id="8" name="TextBox 7"/>
          <p:cNvSpPr txBox="1"/>
          <p:nvPr/>
        </p:nvSpPr>
        <p:spPr>
          <a:xfrm>
            <a:off x="3378098" y="4343400"/>
            <a:ext cx="2606039" cy="1188720"/>
          </a:xfrm>
          <a:prstGeom prst="rect">
            <a:avLst/>
          </a:prstGeom>
          <a:noFill/>
        </p:spPr>
        <p:txBody>
          <a:bodyPr wrap="square" lIns="0" rIns="0" tIns="0" bIns="0" anchor="t">
            <a:noAutofit/>
          </a:bodyPr>
          <a:lstStyle/>
          <a:p>
            <a:pPr algn="ctr">
              <a:lnSpc>
                <a:spcPct val="130000"/>
              </a:lnSpc>
            </a:pPr>
            <a:r>
              <a:rPr sz="1700" b="1" lang="ja-JP">
                <a:solidFill>
                  <a:srgbClr val="B3261E"/>
                </a:solidFill>
                <a:latin typeface="BIZ UDPGothic"/>
                <a:ea typeface="BIZ UDPゴシック"/>
                <a:cs typeface="BIZ UDPGothic"/>
              </a:rPr>
              <a:t>2  </a:t>
            </a:r>
            <a:r>
              <a:rPr sz="1700" b="1" lang="ja-JP">
                <a:solidFill>
                  <a:srgbClr val="1A1E23"/>
                </a:solidFill>
                <a:latin typeface="BIZ UDPGothic"/>
                <a:ea typeface="BIZ UDPゴシック"/>
                <a:cs typeface="BIZ UDPGothic"/>
              </a:rPr>
              <a:t>番号の入力欄</a:t>
            </a:r>
          </a:p>
          <a:p>
            <a:pPr algn="ctr">
              <a:lnSpc>
                <a:spcPct val="130000"/>
              </a:lnSpc>
              <a:spcBef>
                <a:spcPts val="600"/>
              </a:spcBef>
            </a:pPr>
            <a:r>
              <a:rPr sz="1350" b="0" lang="ja-JP">
                <a:solidFill>
                  <a:srgbClr val="4B5560"/>
                </a:solidFill>
                <a:latin typeface="BIZ UDPGothic"/>
                <a:ea typeface="BIZ UDPゴシック"/>
                <a:cs typeface="BIZ UDPGothic"/>
              </a:rPr>
              <a:t>現場番号と端末番号の</a:t>
            </a:r>
            <a:br/>
            <a:r>
              <a:rPr sz="1350" b="0" lang="ja-JP">
                <a:solidFill>
                  <a:srgbClr val="4B5560"/>
                </a:solidFill>
                <a:latin typeface="BIZ UDPGothic"/>
                <a:ea typeface="BIZ UDPゴシック"/>
                <a:cs typeface="BIZ UDPGothic"/>
              </a:rPr>
              <a:t>2つだけ</a:t>
            </a:r>
          </a:p>
        </p:txBody>
      </p:sp>
      <p:pic>
        <p:nvPicPr>
          <p:cNvPr id="9" name="Picture 8" descr="数字だけのテンキー"/>
          <p:cNvPicPr>
            <a:picLocks noChangeAspect="1"/>
          </p:cNvPicPr>
          <p:nvPr/>
        </p:nvPicPr>
        <p:blipFill>
          <a:blip r:embed="rId5"/>
          <a:stretch>
            <a:fillRect/>
          </a:stretch>
        </p:blipFill>
        <p:spPr>
          <a:xfrm>
            <a:off x="6344716" y="1874519"/>
            <a:ext cx="2331720" cy="2331720"/>
          </a:xfrm>
          <a:prstGeom prst="rect">
            <a:avLst/>
          </a:prstGeom>
        </p:spPr>
      </p:pic>
      <p:sp>
        <p:nvSpPr>
          <p:cNvPr id="10" name="TextBox 9"/>
          <p:cNvSpPr txBox="1"/>
          <p:nvPr/>
        </p:nvSpPr>
        <p:spPr>
          <a:xfrm>
            <a:off x="6207556" y="4343400"/>
            <a:ext cx="2606039" cy="1188720"/>
          </a:xfrm>
          <a:prstGeom prst="rect">
            <a:avLst/>
          </a:prstGeom>
          <a:noFill/>
        </p:spPr>
        <p:txBody>
          <a:bodyPr wrap="square" lIns="0" rIns="0" tIns="0" bIns="0" anchor="t">
            <a:noAutofit/>
          </a:bodyPr>
          <a:lstStyle/>
          <a:p>
            <a:pPr algn="ctr">
              <a:lnSpc>
                <a:spcPct val="130000"/>
              </a:lnSpc>
            </a:pPr>
            <a:r>
              <a:rPr sz="1700" b="1" lang="ja-JP">
                <a:solidFill>
                  <a:srgbClr val="B3261E"/>
                </a:solidFill>
                <a:latin typeface="BIZ UDPGothic"/>
                <a:ea typeface="BIZ UDPゴシック"/>
                <a:cs typeface="BIZ UDPGothic"/>
              </a:rPr>
              <a:t>3  </a:t>
            </a:r>
            <a:r>
              <a:rPr sz="1700" b="1" lang="ja-JP">
                <a:solidFill>
                  <a:srgbClr val="1A1E23"/>
                </a:solidFill>
                <a:latin typeface="BIZ UDPGothic"/>
                <a:ea typeface="BIZ UDPゴシック"/>
                <a:cs typeface="BIZ UDPGothic"/>
              </a:rPr>
              <a:t>数字キーで入力</a:t>
            </a:r>
          </a:p>
          <a:p>
            <a:pPr algn="ctr">
              <a:lnSpc>
                <a:spcPct val="130000"/>
              </a:lnSpc>
              <a:spcBef>
                <a:spcPts val="600"/>
              </a:spcBef>
            </a:pPr>
            <a:r>
              <a:rPr sz="1350" b="0" lang="ja-JP">
                <a:solidFill>
                  <a:srgbClr val="4B5560"/>
                </a:solidFill>
                <a:latin typeface="BIZ UDPGothic"/>
                <a:ea typeface="BIZ UDPゴシック"/>
                <a:cs typeface="BIZ UDPGothic"/>
              </a:rPr>
              <a:t>数字だけのキーが出る</a:t>
            </a:r>
          </a:p>
        </p:txBody>
      </p:sp>
      <p:pic>
        <p:nvPicPr>
          <p:cNvPr id="11" name="Picture 10" descr="現場 101、端末 5 を入力し「登録 / 更新」ボタンを表示"/>
          <p:cNvPicPr>
            <a:picLocks noChangeAspect="1"/>
          </p:cNvPicPr>
          <p:nvPr/>
        </p:nvPicPr>
        <p:blipFill>
          <a:blip r:embed="rId6"/>
          <a:stretch>
            <a:fillRect/>
          </a:stretch>
        </p:blipFill>
        <p:spPr>
          <a:xfrm>
            <a:off x="9174175" y="1874519"/>
            <a:ext cx="2331720" cy="2331720"/>
          </a:xfrm>
          <a:prstGeom prst="rect">
            <a:avLst/>
          </a:prstGeom>
        </p:spPr>
      </p:pic>
      <p:sp>
        <p:nvSpPr>
          <p:cNvPr id="12" name="TextBox 11"/>
          <p:cNvSpPr txBox="1"/>
          <p:nvPr/>
        </p:nvSpPr>
        <p:spPr>
          <a:xfrm>
            <a:off x="9037015" y="4343400"/>
            <a:ext cx="2606039" cy="1188720"/>
          </a:xfrm>
          <a:prstGeom prst="rect">
            <a:avLst/>
          </a:prstGeom>
          <a:noFill/>
        </p:spPr>
        <p:txBody>
          <a:bodyPr wrap="square" lIns="0" rIns="0" tIns="0" bIns="0" anchor="t">
            <a:noAutofit/>
          </a:bodyPr>
          <a:lstStyle/>
          <a:p>
            <a:pPr algn="ctr">
              <a:lnSpc>
                <a:spcPct val="130000"/>
              </a:lnSpc>
            </a:pPr>
            <a:r>
              <a:rPr sz="1700" b="1" lang="ja-JP">
                <a:solidFill>
                  <a:srgbClr val="B3261E"/>
                </a:solidFill>
                <a:latin typeface="BIZ UDPGothic"/>
                <a:ea typeface="BIZ UDPゴシック"/>
                <a:cs typeface="BIZ UDPGothic"/>
              </a:rPr>
              <a:t>4  </a:t>
            </a:r>
            <a:r>
              <a:rPr sz="1700" b="1" lang="ja-JP">
                <a:solidFill>
                  <a:srgbClr val="1A1E23"/>
                </a:solidFill>
                <a:latin typeface="BIZ UDPGothic"/>
                <a:ea typeface="BIZ UDPゴシック"/>
                <a:cs typeface="BIZ UDPGothic"/>
              </a:rPr>
              <a:t>「登録 / 更新」</a:t>
            </a:r>
          </a:p>
          <a:p>
            <a:pPr algn="ctr">
              <a:lnSpc>
                <a:spcPct val="130000"/>
              </a:lnSpc>
              <a:spcBef>
                <a:spcPts val="600"/>
              </a:spcBef>
            </a:pPr>
            <a:r>
              <a:rPr sz="1350" b="0" lang="ja-JP">
                <a:solidFill>
                  <a:srgbClr val="4B5560"/>
                </a:solidFill>
                <a:latin typeface="BIZ UDPGothic"/>
                <a:ea typeface="BIZ UDPゴシック"/>
                <a:cs typeface="BIZ UDPGothic"/>
              </a:rPr>
              <a:t>番号がサーバーに</a:t>
            </a:r>
            <a:br/>
            <a:r>
              <a:rPr sz="1350" b="0" lang="ja-JP">
                <a:solidFill>
                  <a:srgbClr val="4B5560"/>
                </a:solidFill>
                <a:latin typeface="BIZ UDPGothic"/>
                <a:ea typeface="BIZ UDPゴシック"/>
                <a:cs typeface="BIZ UDPGothic"/>
              </a:rPr>
              <a:t>登録される</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685800" y="502920"/>
            <a:ext cx="10820095" cy="1188720"/>
          </a:xfrm>
        </p:spPr>
        <p:txBody>
          <a:bodyPr wrap="square" lIns="0" rIns="0" tIns="0" bIns="0" anchor="t">
            <a:noAutofit/>
          </a:bodyPr>
          <a:lstStyle/>
          <a:p>
            <a:pPr algn="l">
              <a:lnSpc>
                <a:spcPct val="120000"/>
              </a:lnSpc>
            </a:pPr>
            <a:r>
              <a:rPr sz="3000" b="1" lang="ja-JP">
                <a:solidFill>
                  <a:srgbClr val="1A1E23"/>
                </a:solidFill>
                <a:latin typeface="BIZ UDPGothic"/>
                <a:ea typeface="BIZ UDPゴシック"/>
                <a:cs typeface="BIZ UDPGothic"/>
              </a:rPr>
              <a:t>登録後は、現場番号と端末番号が</a:t>
            </a:r>
            <a:br/>
            <a:r>
              <a:rPr sz="3000" b="1" lang="ja-JP">
                <a:solidFill>
                  <a:srgbClr val="1A1E23"/>
                </a:solidFill>
                <a:latin typeface="BIZ UDPGothic"/>
                <a:ea typeface="BIZ UDPゴシック"/>
                <a:cs typeface="BIZ UDPGothic"/>
              </a:rPr>
              <a:t>大きく表示される</a:t>
            </a:r>
          </a:p>
        </p:txBody>
      </p:sp>
      <p:sp>
        <p:nvSpPr>
          <p:cNvPr id="3" name="TextBox 2"/>
          <p:cNvSpPr txBox="1"/>
          <p:nvPr/>
        </p:nvSpPr>
        <p:spPr>
          <a:xfrm>
            <a:off x="685800" y="6382512"/>
            <a:ext cx="9905695" cy="274320"/>
          </a:xfrm>
          <a:prstGeom prst="rect">
            <a:avLst/>
          </a:prstGeom>
          <a:noFill/>
        </p:spPr>
        <p:txBody>
          <a:bodyPr wrap="square" lIns="0" rIns="0" tIns="0" bIns="0" anchor="t">
            <a:noAutofit/>
          </a:bodyPr>
          <a:lstStyle/>
          <a:p>
            <a:pPr algn="l">
              <a:lnSpc>
                <a:spcPct val="130000"/>
              </a:lnSpc>
            </a:pPr>
            <a:r>
              <a:rPr sz="1000" b="0" lang="ja-JP">
                <a:solidFill>
                  <a:srgbClr val="69727D"/>
                </a:solidFill>
                <a:latin typeface="BIZ UDPGothic"/>
                <a:ea typeface="BIZ UDPゴシック"/>
                <a:cs typeface="BIZ UDPGothic"/>
              </a:rPr>
              <a:t>画面: Wear OS 5（API 34）エミュレーターで試作アプリを動かして撮影（2026-10-19）</a:t>
            </a:r>
          </a:p>
        </p:txBody>
      </p:sp>
      <p:sp>
        <p:nvSpPr>
          <p:cNvPr id="4" name="TextBox 3"/>
          <p:cNvSpPr txBox="1"/>
          <p:nvPr/>
        </p:nvSpPr>
        <p:spPr>
          <a:xfrm>
            <a:off x="10591495" y="6382512"/>
            <a:ext cx="914400" cy="274320"/>
          </a:xfrm>
          <a:prstGeom prst="rect">
            <a:avLst/>
          </a:prstGeom>
          <a:noFill/>
        </p:spPr>
        <p:txBody>
          <a:bodyPr wrap="square" lIns="0" rIns="0" tIns="0" bIns="0" anchor="t">
            <a:noAutofit/>
          </a:bodyPr>
          <a:lstStyle/>
          <a:p>
            <a:pPr algn="r">
              <a:lnSpc>
                <a:spcPct val="130000"/>
              </a:lnSpc>
            </a:pPr>
            <a:r>
              <a:rPr sz="1000" b="0" lang="ja-JP">
                <a:solidFill>
                  <a:srgbClr val="69727D"/>
                </a:solidFill>
                <a:latin typeface="BIZ UDPGothic"/>
                <a:ea typeface="BIZ UDPゴシック"/>
                <a:cs typeface="BIZ UDPGothic"/>
              </a:rPr>
              <a:t>5</a:t>
            </a:r>
          </a:p>
        </p:txBody>
      </p:sp>
      <p:sp>
        <p:nvSpPr>
          <p:cNvPr id="5" name="TextBox 4"/>
          <p:cNvSpPr txBox="1"/>
          <p:nvPr/>
        </p:nvSpPr>
        <p:spPr>
          <a:xfrm>
            <a:off x="685800" y="2103120"/>
            <a:ext cx="6217920" cy="3840480"/>
          </a:xfrm>
          <a:prstGeom prst="rect">
            <a:avLst/>
          </a:prstGeom>
          <a:noFill/>
        </p:spPr>
        <p:txBody>
          <a:bodyPr wrap="square" lIns="0" rIns="0" tIns="0" bIns="0" anchor="t">
            <a:noAutofit/>
          </a:bodyPr>
          <a:lstStyle/>
          <a:p>
            <a:pPr algn="l">
              <a:lnSpc>
                <a:spcPct val="135000"/>
              </a:lnSpc>
            </a:pPr>
            <a:r>
              <a:rPr sz="2100" b="0" lang="ja-JP">
                <a:solidFill>
                  <a:srgbClr val="1A1E23"/>
                </a:solidFill>
                <a:latin typeface="BIZ UDPGothic"/>
                <a:ea typeface="BIZ UDPゴシック"/>
                <a:cs typeface="BIZ UDPGothic"/>
              </a:rPr>
              <a:t>どの現場の何番の端末か、時計を見ればすぐ分かる。</a:t>
            </a:r>
          </a:p>
          <a:p>
            <a:pPr algn="l">
              <a:lnSpc>
                <a:spcPct val="135000"/>
              </a:lnSpc>
              <a:spcBef>
                <a:spcPts val="2200"/>
              </a:spcBef>
            </a:pPr>
            <a:r>
              <a:rPr sz="2100" b="0" lang="ja-JP">
                <a:solidFill>
                  <a:srgbClr val="1A1E23"/>
                </a:solidFill>
                <a:latin typeface="BIZ UDPGothic"/>
                <a:ea typeface="BIZ UDPゴシック"/>
                <a:cs typeface="BIZ UDPGothic"/>
              </a:rPr>
              <a:t>状態は「待機中」「送信中」「未同期」の3つで表示する。</a:t>
            </a:r>
          </a:p>
          <a:p>
            <a:pPr algn="l">
              <a:lnSpc>
                <a:spcPct val="135000"/>
              </a:lnSpc>
              <a:spcBef>
                <a:spcPts val="2200"/>
              </a:spcBef>
            </a:pPr>
            <a:r>
              <a:rPr sz="2100" b="0" lang="ja-JP">
                <a:solidFill>
                  <a:srgbClr val="1A1E23"/>
                </a:solidFill>
                <a:latin typeface="BIZ UDPGothic"/>
                <a:ea typeface="BIZ UDPゴシック"/>
                <a:cs typeface="BIZ UDPGothic"/>
              </a:rPr>
              <a:t>番号の変更は「設定変更」を長押しした時だけ。触れただけでは変わらない。</a:t>
            </a:r>
          </a:p>
        </p:txBody>
      </p:sp>
      <p:pic>
        <p:nvPicPr>
          <p:cNvPr id="6" name="Picture 5" descr="待機画面。現場: 101、端末: 05、（待機中）、設定変更ボタン"/>
          <p:cNvPicPr>
            <a:picLocks noChangeAspect="1"/>
          </p:cNvPicPr>
          <p:nvPr/>
        </p:nvPicPr>
        <p:blipFill>
          <a:blip r:embed="rId3"/>
          <a:stretch>
            <a:fillRect/>
          </a:stretch>
        </p:blipFill>
        <p:spPr>
          <a:xfrm>
            <a:off x="7498079" y="1600200"/>
            <a:ext cx="4023360" cy="402336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685800" y="502920"/>
            <a:ext cx="10820095" cy="1188720"/>
          </a:xfrm>
        </p:spPr>
        <p:txBody>
          <a:bodyPr wrap="square" lIns="0" rIns="0" tIns="0" bIns="0" anchor="t">
            <a:noAutofit/>
          </a:bodyPr>
          <a:lstStyle/>
          <a:p>
            <a:pPr algn="l">
              <a:lnSpc>
                <a:spcPct val="120000"/>
              </a:lnSpc>
            </a:pPr>
            <a:r>
              <a:rPr sz="3000" b="1" lang="ja-JP">
                <a:solidFill>
                  <a:srgbClr val="1A1E23"/>
                </a:solidFill>
                <a:latin typeface="BIZ UDPGothic"/>
                <a:ea typeface="BIZ UDPゴシック"/>
                <a:cs typeface="BIZ UDPGothic"/>
              </a:rPr>
              <a:t>番号を打ち間違えても、</a:t>
            </a:r>
            <a:br/>
            <a:r>
              <a:rPr sz="3000" b="1" lang="ja-JP">
                <a:solidFill>
                  <a:srgbClr val="1A1E23"/>
                </a:solidFill>
                <a:latin typeface="BIZ UDPGothic"/>
                <a:ea typeface="BIZ UDPゴシック"/>
                <a:cs typeface="BIZ UDPGothic"/>
              </a:rPr>
              <a:t>通知が届かなくなる時計は出ない</a:t>
            </a:r>
          </a:p>
        </p:txBody>
      </p:sp>
      <p:sp>
        <p:nvSpPr>
          <p:cNvPr id="3" name="TextBox 2"/>
          <p:cNvSpPr txBox="1"/>
          <p:nvPr/>
        </p:nvSpPr>
        <p:spPr>
          <a:xfrm>
            <a:off x="685800" y="6382512"/>
            <a:ext cx="9905695" cy="274320"/>
          </a:xfrm>
          <a:prstGeom prst="rect">
            <a:avLst/>
          </a:prstGeom>
          <a:noFill/>
        </p:spPr>
        <p:txBody>
          <a:bodyPr wrap="square" lIns="0" rIns="0" tIns="0" bIns="0" anchor="t">
            <a:noAutofit/>
          </a:bodyPr>
          <a:lstStyle/>
          <a:p>
            <a:pPr algn="l">
              <a:lnSpc>
                <a:spcPct val="130000"/>
              </a:lnSpc>
            </a:pPr>
            <a:r>
              <a:rPr sz="1000" b="0" lang="ja-JP">
                <a:solidFill>
                  <a:srgbClr val="69727D"/>
                </a:solidFill>
                <a:latin typeface="BIZ UDPGothic"/>
                <a:ea typeface="BIZ UDPゴシック"/>
                <a:cs typeface="BIZ UDPGothic"/>
              </a:rPr>
              <a:t>画面: Wear OS 5（API 34）エミュレーターで試作アプリを動かして撮影（2026-10-19）</a:t>
            </a:r>
          </a:p>
        </p:txBody>
      </p:sp>
      <p:sp>
        <p:nvSpPr>
          <p:cNvPr id="4" name="TextBox 3"/>
          <p:cNvSpPr txBox="1"/>
          <p:nvPr/>
        </p:nvSpPr>
        <p:spPr>
          <a:xfrm>
            <a:off x="10591495" y="6382512"/>
            <a:ext cx="914400" cy="274320"/>
          </a:xfrm>
          <a:prstGeom prst="rect">
            <a:avLst/>
          </a:prstGeom>
          <a:noFill/>
        </p:spPr>
        <p:txBody>
          <a:bodyPr wrap="square" lIns="0" rIns="0" tIns="0" bIns="0" anchor="t">
            <a:noAutofit/>
          </a:bodyPr>
          <a:lstStyle/>
          <a:p>
            <a:pPr algn="r">
              <a:lnSpc>
                <a:spcPct val="130000"/>
              </a:lnSpc>
            </a:pPr>
            <a:r>
              <a:rPr sz="1000" b="0" lang="ja-JP">
                <a:solidFill>
                  <a:srgbClr val="69727D"/>
                </a:solidFill>
                <a:latin typeface="BIZ UDPGothic"/>
                <a:ea typeface="BIZ UDPゴシック"/>
                <a:cs typeface="BIZ UDPGothic"/>
              </a:rPr>
              <a:t>6</a:t>
            </a:r>
          </a:p>
        </p:txBody>
      </p:sp>
      <p:sp>
        <p:nvSpPr>
          <p:cNvPr id="5" name="TextBox 4"/>
          <p:cNvSpPr txBox="1"/>
          <p:nvPr/>
        </p:nvSpPr>
        <p:spPr>
          <a:xfrm>
            <a:off x="685800" y="2103120"/>
            <a:ext cx="6217920" cy="3840480"/>
          </a:xfrm>
          <a:prstGeom prst="rect">
            <a:avLst/>
          </a:prstGeom>
          <a:noFill/>
        </p:spPr>
        <p:txBody>
          <a:bodyPr wrap="square" lIns="0" rIns="0" tIns="0" bIns="0" anchor="t">
            <a:noAutofit/>
          </a:bodyPr>
          <a:lstStyle/>
          <a:p>
            <a:pPr algn="l">
              <a:lnSpc>
                <a:spcPct val="135000"/>
              </a:lnSpc>
            </a:pPr>
            <a:r>
              <a:rPr sz="2000" b="0" lang="ja-JP">
                <a:solidFill>
                  <a:srgbClr val="1A1E23"/>
                </a:solidFill>
                <a:latin typeface="BIZ UDPGothic"/>
                <a:ea typeface="BIZ UDPゴシック"/>
                <a:cs typeface="BIZ UDPGothic"/>
              </a:rPr>
              <a:t>時計ごとの固有の識別子で登録するので、同じ番号を入れても先の時計の登録は消えない。</a:t>
            </a:r>
          </a:p>
          <a:p>
            <a:pPr algn="l">
              <a:lnSpc>
                <a:spcPct val="135000"/>
              </a:lnSpc>
              <a:spcBef>
                <a:spcPts val="2200"/>
              </a:spcBef>
            </a:pPr>
            <a:r>
              <a:rPr sz="2000" b="0" lang="ja-JP">
                <a:solidFill>
                  <a:srgbClr val="1A1E23"/>
                </a:solidFill>
                <a:latin typeface="BIZ UDPGothic"/>
                <a:ea typeface="BIZ UDPゴシック"/>
                <a:cs typeface="BIZ UDPGothic"/>
              </a:rPr>
              <a:t>通知は現場の時計すべてに届く。番号は貸し出し台帳との照合に使う。</a:t>
            </a:r>
          </a:p>
          <a:p>
            <a:pPr algn="l">
              <a:lnSpc>
                <a:spcPct val="135000"/>
              </a:lnSpc>
              <a:spcBef>
                <a:spcPts val="2200"/>
              </a:spcBef>
            </a:pPr>
            <a:r>
              <a:rPr sz="2000" b="0" lang="ja-JP">
                <a:solidFill>
                  <a:srgbClr val="1A1E23"/>
                </a:solidFill>
                <a:latin typeface="BIZ UDPGothic"/>
                <a:ea typeface="BIZ UDPゴシック"/>
                <a:cs typeface="BIZ UDPGothic"/>
              </a:rPr>
              <a:t>同じ日に番号が重なった時計には「同じ番号の時計あり　台帳を確認」と出る。</a:t>
            </a:r>
          </a:p>
        </p:txBody>
      </p:sp>
      <p:pic>
        <p:nvPicPr>
          <p:cNvPr id="6" name="Picture 5" descr="待機画面。現場: 101、端末: 05、（待機中）、同じ番号の時計あり 台帳を確認"/>
          <p:cNvPicPr>
            <a:picLocks noChangeAspect="1"/>
          </p:cNvPicPr>
          <p:nvPr/>
        </p:nvPicPr>
        <p:blipFill>
          <a:blip r:embed="rId3"/>
          <a:stretch>
            <a:fillRect/>
          </a:stretch>
        </p:blipFill>
        <p:spPr>
          <a:xfrm>
            <a:off x="7498079" y="1600200"/>
            <a:ext cx="4023360" cy="402336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685800" y="502920"/>
            <a:ext cx="10820095" cy="1188720"/>
          </a:xfrm>
        </p:spPr>
        <p:txBody>
          <a:bodyPr wrap="square" lIns="0" rIns="0" tIns="0" bIns="0" anchor="t">
            <a:noAutofit/>
          </a:bodyPr>
          <a:lstStyle/>
          <a:p>
            <a:pPr algn="l">
              <a:lnSpc>
                <a:spcPct val="120000"/>
              </a:lnSpc>
            </a:pPr>
            <a:r>
              <a:rPr sz="3000" b="1" lang="ja-JP">
                <a:solidFill>
                  <a:srgbClr val="1A1E23"/>
                </a:solidFill>
                <a:latin typeface="BIZ UDPGothic"/>
                <a:ea typeface="BIZ UDPゴシック"/>
                <a:cs typeface="BIZ UDPGothic"/>
              </a:rPr>
              <a:t>画面が消えた省電力状態でも、</a:t>
            </a:r>
            <a:br/>
            <a:r>
              <a:rPr sz="3000" b="1" lang="ja-JP">
                <a:solidFill>
                  <a:srgbClr val="1A1E23"/>
                </a:solidFill>
                <a:latin typeface="BIZ UDPGothic"/>
                <a:ea typeface="BIZ UDPゴシック"/>
                <a:cs typeface="BIZ UDPGothic"/>
              </a:rPr>
              <a:t>送信から約1秒で鳴り始めた</a:t>
            </a:r>
          </a:p>
        </p:txBody>
      </p:sp>
      <p:sp>
        <p:nvSpPr>
          <p:cNvPr id="3" name="TextBox 2"/>
          <p:cNvSpPr txBox="1"/>
          <p:nvPr/>
        </p:nvSpPr>
        <p:spPr>
          <a:xfrm>
            <a:off x="685800" y="6382512"/>
            <a:ext cx="9905695" cy="274320"/>
          </a:xfrm>
          <a:prstGeom prst="rect">
            <a:avLst/>
          </a:prstGeom>
          <a:noFill/>
        </p:spPr>
        <p:txBody>
          <a:bodyPr wrap="square" lIns="0" rIns="0" tIns="0" bIns="0" anchor="t">
            <a:noAutofit/>
          </a:bodyPr>
          <a:lstStyle/>
          <a:p>
            <a:pPr algn="l">
              <a:lnSpc>
                <a:spcPct val="130000"/>
              </a:lnSpc>
            </a:pPr>
            <a:r>
              <a:rPr sz="1000" b="0" lang="ja-JP">
                <a:solidFill>
                  <a:srgbClr val="69727D"/>
                </a:solidFill>
                <a:latin typeface="BIZ UDPGothic"/>
                <a:ea typeface="BIZ UDPゴシック"/>
                <a:cs typeface="BIZ UDPGothic"/>
              </a:rPr>
              <a:t>工事現場向け スマートウォッチ通知システム　試作の動作確認報告</a:t>
            </a:r>
          </a:p>
        </p:txBody>
      </p:sp>
      <p:sp>
        <p:nvSpPr>
          <p:cNvPr id="4" name="TextBox 3"/>
          <p:cNvSpPr txBox="1"/>
          <p:nvPr/>
        </p:nvSpPr>
        <p:spPr>
          <a:xfrm>
            <a:off x="10591495" y="6382512"/>
            <a:ext cx="914400" cy="274320"/>
          </a:xfrm>
          <a:prstGeom prst="rect">
            <a:avLst/>
          </a:prstGeom>
          <a:noFill/>
        </p:spPr>
        <p:txBody>
          <a:bodyPr wrap="square" lIns="0" rIns="0" tIns="0" bIns="0" anchor="t">
            <a:noAutofit/>
          </a:bodyPr>
          <a:lstStyle/>
          <a:p>
            <a:pPr algn="r">
              <a:lnSpc>
                <a:spcPct val="130000"/>
              </a:lnSpc>
            </a:pPr>
            <a:r>
              <a:rPr sz="1000" b="0" lang="ja-JP">
                <a:solidFill>
                  <a:srgbClr val="69727D"/>
                </a:solidFill>
                <a:latin typeface="BIZ UDPGothic"/>
                <a:ea typeface="BIZ UDPゴシック"/>
                <a:cs typeface="BIZ UDPGothic"/>
              </a:rPr>
              <a:t>7</a:t>
            </a:r>
          </a:p>
        </p:txBody>
      </p:sp>
      <p:cxnSp>
        <p:nvCxnSpPr>
          <p:cNvPr id="5" name="Connector 4"/>
          <p:cNvCxnSpPr/>
          <p:nvPr/>
        </p:nvCxnSpPr>
        <p:spPr>
          <a:xfrm>
            <a:off x="1463040" y="3520440"/>
            <a:ext cx="9235440" cy="0"/>
          </a:xfrm>
          <a:prstGeom prst="line">
            <a:avLst/>
          </a:prstGeom>
          <a:ln w="25400">
            <a:solidFill>
              <a:srgbClr val="4B5560"/>
            </a:solidFill>
          </a:ln>
        </p:spPr>
      </p:cxnSp>
      <p:sp>
        <p:nvSpPr>
          <p:cNvPr id="6" name="Oval 5"/>
          <p:cNvSpPr/>
          <p:nvPr/>
        </p:nvSpPr>
        <p:spPr>
          <a:xfrm>
            <a:off x="1307592" y="3364992"/>
            <a:ext cx="310896" cy="310896"/>
          </a:xfrm>
          <a:prstGeom prst="ellipse">
            <a:avLst/>
          </a:prstGeom>
          <a:solidFill>
            <a:srgbClr val="1A1E23"/>
          </a:solidFill>
          <a:ln>
            <a:noFill/>
          </a:ln>
        </p:spPr>
        <p:txBody>
          <a:bodyPr rtlCol="0" anchor="ctr"/>
          <a:lstStyle/>
          <a:p>
            <a:pPr algn="ctr"/>
          </a:p>
        </p:txBody>
      </p:sp>
      <p:sp>
        <p:nvSpPr>
          <p:cNvPr id="7" name="Oval 6"/>
          <p:cNvSpPr/>
          <p:nvPr/>
        </p:nvSpPr>
        <p:spPr>
          <a:xfrm>
            <a:off x="10543032" y="3364992"/>
            <a:ext cx="310896" cy="310896"/>
          </a:xfrm>
          <a:prstGeom prst="ellipse">
            <a:avLst/>
          </a:prstGeom>
          <a:solidFill>
            <a:srgbClr val="B3261E"/>
          </a:solidFill>
          <a:ln>
            <a:noFill/>
          </a:ln>
        </p:spPr>
        <p:txBody>
          <a:bodyPr rtlCol="0" anchor="ctr"/>
          <a:lstStyle/>
          <a:p>
            <a:pPr algn="ctr"/>
          </a:p>
        </p:txBody>
      </p:sp>
      <p:sp>
        <p:nvSpPr>
          <p:cNvPr id="8" name="TextBox 7"/>
          <p:cNvSpPr txBox="1"/>
          <p:nvPr/>
        </p:nvSpPr>
        <p:spPr>
          <a:xfrm>
            <a:off x="1463040" y="2331720"/>
            <a:ext cx="9235440" cy="914400"/>
          </a:xfrm>
          <a:prstGeom prst="rect">
            <a:avLst/>
          </a:prstGeom>
          <a:noFill/>
        </p:spPr>
        <p:txBody>
          <a:bodyPr wrap="square" lIns="0" rIns="0" tIns="0" bIns="0" anchor="b">
            <a:noAutofit/>
          </a:bodyPr>
          <a:lstStyle/>
          <a:p>
            <a:pPr algn="ctr">
              <a:lnSpc>
                <a:spcPct val="100000"/>
              </a:lnSpc>
            </a:pPr>
            <a:r>
              <a:rPr sz="5400" b="1" lang="ja-JP">
                <a:solidFill>
                  <a:srgbClr val="1A1E23"/>
                </a:solidFill>
                <a:latin typeface="BIZ UDPGothic"/>
                <a:ea typeface="BIZ UDPゴシック"/>
                <a:cs typeface="BIZ UDPGothic"/>
              </a:rPr>
              <a:t>約1秒</a:t>
            </a:r>
          </a:p>
        </p:txBody>
      </p:sp>
      <p:sp>
        <p:nvSpPr>
          <p:cNvPr id="9" name="TextBox 8"/>
          <p:cNvSpPr txBox="1"/>
          <p:nvPr/>
        </p:nvSpPr>
        <p:spPr>
          <a:xfrm>
            <a:off x="685800" y="3886200"/>
            <a:ext cx="3200400" cy="914400"/>
          </a:xfrm>
          <a:prstGeom prst="rect">
            <a:avLst/>
          </a:prstGeom>
          <a:noFill/>
        </p:spPr>
        <p:txBody>
          <a:bodyPr wrap="square" lIns="0" rIns="0" tIns="0" bIns="0" anchor="t">
            <a:noAutofit/>
          </a:bodyPr>
          <a:lstStyle/>
          <a:p>
            <a:pPr algn="l">
              <a:lnSpc>
                <a:spcPct val="130000"/>
              </a:lnSpc>
            </a:pPr>
            <a:r>
              <a:rPr sz="1800" b="1" lang="ja-JP">
                <a:solidFill>
                  <a:srgbClr val="1A1E23"/>
                </a:solidFill>
                <a:latin typeface="BIZ UDPGothic"/>
                <a:ea typeface="BIZ UDPゴシック"/>
                <a:cs typeface="BIZ UDPGothic"/>
              </a:rPr>
              <a:t>送信</a:t>
            </a:r>
          </a:p>
          <a:p>
            <a:pPr algn="l">
              <a:lnSpc>
                <a:spcPct val="130000"/>
              </a:lnSpc>
              <a:spcBef>
                <a:spcPts val="400"/>
              </a:spcBef>
            </a:pPr>
            <a:r>
              <a:rPr sz="1400" b="0" lang="ja-JP">
                <a:solidFill>
                  <a:srgbClr val="4B5560"/>
                </a:solidFill>
                <a:latin typeface="BIZ UDPGothic"/>
                <a:ea typeface="BIZ UDPゴシック"/>
                <a:cs typeface="BIZ UDPGothic"/>
              </a:rPr>
              <a:t>送信処理からFirebase経由で送る</a:t>
            </a:r>
          </a:p>
        </p:txBody>
      </p:sp>
      <p:sp>
        <p:nvSpPr>
          <p:cNvPr id="10" name="TextBox 9"/>
          <p:cNvSpPr txBox="1"/>
          <p:nvPr/>
        </p:nvSpPr>
        <p:spPr>
          <a:xfrm>
            <a:off x="8275319" y="3886200"/>
            <a:ext cx="3200400" cy="914400"/>
          </a:xfrm>
          <a:prstGeom prst="rect">
            <a:avLst/>
          </a:prstGeom>
          <a:noFill/>
        </p:spPr>
        <p:txBody>
          <a:bodyPr wrap="square" lIns="0" rIns="0" tIns="0" bIns="0" anchor="t">
            <a:noAutofit/>
          </a:bodyPr>
          <a:lstStyle/>
          <a:p>
            <a:pPr algn="r">
              <a:lnSpc>
                <a:spcPct val="130000"/>
              </a:lnSpc>
            </a:pPr>
            <a:r>
              <a:rPr sz="1800" b="1" lang="ja-JP">
                <a:solidFill>
                  <a:srgbClr val="1A1E23"/>
                </a:solidFill>
                <a:latin typeface="BIZ UDPGothic"/>
                <a:ea typeface="BIZ UDPゴシック"/>
                <a:cs typeface="BIZ UDPGothic"/>
              </a:rPr>
              <a:t>鳴動開始</a:t>
            </a:r>
          </a:p>
          <a:p>
            <a:pPr algn="r">
              <a:lnSpc>
                <a:spcPct val="130000"/>
              </a:lnSpc>
              <a:spcBef>
                <a:spcPts val="400"/>
              </a:spcBef>
            </a:pPr>
            <a:r>
              <a:rPr sz="1400" b="0" lang="ja-JP">
                <a:solidFill>
                  <a:srgbClr val="4B5560"/>
                </a:solidFill>
                <a:latin typeface="BIZ UDPGothic"/>
                <a:ea typeface="BIZ UDPゴシック"/>
                <a:cs typeface="BIZ UDPGothic"/>
              </a:rPr>
              <a:t>振動とアラーム音が始まる</a:t>
            </a:r>
          </a:p>
        </p:txBody>
      </p:sp>
      <p:cxnSp>
        <p:nvCxnSpPr>
          <p:cNvPr id="11" name="Connector 10"/>
          <p:cNvCxnSpPr/>
          <p:nvPr/>
        </p:nvCxnSpPr>
        <p:spPr>
          <a:xfrm>
            <a:off x="685800" y="5074920"/>
            <a:ext cx="10820095" cy="0"/>
          </a:xfrm>
          <a:prstGeom prst="line">
            <a:avLst/>
          </a:prstGeom>
          <a:ln w="12700">
            <a:solidFill>
              <a:srgbClr val="D3D8DE"/>
            </a:solidFill>
          </a:ln>
        </p:spPr>
      </p:cxnSp>
      <p:sp>
        <p:nvSpPr>
          <p:cNvPr id="12" name="TextBox 11"/>
          <p:cNvSpPr txBox="1"/>
          <p:nvPr/>
        </p:nvSpPr>
        <p:spPr>
          <a:xfrm>
            <a:off x="685800" y="5257800"/>
            <a:ext cx="10820095" cy="822960"/>
          </a:xfrm>
          <a:prstGeom prst="rect">
            <a:avLst/>
          </a:prstGeom>
          <a:noFill/>
        </p:spPr>
        <p:txBody>
          <a:bodyPr wrap="square" lIns="0" rIns="0" tIns="0" bIns="0" anchor="t">
            <a:noAutofit/>
          </a:bodyPr>
          <a:lstStyle/>
          <a:p>
            <a:pPr algn="l">
              <a:lnSpc>
                <a:spcPct val="130000"/>
              </a:lnSpc>
            </a:pPr>
            <a:r>
              <a:rPr sz="1400" b="1" lang="ja-JP">
                <a:solidFill>
                  <a:srgbClr val="4B5560"/>
                </a:solidFill>
                <a:latin typeface="BIZ UDPGothic"/>
                <a:ea typeface="BIZ UDPゴシック"/>
                <a:cs typeface="BIZ UDPGothic"/>
              </a:rPr>
              <a:t>測定条件　</a:t>
            </a:r>
            <a:r>
              <a:rPr sz="1400" b="0" lang="ja-JP">
                <a:solidFill>
                  <a:srgbClr val="4B5560"/>
                </a:solidFill>
                <a:latin typeface="BIZ UDPGothic"/>
                <a:ea typeface="BIZ UDPゴシック"/>
                <a:cs typeface="BIZ UDPGothic"/>
              </a:rPr>
              <a:t>Wear OS 5エミュレーター、画面消灯、省電力状態（Doze）を強制、Firebase経由の実送信。計測した回の値。</a:t>
            </a:r>
          </a:p>
          <a:p>
            <a:pPr algn="l">
              <a:lnSpc>
                <a:spcPct val="130000"/>
              </a:lnSpc>
              <a:spcBef>
                <a:spcPts val="600"/>
              </a:spcBef>
            </a:pPr>
            <a:r>
              <a:rPr sz="1400" b="0" lang="ja-JP">
                <a:solidFill>
                  <a:srgbClr val="4B5560"/>
                </a:solidFill>
                <a:latin typeface="BIZ UDPGothic"/>
                <a:ea typeface="BIZ UDPゴシック"/>
                <a:cs typeface="BIZ UDPGothic"/>
              </a:rPr>
              <a:t>現場のWi-Fiと実機での到達時間は、実機確認で測る。</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685800" y="502920"/>
            <a:ext cx="10820095" cy="1188720"/>
          </a:xfrm>
        </p:spPr>
        <p:txBody>
          <a:bodyPr wrap="square" lIns="0" rIns="0" tIns="0" bIns="0" anchor="t">
            <a:noAutofit/>
          </a:bodyPr>
          <a:lstStyle/>
          <a:p>
            <a:pPr algn="l">
              <a:lnSpc>
                <a:spcPct val="120000"/>
              </a:lnSpc>
            </a:pPr>
            <a:r>
              <a:rPr sz="3000" b="1" lang="ja-JP">
                <a:solidFill>
                  <a:srgbClr val="1A1E23"/>
                </a:solidFill>
                <a:latin typeface="BIZ UDPGothic"/>
                <a:ea typeface="BIZ UDPゴシック"/>
                <a:cs typeface="BIZ UDPGothic"/>
              </a:rPr>
              <a:t>「確認」されるまで、</a:t>
            </a:r>
            <a:br/>
            <a:r>
              <a:rPr sz="3000" b="1" lang="ja-JP">
                <a:solidFill>
                  <a:srgbClr val="1A1E23"/>
                </a:solidFill>
                <a:latin typeface="BIZ UDPGothic"/>
                <a:ea typeface="BIZ UDPゴシック"/>
                <a:cs typeface="BIZ UDPGothic"/>
              </a:rPr>
              <a:t>振動とアラーム音を最大60秒繰り返す</a:t>
            </a:r>
          </a:p>
        </p:txBody>
      </p:sp>
      <p:sp>
        <p:nvSpPr>
          <p:cNvPr id="3" name="TextBox 2"/>
          <p:cNvSpPr txBox="1"/>
          <p:nvPr/>
        </p:nvSpPr>
        <p:spPr>
          <a:xfrm>
            <a:off x="685800" y="6382512"/>
            <a:ext cx="9905695" cy="274320"/>
          </a:xfrm>
          <a:prstGeom prst="rect">
            <a:avLst/>
          </a:prstGeom>
          <a:noFill/>
        </p:spPr>
        <p:txBody>
          <a:bodyPr wrap="square" lIns="0" rIns="0" tIns="0" bIns="0" anchor="t">
            <a:noAutofit/>
          </a:bodyPr>
          <a:lstStyle/>
          <a:p>
            <a:pPr algn="l">
              <a:lnSpc>
                <a:spcPct val="130000"/>
              </a:lnSpc>
            </a:pPr>
            <a:r>
              <a:rPr sz="1000" b="0" lang="ja-JP">
                <a:solidFill>
                  <a:srgbClr val="69727D"/>
                </a:solidFill>
                <a:latin typeface="BIZ UDPGothic"/>
                <a:ea typeface="BIZ UDPゴシック"/>
                <a:cs typeface="BIZ UDPGothic"/>
              </a:rPr>
              <a:t>工事現場向け スマートウォッチ通知システム　試作の動作確認報告</a:t>
            </a:r>
          </a:p>
        </p:txBody>
      </p:sp>
      <p:sp>
        <p:nvSpPr>
          <p:cNvPr id="4" name="TextBox 3"/>
          <p:cNvSpPr txBox="1"/>
          <p:nvPr/>
        </p:nvSpPr>
        <p:spPr>
          <a:xfrm>
            <a:off x="10591495" y="6382512"/>
            <a:ext cx="914400" cy="274320"/>
          </a:xfrm>
          <a:prstGeom prst="rect">
            <a:avLst/>
          </a:prstGeom>
          <a:noFill/>
        </p:spPr>
        <p:txBody>
          <a:bodyPr wrap="square" lIns="0" rIns="0" tIns="0" bIns="0" anchor="t">
            <a:noAutofit/>
          </a:bodyPr>
          <a:lstStyle/>
          <a:p>
            <a:pPr algn="r">
              <a:lnSpc>
                <a:spcPct val="130000"/>
              </a:lnSpc>
            </a:pPr>
            <a:r>
              <a:rPr sz="1000" b="0" lang="ja-JP">
                <a:solidFill>
                  <a:srgbClr val="69727D"/>
                </a:solidFill>
                <a:latin typeface="BIZ UDPGothic"/>
                <a:ea typeface="BIZ UDPゴシック"/>
                <a:cs typeface="BIZ UDPGothic"/>
              </a:rPr>
              <a:t>8</a:t>
            </a:r>
          </a:p>
        </p:txBody>
      </p:sp>
      <p:sp>
        <p:nvSpPr>
          <p:cNvPr id="5" name="TextBox 4"/>
          <p:cNvSpPr txBox="1"/>
          <p:nvPr/>
        </p:nvSpPr>
        <p:spPr>
          <a:xfrm>
            <a:off x="3063240" y="2176272"/>
            <a:ext cx="5486400" cy="320040"/>
          </a:xfrm>
          <a:prstGeom prst="rect">
            <a:avLst/>
          </a:prstGeom>
          <a:noFill/>
        </p:spPr>
        <p:txBody>
          <a:bodyPr wrap="square" lIns="0" rIns="0" tIns="0" bIns="0" anchor="t">
            <a:noAutofit/>
          </a:bodyPr>
          <a:lstStyle/>
          <a:p>
            <a:pPr algn="l">
              <a:lnSpc>
                <a:spcPct val="130000"/>
              </a:lnSpc>
            </a:pPr>
            <a:r>
              <a:rPr sz="1300" b="0" lang="ja-JP">
                <a:solidFill>
                  <a:srgbClr val="4B5560"/>
                </a:solidFill>
                <a:latin typeface="BIZ UDPGothic"/>
                <a:ea typeface="BIZ UDPゴシック"/>
                <a:cs typeface="BIZ UDPGothic"/>
              </a:rPr>
              <a:t>1秒振動＋0.5秒休止を繰り返す</a:t>
            </a:r>
          </a:p>
        </p:txBody>
      </p:sp>
      <p:sp>
        <p:nvSpPr>
          <p:cNvPr id="6" name="TextBox 5"/>
          <p:cNvSpPr txBox="1"/>
          <p:nvPr/>
        </p:nvSpPr>
        <p:spPr>
          <a:xfrm>
            <a:off x="685800" y="2788920"/>
            <a:ext cx="2240280" cy="548640"/>
          </a:xfrm>
          <a:prstGeom prst="rect">
            <a:avLst/>
          </a:prstGeom>
          <a:noFill/>
        </p:spPr>
        <p:txBody>
          <a:bodyPr wrap="square" lIns="0" rIns="0" tIns="0" bIns="0" anchor="t">
            <a:noAutofit/>
          </a:bodyPr>
          <a:lstStyle/>
          <a:p>
            <a:pPr algn="l">
              <a:lnSpc>
                <a:spcPct val="130000"/>
              </a:lnSpc>
            </a:pPr>
            <a:r>
              <a:rPr sz="1600" b="1" lang="ja-JP">
                <a:solidFill>
                  <a:srgbClr val="1A1E23"/>
                </a:solidFill>
                <a:latin typeface="BIZ UDPGothic"/>
                <a:ea typeface="BIZ UDPゴシック"/>
                <a:cs typeface="BIZ UDPGothic"/>
              </a:rPr>
              <a:t>確認されない場合</a:t>
            </a:r>
          </a:p>
        </p:txBody>
      </p:sp>
      <p:sp>
        <p:nvSpPr>
          <p:cNvPr id="7" name="Rectangle 6"/>
          <p:cNvSpPr/>
          <p:nvPr/>
        </p:nvSpPr>
        <p:spPr>
          <a:xfrm>
            <a:off x="3063240" y="2743200"/>
            <a:ext cx="137160" cy="384048"/>
          </a:xfrm>
          <a:prstGeom prst="rect">
            <a:avLst/>
          </a:prstGeom>
          <a:solidFill>
            <a:srgbClr val="B3261E"/>
          </a:solidFill>
          <a:ln>
            <a:noFill/>
          </a:ln>
        </p:spPr>
        <p:txBody>
          <a:bodyPr rtlCol="0" anchor="ctr"/>
          <a:lstStyle/>
          <a:p>
            <a:pPr algn="ctr"/>
          </a:p>
        </p:txBody>
      </p:sp>
      <p:sp>
        <p:nvSpPr>
          <p:cNvPr id="8" name="Rectangle 7"/>
          <p:cNvSpPr/>
          <p:nvPr/>
        </p:nvSpPr>
        <p:spPr>
          <a:xfrm>
            <a:off x="3268980" y="2743200"/>
            <a:ext cx="137160" cy="384048"/>
          </a:xfrm>
          <a:prstGeom prst="rect">
            <a:avLst/>
          </a:prstGeom>
          <a:solidFill>
            <a:srgbClr val="B3261E"/>
          </a:solidFill>
          <a:ln>
            <a:noFill/>
          </a:ln>
        </p:spPr>
        <p:txBody>
          <a:bodyPr rtlCol="0" anchor="ctr"/>
          <a:lstStyle/>
          <a:p>
            <a:pPr algn="ctr"/>
          </a:p>
        </p:txBody>
      </p:sp>
      <p:sp>
        <p:nvSpPr>
          <p:cNvPr id="9" name="Rectangle 8"/>
          <p:cNvSpPr/>
          <p:nvPr/>
        </p:nvSpPr>
        <p:spPr>
          <a:xfrm>
            <a:off x="3474720" y="2743200"/>
            <a:ext cx="137160" cy="384048"/>
          </a:xfrm>
          <a:prstGeom prst="rect">
            <a:avLst/>
          </a:prstGeom>
          <a:solidFill>
            <a:srgbClr val="B3261E"/>
          </a:solidFill>
          <a:ln>
            <a:noFill/>
          </a:ln>
        </p:spPr>
        <p:txBody>
          <a:bodyPr rtlCol="0" anchor="ctr"/>
          <a:lstStyle/>
          <a:p>
            <a:pPr algn="ctr"/>
          </a:p>
        </p:txBody>
      </p:sp>
      <p:sp>
        <p:nvSpPr>
          <p:cNvPr id="10" name="Rectangle 9"/>
          <p:cNvSpPr/>
          <p:nvPr/>
        </p:nvSpPr>
        <p:spPr>
          <a:xfrm>
            <a:off x="3680460" y="2743200"/>
            <a:ext cx="137160" cy="384048"/>
          </a:xfrm>
          <a:prstGeom prst="rect">
            <a:avLst/>
          </a:prstGeom>
          <a:solidFill>
            <a:srgbClr val="B3261E"/>
          </a:solidFill>
          <a:ln>
            <a:noFill/>
          </a:ln>
        </p:spPr>
        <p:txBody>
          <a:bodyPr rtlCol="0" anchor="ctr"/>
          <a:lstStyle/>
          <a:p>
            <a:pPr algn="ctr"/>
          </a:p>
        </p:txBody>
      </p:sp>
      <p:sp>
        <p:nvSpPr>
          <p:cNvPr id="11" name="Rectangle 10"/>
          <p:cNvSpPr/>
          <p:nvPr/>
        </p:nvSpPr>
        <p:spPr>
          <a:xfrm>
            <a:off x="3886200" y="2743200"/>
            <a:ext cx="137160" cy="384048"/>
          </a:xfrm>
          <a:prstGeom prst="rect">
            <a:avLst/>
          </a:prstGeom>
          <a:solidFill>
            <a:srgbClr val="B3261E"/>
          </a:solidFill>
          <a:ln>
            <a:noFill/>
          </a:ln>
        </p:spPr>
        <p:txBody>
          <a:bodyPr rtlCol="0" anchor="ctr"/>
          <a:lstStyle/>
          <a:p>
            <a:pPr algn="ctr"/>
          </a:p>
        </p:txBody>
      </p:sp>
      <p:sp>
        <p:nvSpPr>
          <p:cNvPr id="12" name="Rectangle 11"/>
          <p:cNvSpPr/>
          <p:nvPr/>
        </p:nvSpPr>
        <p:spPr>
          <a:xfrm>
            <a:off x="4091939" y="2743200"/>
            <a:ext cx="137160" cy="384048"/>
          </a:xfrm>
          <a:prstGeom prst="rect">
            <a:avLst/>
          </a:prstGeom>
          <a:solidFill>
            <a:srgbClr val="B3261E"/>
          </a:solidFill>
          <a:ln>
            <a:noFill/>
          </a:ln>
        </p:spPr>
        <p:txBody>
          <a:bodyPr rtlCol="0" anchor="ctr"/>
          <a:lstStyle/>
          <a:p>
            <a:pPr algn="ctr"/>
          </a:p>
        </p:txBody>
      </p:sp>
      <p:sp>
        <p:nvSpPr>
          <p:cNvPr id="13" name="Rectangle 12"/>
          <p:cNvSpPr/>
          <p:nvPr/>
        </p:nvSpPr>
        <p:spPr>
          <a:xfrm>
            <a:off x="4297680" y="2743200"/>
            <a:ext cx="137160" cy="384048"/>
          </a:xfrm>
          <a:prstGeom prst="rect">
            <a:avLst/>
          </a:prstGeom>
          <a:solidFill>
            <a:srgbClr val="B3261E"/>
          </a:solidFill>
          <a:ln>
            <a:noFill/>
          </a:ln>
        </p:spPr>
        <p:txBody>
          <a:bodyPr rtlCol="0" anchor="ctr"/>
          <a:lstStyle/>
          <a:p>
            <a:pPr algn="ctr"/>
          </a:p>
        </p:txBody>
      </p:sp>
      <p:sp>
        <p:nvSpPr>
          <p:cNvPr id="14" name="Rectangle 13"/>
          <p:cNvSpPr/>
          <p:nvPr/>
        </p:nvSpPr>
        <p:spPr>
          <a:xfrm>
            <a:off x="4503420" y="2743200"/>
            <a:ext cx="137160" cy="384048"/>
          </a:xfrm>
          <a:prstGeom prst="rect">
            <a:avLst/>
          </a:prstGeom>
          <a:solidFill>
            <a:srgbClr val="B3261E"/>
          </a:solidFill>
          <a:ln>
            <a:noFill/>
          </a:ln>
        </p:spPr>
        <p:txBody>
          <a:bodyPr rtlCol="0" anchor="ctr"/>
          <a:lstStyle/>
          <a:p>
            <a:pPr algn="ctr"/>
          </a:p>
        </p:txBody>
      </p:sp>
      <p:sp>
        <p:nvSpPr>
          <p:cNvPr id="15" name="Rectangle 14"/>
          <p:cNvSpPr/>
          <p:nvPr/>
        </p:nvSpPr>
        <p:spPr>
          <a:xfrm>
            <a:off x="4709160" y="2743200"/>
            <a:ext cx="137160" cy="384048"/>
          </a:xfrm>
          <a:prstGeom prst="rect">
            <a:avLst/>
          </a:prstGeom>
          <a:solidFill>
            <a:srgbClr val="B3261E"/>
          </a:solidFill>
          <a:ln>
            <a:noFill/>
          </a:ln>
        </p:spPr>
        <p:txBody>
          <a:bodyPr rtlCol="0" anchor="ctr"/>
          <a:lstStyle/>
          <a:p>
            <a:pPr algn="ctr"/>
          </a:p>
        </p:txBody>
      </p:sp>
      <p:sp>
        <p:nvSpPr>
          <p:cNvPr id="16" name="Rectangle 15"/>
          <p:cNvSpPr/>
          <p:nvPr/>
        </p:nvSpPr>
        <p:spPr>
          <a:xfrm>
            <a:off x="4914900" y="2743200"/>
            <a:ext cx="137160" cy="384048"/>
          </a:xfrm>
          <a:prstGeom prst="rect">
            <a:avLst/>
          </a:prstGeom>
          <a:solidFill>
            <a:srgbClr val="B3261E"/>
          </a:solidFill>
          <a:ln>
            <a:noFill/>
          </a:ln>
        </p:spPr>
        <p:txBody>
          <a:bodyPr rtlCol="0" anchor="ctr"/>
          <a:lstStyle/>
          <a:p>
            <a:pPr algn="ctr"/>
          </a:p>
        </p:txBody>
      </p:sp>
      <p:sp>
        <p:nvSpPr>
          <p:cNvPr id="17" name="Rectangle 16"/>
          <p:cNvSpPr/>
          <p:nvPr/>
        </p:nvSpPr>
        <p:spPr>
          <a:xfrm>
            <a:off x="5120640" y="2743200"/>
            <a:ext cx="137160" cy="384048"/>
          </a:xfrm>
          <a:prstGeom prst="rect">
            <a:avLst/>
          </a:prstGeom>
          <a:solidFill>
            <a:srgbClr val="B3261E"/>
          </a:solidFill>
          <a:ln>
            <a:noFill/>
          </a:ln>
        </p:spPr>
        <p:txBody>
          <a:bodyPr rtlCol="0" anchor="ctr"/>
          <a:lstStyle/>
          <a:p>
            <a:pPr algn="ctr"/>
          </a:p>
        </p:txBody>
      </p:sp>
      <p:sp>
        <p:nvSpPr>
          <p:cNvPr id="18" name="Rectangle 17"/>
          <p:cNvSpPr/>
          <p:nvPr/>
        </p:nvSpPr>
        <p:spPr>
          <a:xfrm>
            <a:off x="5326380" y="2743200"/>
            <a:ext cx="137160" cy="384048"/>
          </a:xfrm>
          <a:prstGeom prst="rect">
            <a:avLst/>
          </a:prstGeom>
          <a:solidFill>
            <a:srgbClr val="B3261E"/>
          </a:solidFill>
          <a:ln>
            <a:noFill/>
          </a:ln>
        </p:spPr>
        <p:txBody>
          <a:bodyPr rtlCol="0" anchor="ctr"/>
          <a:lstStyle/>
          <a:p>
            <a:pPr algn="ctr"/>
          </a:p>
        </p:txBody>
      </p:sp>
      <p:sp>
        <p:nvSpPr>
          <p:cNvPr id="19" name="Rectangle 18"/>
          <p:cNvSpPr/>
          <p:nvPr/>
        </p:nvSpPr>
        <p:spPr>
          <a:xfrm>
            <a:off x="5532120" y="2743200"/>
            <a:ext cx="137160" cy="384048"/>
          </a:xfrm>
          <a:prstGeom prst="rect">
            <a:avLst/>
          </a:prstGeom>
          <a:solidFill>
            <a:srgbClr val="B3261E"/>
          </a:solidFill>
          <a:ln>
            <a:noFill/>
          </a:ln>
        </p:spPr>
        <p:txBody>
          <a:bodyPr rtlCol="0" anchor="ctr"/>
          <a:lstStyle/>
          <a:p>
            <a:pPr algn="ctr"/>
          </a:p>
        </p:txBody>
      </p:sp>
      <p:sp>
        <p:nvSpPr>
          <p:cNvPr id="20" name="Rectangle 19"/>
          <p:cNvSpPr/>
          <p:nvPr/>
        </p:nvSpPr>
        <p:spPr>
          <a:xfrm>
            <a:off x="5737860" y="2743200"/>
            <a:ext cx="137160" cy="384048"/>
          </a:xfrm>
          <a:prstGeom prst="rect">
            <a:avLst/>
          </a:prstGeom>
          <a:solidFill>
            <a:srgbClr val="B3261E"/>
          </a:solidFill>
          <a:ln>
            <a:noFill/>
          </a:ln>
        </p:spPr>
        <p:txBody>
          <a:bodyPr rtlCol="0" anchor="ctr"/>
          <a:lstStyle/>
          <a:p>
            <a:pPr algn="ctr"/>
          </a:p>
        </p:txBody>
      </p:sp>
      <p:sp>
        <p:nvSpPr>
          <p:cNvPr id="21" name="Rectangle 20"/>
          <p:cNvSpPr/>
          <p:nvPr/>
        </p:nvSpPr>
        <p:spPr>
          <a:xfrm>
            <a:off x="5943600" y="2743200"/>
            <a:ext cx="137160" cy="384048"/>
          </a:xfrm>
          <a:prstGeom prst="rect">
            <a:avLst/>
          </a:prstGeom>
          <a:solidFill>
            <a:srgbClr val="B3261E"/>
          </a:solidFill>
          <a:ln>
            <a:noFill/>
          </a:ln>
        </p:spPr>
        <p:txBody>
          <a:bodyPr rtlCol="0" anchor="ctr"/>
          <a:lstStyle/>
          <a:p>
            <a:pPr algn="ctr"/>
          </a:p>
        </p:txBody>
      </p:sp>
      <p:sp>
        <p:nvSpPr>
          <p:cNvPr id="22" name="Rectangle 21"/>
          <p:cNvSpPr/>
          <p:nvPr/>
        </p:nvSpPr>
        <p:spPr>
          <a:xfrm>
            <a:off x="6149340" y="2743200"/>
            <a:ext cx="137160" cy="384048"/>
          </a:xfrm>
          <a:prstGeom prst="rect">
            <a:avLst/>
          </a:prstGeom>
          <a:solidFill>
            <a:srgbClr val="B3261E"/>
          </a:solidFill>
          <a:ln>
            <a:noFill/>
          </a:ln>
        </p:spPr>
        <p:txBody>
          <a:bodyPr rtlCol="0" anchor="ctr"/>
          <a:lstStyle/>
          <a:p>
            <a:pPr algn="ctr"/>
          </a:p>
        </p:txBody>
      </p:sp>
      <p:sp>
        <p:nvSpPr>
          <p:cNvPr id="23" name="Rectangle 22"/>
          <p:cNvSpPr/>
          <p:nvPr/>
        </p:nvSpPr>
        <p:spPr>
          <a:xfrm>
            <a:off x="6355079" y="2743200"/>
            <a:ext cx="137160" cy="384048"/>
          </a:xfrm>
          <a:prstGeom prst="rect">
            <a:avLst/>
          </a:prstGeom>
          <a:solidFill>
            <a:srgbClr val="B3261E"/>
          </a:solidFill>
          <a:ln>
            <a:noFill/>
          </a:ln>
        </p:spPr>
        <p:txBody>
          <a:bodyPr rtlCol="0" anchor="ctr"/>
          <a:lstStyle/>
          <a:p>
            <a:pPr algn="ctr"/>
          </a:p>
        </p:txBody>
      </p:sp>
      <p:sp>
        <p:nvSpPr>
          <p:cNvPr id="24" name="Rectangle 23"/>
          <p:cNvSpPr/>
          <p:nvPr/>
        </p:nvSpPr>
        <p:spPr>
          <a:xfrm>
            <a:off x="6560820" y="2743200"/>
            <a:ext cx="137160" cy="384048"/>
          </a:xfrm>
          <a:prstGeom prst="rect">
            <a:avLst/>
          </a:prstGeom>
          <a:solidFill>
            <a:srgbClr val="B3261E"/>
          </a:solidFill>
          <a:ln>
            <a:noFill/>
          </a:ln>
        </p:spPr>
        <p:txBody>
          <a:bodyPr rtlCol="0" anchor="ctr"/>
          <a:lstStyle/>
          <a:p>
            <a:pPr algn="ctr"/>
          </a:p>
        </p:txBody>
      </p:sp>
      <p:sp>
        <p:nvSpPr>
          <p:cNvPr id="25" name="Rectangle 24"/>
          <p:cNvSpPr/>
          <p:nvPr/>
        </p:nvSpPr>
        <p:spPr>
          <a:xfrm>
            <a:off x="6766560" y="2743200"/>
            <a:ext cx="137160" cy="384048"/>
          </a:xfrm>
          <a:prstGeom prst="rect">
            <a:avLst/>
          </a:prstGeom>
          <a:solidFill>
            <a:srgbClr val="B3261E"/>
          </a:solidFill>
          <a:ln>
            <a:noFill/>
          </a:ln>
        </p:spPr>
        <p:txBody>
          <a:bodyPr rtlCol="0" anchor="ctr"/>
          <a:lstStyle/>
          <a:p>
            <a:pPr algn="ctr"/>
          </a:p>
        </p:txBody>
      </p:sp>
      <p:sp>
        <p:nvSpPr>
          <p:cNvPr id="26" name="Rectangle 25"/>
          <p:cNvSpPr/>
          <p:nvPr/>
        </p:nvSpPr>
        <p:spPr>
          <a:xfrm>
            <a:off x="6972300" y="2743200"/>
            <a:ext cx="137160" cy="384048"/>
          </a:xfrm>
          <a:prstGeom prst="rect">
            <a:avLst/>
          </a:prstGeom>
          <a:solidFill>
            <a:srgbClr val="B3261E"/>
          </a:solidFill>
          <a:ln>
            <a:noFill/>
          </a:ln>
        </p:spPr>
        <p:txBody>
          <a:bodyPr rtlCol="0" anchor="ctr"/>
          <a:lstStyle/>
          <a:p>
            <a:pPr algn="ctr"/>
          </a:p>
        </p:txBody>
      </p:sp>
      <p:sp>
        <p:nvSpPr>
          <p:cNvPr id="27" name="Rectangle 26"/>
          <p:cNvSpPr/>
          <p:nvPr/>
        </p:nvSpPr>
        <p:spPr>
          <a:xfrm>
            <a:off x="7178040" y="2743200"/>
            <a:ext cx="137160" cy="384048"/>
          </a:xfrm>
          <a:prstGeom prst="rect">
            <a:avLst/>
          </a:prstGeom>
          <a:solidFill>
            <a:srgbClr val="B3261E"/>
          </a:solidFill>
          <a:ln>
            <a:noFill/>
          </a:ln>
        </p:spPr>
        <p:txBody>
          <a:bodyPr rtlCol="0" anchor="ctr"/>
          <a:lstStyle/>
          <a:p>
            <a:pPr algn="ctr"/>
          </a:p>
        </p:txBody>
      </p:sp>
      <p:sp>
        <p:nvSpPr>
          <p:cNvPr id="28" name="Rectangle 27"/>
          <p:cNvSpPr/>
          <p:nvPr/>
        </p:nvSpPr>
        <p:spPr>
          <a:xfrm>
            <a:off x="7383779" y="2743200"/>
            <a:ext cx="137160" cy="384048"/>
          </a:xfrm>
          <a:prstGeom prst="rect">
            <a:avLst/>
          </a:prstGeom>
          <a:solidFill>
            <a:srgbClr val="B3261E"/>
          </a:solidFill>
          <a:ln>
            <a:noFill/>
          </a:ln>
        </p:spPr>
        <p:txBody>
          <a:bodyPr rtlCol="0" anchor="ctr"/>
          <a:lstStyle/>
          <a:p>
            <a:pPr algn="ctr"/>
          </a:p>
        </p:txBody>
      </p:sp>
      <p:sp>
        <p:nvSpPr>
          <p:cNvPr id="29" name="Rectangle 28"/>
          <p:cNvSpPr/>
          <p:nvPr/>
        </p:nvSpPr>
        <p:spPr>
          <a:xfrm>
            <a:off x="7589520" y="2743200"/>
            <a:ext cx="137160" cy="384048"/>
          </a:xfrm>
          <a:prstGeom prst="rect">
            <a:avLst/>
          </a:prstGeom>
          <a:solidFill>
            <a:srgbClr val="B3261E"/>
          </a:solidFill>
          <a:ln>
            <a:noFill/>
          </a:ln>
        </p:spPr>
        <p:txBody>
          <a:bodyPr rtlCol="0" anchor="ctr"/>
          <a:lstStyle/>
          <a:p>
            <a:pPr algn="ctr"/>
          </a:p>
        </p:txBody>
      </p:sp>
      <p:sp>
        <p:nvSpPr>
          <p:cNvPr id="30" name="Rectangle 29"/>
          <p:cNvSpPr/>
          <p:nvPr/>
        </p:nvSpPr>
        <p:spPr>
          <a:xfrm>
            <a:off x="7795260" y="2743200"/>
            <a:ext cx="137160" cy="384048"/>
          </a:xfrm>
          <a:prstGeom prst="rect">
            <a:avLst/>
          </a:prstGeom>
          <a:solidFill>
            <a:srgbClr val="B3261E"/>
          </a:solidFill>
          <a:ln>
            <a:noFill/>
          </a:ln>
        </p:spPr>
        <p:txBody>
          <a:bodyPr rtlCol="0" anchor="ctr"/>
          <a:lstStyle/>
          <a:p>
            <a:pPr algn="ctr"/>
          </a:p>
        </p:txBody>
      </p:sp>
      <p:sp>
        <p:nvSpPr>
          <p:cNvPr id="31" name="Rectangle 30"/>
          <p:cNvSpPr/>
          <p:nvPr/>
        </p:nvSpPr>
        <p:spPr>
          <a:xfrm>
            <a:off x="8001000" y="2743200"/>
            <a:ext cx="137160" cy="384048"/>
          </a:xfrm>
          <a:prstGeom prst="rect">
            <a:avLst/>
          </a:prstGeom>
          <a:solidFill>
            <a:srgbClr val="B3261E"/>
          </a:solidFill>
          <a:ln>
            <a:noFill/>
          </a:ln>
        </p:spPr>
        <p:txBody>
          <a:bodyPr rtlCol="0" anchor="ctr"/>
          <a:lstStyle/>
          <a:p>
            <a:pPr algn="ctr"/>
          </a:p>
        </p:txBody>
      </p:sp>
      <p:sp>
        <p:nvSpPr>
          <p:cNvPr id="32" name="Rectangle 31"/>
          <p:cNvSpPr/>
          <p:nvPr/>
        </p:nvSpPr>
        <p:spPr>
          <a:xfrm>
            <a:off x="8206740" y="2743200"/>
            <a:ext cx="137160" cy="384048"/>
          </a:xfrm>
          <a:prstGeom prst="rect">
            <a:avLst/>
          </a:prstGeom>
          <a:solidFill>
            <a:srgbClr val="B3261E"/>
          </a:solidFill>
          <a:ln>
            <a:noFill/>
          </a:ln>
        </p:spPr>
        <p:txBody>
          <a:bodyPr rtlCol="0" anchor="ctr"/>
          <a:lstStyle/>
          <a:p>
            <a:pPr algn="ctr"/>
          </a:p>
        </p:txBody>
      </p:sp>
      <p:sp>
        <p:nvSpPr>
          <p:cNvPr id="33" name="Rectangle 32"/>
          <p:cNvSpPr/>
          <p:nvPr/>
        </p:nvSpPr>
        <p:spPr>
          <a:xfrm>
            <a:off x="8412480" y="2743200"/>
            <a:ext cx="137160" cy="384048"/>
          </a:xfrm>
          <a:prstGeom prst="rect">
            <a:avLst/>
          </a:prstGeom>
          <a:solidFill>
            <a:srgbClr val="B3261E"/>
          </a:solidFill>
          <a:ln>
            <a:noFill/>
          </a:ln>
        </p:spPr>
        <p:txBody>
          <a:bodyPr rtlCol="0" anchor="ctr"/>
          <a:lstStyle/>
          <a:p>
            <a:pPr algn="ctr"/>
          </a:p>
        </p:txBody>
      </p:sp>
      <p:sp>
        <p:nvSpPr>
          <p:cNvPr id="34" name="Rectangle 33"/>
          <p:cNvSpPr/>
          <p:nvPr/>
        </p:nvSpPr>
        <p:spPr>
          <a:xfrm>
            <a:off x="8618220" y="2743200"/>
            <a:ext cx="137160" cy="384048"/>
          </a:xfrm>
          <a:prstGeom prst="rect">
            <a:avLst/>
          </a:prstGeom>
          <a:solidFill>
            <a:srgbClr val="B3261E"/>
          </a:solidFill>
          <a:ln>
            <a:noFill/>
          </a:ln>
        </p:spPr>
        <p:txBody>
          <a:bodyPr rtlCol="0" anchor="ctr"/>
          <a:lstStyle/>
          <a:p>
            <a:pPr algn="ctr"/>
          </a:p>
        </p:txBody>
      </p:sp>
      <p:sp>
        <p:nvSpPr>
          <p:cNvPr id="35" name="Rectangle 34"/>
          <p:cNvSpPr/>
          <p:nvPr/>
        </p:nvSpPr>
        <p:spPr>
          <a:xfrm>
            <a:off x="8823960" y="2743200"/>
            <a:ext cx="137160" cy="384048"/>
          </a:xfrm>
          <a:prstGeom prst="rect">
            <a:avLst/>
          </a:prstGeom>
          <a:solidFill>
            <a:srgbClr val="B3261E"/>
          </a:solidFill>
          <a:ln>
            <a:noFill/>
          </a:ln>
        </p:spPr>
        <p:txBody>
          <a:bodyPr rtlCol="0" anchor="ctr"/>
          <a:lstStyle/>
          <a:p>
            <a:pPr algn="ctr"/>
          </a:p>
        </p:txBody>
      </p:sp>
      <p:sp>
        <p:nvSpPr>
          <p:cNvPr id="36" name="Rectangle 35"/>
          <p:cNvSpPr/>
          <p:nvPr/>
        </p:nvSpPr>
        <p:spPr>
          <a:xfrm>
            <a:off x="9029700" y="2743200"/>
            <a:ext cx="137160" cy="384048"/>
          </a:xfrm>
          <a:prstGeom prst="rect">
            <a:avLst/>
          </a:prstGeom>
          <a:solidFill>
            <a:srgbClr val="B3261E"/>
          </a:solidFill>
          <a:ln>
            <a:noFill/>
          </a:ln>
        </p:spPr>
        <p:txBody>
          <a:bodyPr rtlCol="0" anchor="ctr"/>
          <a:lstStyle/>
          <a:p>
            <a:pPr algn="ctr"/>
          </a:p>
        </p:txBody>
      </p:sp>
      <p:sp>
        <p:nvSpPr>
          <p:cNvPr id="37" name="Rectangle 36"/>
          <p:cNvSpPr/>
          <p:nvPr/>
        </p:nvSpPr>
        <p:spPr>
          <a:xfrm>
            <a:off x="9235440" y="2743200"/>
            <a:ext cx="137160" cy="384048"/>
          </a:xfrm>
          <a:prstGeom prst="rect">
            <a:avLst/>
          </a:prstGeom>
          <a:solidFill>
            <a:srgbClr val="B3261E"/>
          </a:solidFill>
          <a:ln>
            <a:noFill/>
          </a:ln>
        </p:spPr>
        <p:txBody>
          <a:bodyPr rtlCol="0" anchor="ctr"/>
          <a:lstStyle/>
          <a:p>
            <a:pPr algn="ctr"/>
          </a:p>
        </p:txBody>
      </p:sp>
      <p:sp>
        <p:nvSpPr>
          <p:cNvPr id="38" name="Rectangle 37"/>
          <p:cNvSpPr/>
          <p:nvPr/>
        </p:nvSpPr>
        <p:spPr>
          <a:xfrm>
            <a:off x="9441180" y="2743200"/>
            <a:ext cx="137160" cy="384048"/>
          </a:xfrm>
          <a:prstGeom prst="rect">
            <a:avLst/>
          </a:prstGeom>
          <a:solidFill>
            <a:srgbClr val="B3261E"/>
          </a:solidFill>
          <a:ln>
            <a:noFill/>
          </a:ln>
        </p:spPr>
        <p:txBody>
          <a:bodyPr rtlCol="0" anchor="ctr"/>
          <a:lstStyle/>
          <a:p>
            <a:pPr algn="ctr"/>
          </a:p>
        </p:txBody>
      </p:sp>
      <p:sp>
        <p:nvSpPr>
          <p:cNvPr id="39" name="Rectangle 38"/>
          <p:cNvSpPr/>
          <p:nvPr/>
        </p:nvSpPr>
        <p:spPr>
          <a:xfrm>
            <a:off x="9646919" y="2743200"/>
            <a:ext cx="137160" cy="384048"/>
          </a:xfrm>
          <a:prstGeom prst="rect">
            <a:avLst/>
          </a:prstGeom>
          <a:solidFill>
            <a:srgbClr val="B3261E"/>
          </a:solidFill>
          <a:ln>
            <a:noFill/>
          </a:ln>
        </p:spPr>
        <p:txBody>
          <a:bodyPr rtlCol="0" anchor="ctr"/>
          <a:lstStyle/>
          <a:p>
            <a:pPr algn="ctr"/>
          </a:p>
        </p:txBody>
      </p:sp>
      <p:sp>
        <p:nvSpPr>
          <p:cNvPr id="40" name="Rectangle 39"/>
          <p:cNvSpPr/>
          <p:nvPr/>
        </p:nvSpPr>
        <p:spPr>
          <a:xfrm>
            <a:off x="9852660" y="2743200"/>
            <a:ext cx="137160" cy="384048"/>
          </a:xfrm>
          <a:prstGeom prst="rect">
            <a:avLst/>
          </a:prstGeom>
          <a:solidFill>
            <a:srgbClr val="B3261E"/>
          </a:solidFill>
          <a:ln>
            <a:noFill/>
          </a:ln>
        </p:spPr>
        <p:txBody>
          <a:bodyPr rtlCol="0" anchor="ctr"/>
          <a:lstStyle/>
          <a:p>
            <a:pPr algn="ctr"/>
          </a:p>
        </p:txBody>
      </p:sp>
      <p:sp>
        <p:nvSpPr>
          <p:cNvPr id="41" name="Rectangle 40"/>
          <p:cNvSpPr/>
          <p:nvPr/>
        </p:nvSpPr>
        <p:spPr>
          <a:xfrm>
            <a:off x="10058400" y="2743200"/>
            <a:ext cx="137160" cy="384048"/>
          </a:xfrm>
          <a:prstGeom prst="rect">
            <a:avLst/>
          </a:prstGeom>
          <a:solidFill>
            <a:srgbClr val="B3261E"/>
          </a:solidFill>
          <a:ln>
            <a:noFill/>
          </a:ln>
        </p:spPr>
        <p:txBody>
          <a:bodyPr rtlCol="0" anchor="ctr"/>
          <a:lstStyle/>
          <a:p>
            <a:pPr algn="ctr"/>
          </a:p>
        </p:txBody>
      </p:sp>
      <p:sp>
        <p:nvSpPr>
          <p:cNvPr id="42" name="Rectangle 41"/>
          <p:cNvSpPr/>
          <p:nvPr/>
        </p:nvSpPr>
        <p:spPr>
          <a:xfrm>
            <a:off x="10264140" y="2743200"/>
            <a:ext cx="137160" cy="384048"/>
          </a:xfrm>
          <a:prstGeom prst="rect">
            <a:avLst/>
          </a:prstGeom>
          <a:solidFill>
            <a:srgbClr val="B3261E"/>
          </a:solidFill>
          <a:ln>
            <a:noFill/>
          </a:ln>
        </p:spPr>
        <p:txBody>
          <a:bodyPr rtlCol="0" anchor="ctr"/>
          <a:lstStyle/>
          <a:p>
            <a:pPr algn="ctr"/>
          </a:p>
        </p:txBody>
      </p:sp>
      <p:sp>
        <p:nvSpPr>
          <p:cNvPr id="43" name="Rectangle 42"/>
          <p:cNvSpPr/>
          <p:nvPr/>
        </p:nvSpPr>
        <p:spPr>
          <a:xfrm>
            <a:off x="10469880" y="2743200"/>
            <a:ext cx="137160" cy="384048"/>
          </a:xfrm>
          <a:prstGeom prst="rect">
            <a:avLst/>
          </a:prstGeom>
          <a:solidFill>
            <a:srgbClr val="B3261E"/>
          </a:solidFill>
          <a:ln>
            <a:noFill/>
          </a:ln>
        </p:spPr>
        <p:txBody>
          <a:bodyPr rtlCol="0" anchor="ctr"/>
          <a:lstStyle/>
          <a:p>
            <a:pPr algn="ctr"/>
          </a:p>
        </p:txBody>
      </p:sp>
      <p:sp>
        <p:nvSpPr>
          <p:cNvPr id="44" name="Rectangle 43"/>
          <p:cNvSpPr/>
          <p:nvPr/>
        </p:nvSpPr>
        <p:spPr>
          <a:xfrm>
            <a:off x="10675619" y="2743200"/>
            <a:ext cx="137160" cy="384048"/>
          </a:xfrm>
          <a:prstGeom prst="rect">
            <a:avLst/>
          </a:prstGeom>
          <a:solidFill>
            <a:srgbClr val="B3261E"/>
          </a:solidFill>
          <a:ln>
            <a:noFill/>
          </a:ln>
        </p:spPr>
        <p:txBody>
          <a:bodyPr rtlCol="0" anchor="ctr"/>
          <a:lstStyle/>
          <a:p>
            <a:pPr algn="ctr"/>
          </a:p>
        </p:txBody>
      </p:sp>
      <p:sp>
        <p:nvSpPr>
          <p:cNvPr id="45" name="Rectangle 44"/>
          <p:cNvSpPr/>
          <p:nvPr/>
        </p:nvSpPr>
        <p:spPr>
          <a:xfrm>
            <a:off x="10881359" y="2743200"/>
            <a:ext cx="137160" cy="384048"/>
          </a:xfrm>
          <a:prstGeom prst="rect">
            <a:avLst/>
          </a:prstGeom>
          <a:solidFill>
            <a:srgbClr val="B3261E"/>
          </a:solidFill>
          <a:ln>
            <a:noFill/>
          </a:ln>
        </p:spPr>
        <p:txBody>
          <a:bodyPr rtlCol="0" anchor="ctr"/>
          <a:lstStyle/>
          <a:p>
            <a:pPr algn="ctr"/>
          </a:p>
        </p:txBody>
      </p:sp>
      <p:sp>
        <p:nvSpPr>
          <p:cNvPr id="46" name="Rectangle 45"/>
          <p:cNvSpPr/>
          <p:nvPr/>
        </p:nvSpPr>
        <p:spPr>
          <a:xfrm>
            <a:off x="11087100" y="2743200"/>
            <a:ext cx="137160" cy="384048"/>
          </a:xfrm>
          <a:prstGeom prst="rect">
            <a:avLst/>
          </a:prstGeom>
          <a:solidFill>
            <a:srgbClr val="B3261E"/>
          </a:solidFill>
          <a:ln>
            <a:noFill/>
          </a:ln>
        </p:spPr>
        <p:txBody>
          <a:bodyPr rtlCol="0" anchor="ctr"/>
          <a:lstStyle/>
          <a:p>
            <a:pPr algn="ctr"/>
          </a:p>
        </p:txBody>
      </p:sp>
      <p:sp>
        <p:nvSpPr>
          <p:cNvPr id="47" name="Rectangle 46"/>
          <p:cNvSpPr/>
          <p:nvPr/>
        </p:nvSpPr>
        <p:spPr>
          <a:xfrm>
            <a:off x="3063240" y="3200400"/>
            <a:ext cx="8229600" cy="91440"/>
          </a:xfrm>
          <a:prstGeom prst="rect">
            <a:avLst/>
          </a:prstGeom>
          <a:solidFill>
            <a:srgbClr val="E9B0AB"/>
          </a:solidFill>
          <a:ln>
            <a:noFill/>
          </a:ln>
        </p:spPr>
        <p:txBody>
          <a:bodyPr rtlCol="0" anchor="ctr"/>
          <a:lstStyle/>
          <a:p>
            <a:pPr algn="ctr"/>
          </a:p>
        </p:txBody>
      </p:sp>
      <p:cxnSp>
        <p:nvCxnSpPr>
          <p:cNvPr id="48" name="Connector 47"/>
          <p:cNvCxnSpPr/>
          <p:nvPr/>
        </p:nvCxnSpPr>
        <p:spPr>
          <a:xfrm>
            <a:off x="11292840" y="2633472"/>
            <a:ext cx="0" cy="768096"/>
          </a:xfrm>
          <a:prstGeom prst="line">
            <a:avLst/>
          </a:prstGeom>
          <a:ln w="22225">
            <a:solidFill>
              <a:srgbClr val="1A1E23"/>
            </a:solidFill>
          </a:ln>
        </p:spPr>
      </p:cxnSp>
      <p:sp>
        <p:nvSpPr>
          <p:cNvPr id="49" name="TextBox 48"/>
          <p:cNvSpPr txBox="1"/>
          <p:nvPr/>
        </p:nvSpPr>
        <p:spPr>
          <a:xfrm>
            <a:off x="6720840" y="3401568"/>
            <a:ext cx="4572000" cy="320040"/>
          </a:xfrm>
          <a:prstGeom prst="rect">
            <a:avLst/>
          </a:prstGeom>
          <a:noFill/>
        </p:spPr>
        <p:txBody>
          <a:bodyPr wrap="square" lIns="0" rIns="0" tIns="0" bIns="0" anchor="t">
            <a:noAutofit/>
          </a:bodyPr>
          <a:lstStyle/>
          <a:p>
            <a:pPr algn="r">
              <a:lnSpc>
                <a:spcPct val="130000"/>
              </a:lnSpc>
            </a:pPr>
            <a:r>
              <a:rPr sz="1400" b="0" lang="ja-JP">
                <a:solidFill>
                  <a:srgbClr val="1A1E23"/>
                </a:solidFill>
                <a:latin typeface="BIZ UDPGothic"/>
                <a:ea typeface="BIZ UDPゴシック"/>
                <a:cs typeface="BIZ UDPGothic"/>
              </a:rPr>
              <a:t>60秒で自動停止。通知は残る</a:t>
            </a:r>
          </a:p>
        </p:txBody>
      </p:sp>
      <p:sp>
        <p:nvSpPr>
          <p:cNvPr id="50" name="TextBox 49"/>
          <p:cNvSpPr txBox="1"/>
          <p:nvPr/>
        </p:nvSpPr>
        <p:spPr>
          <a:xfrm>
            <a:off x="685800" y="4023359"/>
            <a:ext cx="2240280" cy="548640"/>
          </a:xfrm>
          <a:prstGeom prst="rect">
            <a:avLst/>
          </a:prstGeom>
          <a:noFill/>
        </p:spPr>
        <p:txBody>
          <a:bodyPr wrap="square" lIns="0" rIns="0" tIns="0" bIns="0" anchor="t">
            <a:noAutofit/>
          </a:bodyPr>
          <a:lstStyle/>
          <a:p>
            <a:pPr algn="l">
              <a:lnSpc>
                <a:spcPct val="130000"/>
              </a:lnSpc>
            </a:pPr>
            <a:r>
              <a:rPr sz="1600" b="1" lang="ja-JP">
                <a:solidFill>
                  <a:srgbClr val="1A1E23"/>
                </a:solidFill>
                <a:latin typeface="BIZ UDPGothic"/>
                <a:ea typeface="BIZ UDPゴシック"/>
                <a:cs typeface="BIZ UDPGothic"/>
              </a:rPr>
              <a:t>「確認」を押した場合</a:t>
            </a:r>
          </a:p>
        </p:txBody>
      </p:sp>
      <p:sp>
        <p:nvSpPr>
          <p:cNvPr id="51" name="Rectangle 50"/>
          <p:cNvSpPr/>
          <p:nvPr/>
        </p:nvSpPr>
        <p:spPr>
          <a:xfrm>
            <a:off x="3063240" y="3977639"/>
            <a:ext cx="137160" cy="384048"/>
          </a:xfrm>
          <a:prstGeom prst="rect">
            <a:avLst/>
          </a:prstGeom>
          <a:solidFill>
            <a:srgbClr val="B3261E"/>
          </a:solidFill>
          <a:ln>
            <a:noFill/>
          </a:ln>
        </p:spPr>
        <p:txBody>
          <a:bodyPr rtlCol="0" anchor="ctr"/>
          <a:lstStyle/>
          <a:p>
            <a:pPr algn="ctr"/>
          </a:p>
        </p:txBody>
      </p:sp>
      <p:sp>
        <p:nvSpPr>
          <p:cNvPr id="52" name="Rectangle 51"/>
          <p:cNvSpPr/>
          <p:nvPr/>
        </p:nvSpPr>
        <p:spPr>
          <a:xfrm>
            <a:off x="3268980" y="3977639"/>
            <a:ext cx="137160" cy="384048"/>
          </a:xfrm>
          <a:prstGeom prst="rect">
            <a:avLst/>
          </a:prstGeom>
          <a:solidFill>
            <a:srgbClr val="B3261E"/>
          </a:solidFill>
          <a:ln>
            <a:noFill/>
          </a:ln>
        </p:spPr>
        <p:txBody>
          <a:bodyPr rtlCol="0" anchor="ctr"/>
          <a:lstStyle/>
          <a:p>
            <a:pPr algn="ctr"/>
          </a:p>
        </p:txBody>
      </p:sp>
      <p:sp>
        <p:nvSpPr>
          <p:cNvPr id="53" name="Rectangle 52"/>
          <p:cNvSpPr/>
          <p:nvPr/>
        </p:nvSpPr>
        <p:spPr>
          <a:xfrm>
            <a:off x="3474720" y="3977639"/>
            <a:ext cx="137160" cy="384048"/>
          </a:xfrm>
          <a:prstGeom prst="rect">
            <a:avLst/>
          </a:prstGeom>
          <a:solidFill>
            <a:srgbClr val="B3261E"/>
          </a:solidFill>
          <a:ln>
            <a:noFill/>
          </a:ln>
        </p:spPr>
        <p:txBody>
          <a:bodyPr rtlCol="0" anchor="ctr"/>
          <a:lstStyle/>
          <a:p>
            <a:pPr algn="ctr"/>
          </a:p>
        </p:txBody>
      </p:sp>
      <p:sp>
        <p:nvSpPr>
          <p:cNvPr id="54" name="Rectangle 53"/>
          <p:cNvSpPr/>
          <p:nvPr/>
        </p:nvSpPr>
        <p:spPr>
          <a:xfrm>
            <a:off x="3680460" y="3977639"/>
            <a:ext cx="137160" cy="384048"/>
          </a:xfrm>
          <a:prstGeom prst="rect">
            <a:avLst/>
          </a:prstGeom>
          <a:solidFill>
            <a:srgbClr val="B3261E"/>
          </a:solidFill>
          <a:ln>
            <a:noFill/>
          </a:ln>
        </p:spPr>
        <p:txBody>
          <a:bodyPr rtlCol="0" anchor="ctr"/>
          <a:lstStyle/>
          <a:p>
            <a:pPr algn="ctr"/>
          </a:p>
        </p:txBody>
      </p:sp>
      <p:sp>
        <p:nvSpPr>
          <p:cNvPr id="55" name="Rectangle 54"/>
          <p:cNvSpPr/>
          <p:nvPr/>
        </p:nvSpPr>
        <p:spPr>
          <a:xfrm>
            <a:off x="3886200" y="3977639"/>
            <a:ext cx="137160" cy="384048"/>
          </a:xfrm>
          <a:prstGeom prst="rect">
            <a:avLst/>
          </a:prstGeom>
          <a:solidFill>
            <a:srgbClr val="B3261E"/>
          </a:solidFill>
          <a:ln>
            <a:noFill/>
          </a:ln>
        </p:spPr>
        <p:txBody>
          <a:bodyPr rtlCol="0" anchor="ctr"/>
          <a:lstStyle/>
          <a:p>
            <a:pPr algn="ctr"/>
          </a:p>
        </p:txBody>
      </p:sp>
      <p:sp>
        <p:nvSpPr>
          <p:cNvPr id="56" name="Rectangle 55"/>
          <p:cNvSpPr/>
          <p:nvPr/>
        </p:nvSpPr>
        <p:spPr>
          <a:xfrm>
            <a:off x="4091939" y="3977639"/>
            <a:ext cx="137160" cy="384048"/>
          </a:xfrm>
          <a:prstGeom prst="rect">
            <a:avLst/>
          </a:prstGeom>
          <a:solidFill>
            <a:srgbClr val="B3261E"/>
          </a:solidFill>
          <a:ln>
            <a:noFill/>
          </a:ln>
        </p:spPr>
        <p:txBody>
          <a:bodyPr rtlCol="0" anchor="ctr"/>
          <a:lstStyle/>
          <a:p>
            <a:pPr algn="ctr"/>
          </a:p>
        </p:txBody>
      </p:sp>
      <p:sp>
        <p:nvSpPr>
          <p:cNvPr id="57" name="Rectangle 56"/>
          <p:cNvSpPr/>
          <p:nvPr/>
        </p:nvSpPr>
        <p:spPr>
          <a:xfrm>
            <a:off x="4297680" y="3977639"/>
            <a:ext cx="137160" cy="384048"/>
          </a:xfrm>
          <a:prstGeom prst="rect">
            <a:avLst/>
          </a:prstGeom>
          <a:solidFill>
            <a:srgbClr val="B3261E"/>
          </a:solidFill>
          <a:ln>
            <a:noFill/>
          </a:ln>
        </p:spPr>
        <p:txBody>
          <a:bodyPr rtlCol="0" anchor="ctr"/>
          <a:lstStyle/>
          <a:p>
            <a:pPr algn="ctr"/>
          </a:p>
        </p:txBody>
      </p:sp>
      <p:sp>
        <p:nvSpPr>
          <p:cNvPr id="58" name="Rectangle 57"/>
          <p:cNvSpPr/>
          <p:nvPr/>
        </p:nvSpPr>
        <p:spPr>
          <a:xfrm>
            <a:off x="3063240" y="4434840"/>
            <a:ext cx="1440180" cy="91440"/>
          </a:xfrm>
          <a:prstGeom prst="rect">
            <a:avLst/>
          </a:prstGeom>
          <a:solidFill>
            <a:srgbClr val="E9B0AB"/>
          </a:solidFill>
          <a:ln>
            <a:noFill/>
          </a:ln>
        </p:spPr>
        <p:txBody>
          <a:bodyPr rtlCol="0" anchor="ctr"/>
          <a:lstStyle/>
          <a:p>
            <a:pPr algn="ctr"/>
          </a:p>
        </p:txBody>
      </p:sp>
      <p:cxnSp>
        <p:nvCxnSpPr>
          <p:cNvPr id="59" name="Connector 58"/>
          <p:cNvCxnSpPr/>
          <p:nvPr/>
        </p:nvCxnSpPr>
        <p:spPr>
          <a:xfrm>
            <a:off x="4503420" y="3867911"/>
            <a:ext cx="0" cy="768096"/>
          </a:xfrm>
          <a:prstGeom prst="line">
            <a:avLst/>
          </a:prstGeom>
          <a:ln w="22225">
            <a:solidFill>
              <a:srgbClr val="1A1E23"/>
            </a:solidFill>
          </a:ln>
        </p:spPr>
      </p:cxnSp>
      <p:sp>
        <p:nvSpPr>
          <p:cNvPr id="60" name="TextBox 59"/>
          <p:cNvSpPr txBox="1"/>
          <p:nvPr/>
        </p:nvSpPr>
        <p:spPr>
          <a:xfrm>
            <a:off x="4640580" y="4050791"/>
            <a:ext cx="4572000" cy="365760"/>
          </a:xfrm>
          <a:prstGeom prst="rect">
            <a:avLst/>
          </a:prstGeom>
          <a:noFill/>
        </p:spPr>
        <p:txBody>
          <a:bodyPr wrap="square" lIns="0" rIns="0" tIns="0" bIns="0" anchor="t">
            <a:noAutofit/>
          </a:bodyPr>
          <a:lstStyle/>
          <a:p>
            <a:pPr algn="l">
              <a:lnSpc>
                <a:spcPct val="130000"/>
              </a:lnSpc>
            </a:pPr>
            <a:r>
              <a:rPr sz="1400" b="0" lang="ja-JP">
                <a:solidFill>
                  <a:srgbClr val="1A1E23"/>
                </a:solidFill>
                <a:latin typeface="BIZ UDPGothic"/>
                <a:ea typeface="BIZ UDPゴシック"/>
                <a:cs typeface="BIZ UDPGothic"/>
              </a:rPr>
              <a:t>押した時点で止まり、通知も消える</a:t>
            </a:r>
          </a:p>
        </p:txBody>
      </p:sp>
      <p:cxnSp>
        <p:nvCxnSpPr>
          <p:cNvPr id="61" name="Connector 60"/>
          <p:cNvCxnSpPr/>
          <p:nvPr/>
        </p:nvCxnSpPr>
        <p:spPr>
          <a:xfrm>
            <a:off x="3063240" y="4983480"/>
            <a:ext cx="8229600" cy="0"/>
          </a:xfrm>
          <a:prstGeom prst="line">
            <a:avLst/>
          </a:prstGeom>
          <a:ln w="12700">
            <a:solidFill>
              <a:srgbClr val="D3D8DE"/>
            </a:solidFill>
          </a:ln>
        </p:spPr>
      </p:cxnSp>
      <p:cxnSp>
        <p:nvCxnSpPr>
          <p:cNvPr id="62" name="Connector 61"/>
          <p:cNvCxnSpPr/>
          <p:nvPr/>
        </p:nvCxnSpPr>
        <p:spPr>
          <a:xfrm>
            <a:off x="3063240" y="4983480"/>
            <a:ext cx="0" cy="73152"/>
          </a:xfrm>
          <a:prstGeom prst="line">
            <a:avLst/>
          </a:prstGeom>
          <a:ln w="12700">
            <a:solidFill>
              <a:srgbClr val="69727D"/>
            </a:solidFill>
          </a:ln>
        </p:spPr>
      </p:cxnSp>
      <p:sp>
        <p:nvSpPr>
          <p:cNvPr id="63" name="TextBox 62"/>
          <p:cNvSpPr txBox="1"/>
          <p:nvPr/>
        </p:nvSpPr>
        <p:spPr>
          <a:xfrm>
            <a:off x="2606040" y="5093208"/>
            <a:ext cx="914400" cy="274320"/>
          </a:xfrm>
          <a:prstGeom prst="rect">
            <a:avLst/>
          </a:prstGeom>
          <a:noFill/>
        </p:spPr>
        <p:txBody>
          <a:bodyPr wrap="square" lIns="0" rIns="0" tIns="0" bIns="0" anchor="t">
            <a:noAutofit/>
          </a:bodyPr>
          <a:lstStyle/>
          <a:p>
            <a:pPr algn="ctr">
              <a:lnSpc>
                <a:spcPct val="130000"/>
              </a:lnSpc>
            </a:pPr>
            <a:r>
              <a:rPr sz="1200" b="0" lang="ja-JP">
                <a:solidFill>
                  <a:srgbClr val="69727D"/>
                </a:solidFill>
                <a:latin typeface="BIZ UDPGothic"/>
                <a:ea typeface="BIZ UDPゴシック"/>
                <a:cs typeface="BIZ UDPGothic"/>
              </a:rPr>
              <a:t>0秒</a:t>
            </a:r>
          </a:p>
        </p:txBody>
      </p:sp>
      <p:cxnSp>
        <p:nvCxnSpPr>
          <p:cNvPr id="64" name="Connector 63"/>
          <p:cNvCxnSpPr/>
          <p:nvPr/>
        </p:nvCxnSpPr>
        <p:spPr>
          <a:xfrm>
            <a:off x="5120640" y="4983480"/>
            <a:ext cx="0" cy="73152"/>
          </a:xfrm>
          <a:prstGeom prst="line">
            <a:avLst/>
          </a:prstGeom>
          <a:ln w="12700">
            <a:solidFill>
              <a:srgbClr val="69727D"/>
            </a:solidFill>
          </a:ln>
        </p:spPr>
      </p:cxnSp>
      <p:sp>
        <p:nvSpPr>
          <p:cNvPr id="65" name="TextBox 64"/>
          <p:cNvSpPr txBox="1"/>
          <p:nvPr/>
        </p:nvSpPr>
        <p:spPr>
          <a:xfrm>
            <a:off x="4663440" y="5093208"/>
            <a:ext cx="914400" cy="274320"/>
          </a:xfrm>
          <a:prstGeom prst="rect">
            <a:avLst/>
          </a:prstGeom>
          <a:noFill/>
        </p:spPr>
        <p:txBody>
          <a:bodyPr wrap="square" lIns="0" rIns="0" tIns="0" bIns="0" anchor="t">
            <a:noAutofit/>
          </a:bodyPr>
          <a:lstStyle/>
          <a:p>
            <a:pPr algn="ctr">
              <a:lnSpc>
                <a:spcPct val="130000"/>
              </a:lnSpc>
            </a:pPr>
            <a:r>
              <a:rPr sz="1200" b="0" lang="ja-JP">
                <a:solidFill>
                  <a:srgbClr val="69727D"/>
                </a:solidFill>
                <a:latin typeface="BIZ UDPGothic"/>
                <a:ea typeface="BIZ UDPゴシック"/>
                <a:cs typeface="BIZ UDPGothic"/>
              </a:rPr>
              <a:t>15秒</a:t>
            </a:r>
          </a:p>
        </p:txBody>
      </p:sp>
      <p:cxnSp>
        <p:nvCxnSpPr>
          <p:cNvPr id="66" name="Connector 65"/>
          <p:cNvCxnSpPr/>
          <p:nvPr/>
        </p:nvCxnSpPr>
        <p:spPr>
          <a:xfrm>
            <a:off x="7178040" y="4983480"/>
            <a:ext cx="0" cy="73152"/>
          </a:xfrm>
          <a:prstGeom prst="line">
            <a:avLst/>
          </a:prstGeom>
          <a:ln w="12700">
            <a:solidFill>
              <a:srgbClr val="69727D"/>
            </a:solidFill>
          </a:ln>
        </p:spPr>
      </p:cxnSp>
      <p:sp>
        <p:nvSpPr>
          <p:cNvPr id="67" name="TextBox 66"/>
          <p:cNvSpPr txBox="1"/>
          <p:nvPr/>
        </p:nvSpPr>
        <p:spPr>
          <a:xfrm>
            <a:off x="6720840" y="5093208"/>
            <a:ext cx="914400" cy="274320"/>
          </a:xfrm>
          <a:prstGeom prst="rect">
            <a:avLst/>
          </a:prstGeom>
          <a:noFill/>
        </p:spPr>
        <p:txBody>
          <a:bodyPr wrap="square" lIns="0" rIns="0" tIns="0" bIns="0" anchor="t">
            <a:noAutofit/>
          </a:bodyPr>
          <a:lstStyle/>
          <a:p>
            <a:pPr algn="ctr">
              <a:lnSpc>
                <a:spcPct val="130000"/>
              </a:lnSpc>
            </a:pPr>
            <a:r>
              <a:rPr sz="1200" b="0" lang="ja-JP">
                <a:solidFill>
                  <a:srgbClr val="69727D"/>
                </a:solidFill>
                <a:latin typeface="BIZ UDPGothic"/>
                <a:ea typeface="BIZ UDPゴシック"/>
                <a:cs typeface="BIZ UDPGothic"/>
              </a:rPr>
              <a:t>30秒</a:t>
            </a:r>
          </a:p>
        </p:txBody>
      </p:sp>
      <p:cxnSp>
        <p:nvCxnSpPr>
          <p:cNvPr id="68" name="Connector 67"/>
          <p:cNvCxnSpPr/>
          <p:nvPr/>
        </p:nvCxnSpPr>
        <p:spPr>
          <a:xfrm>
            <a:off x="9235440" y="4983480"/>
            <a:ext cx="0" cy="73152"/>
          </a:xfrm>
          <a:prstGeom prst="line">
            <a:avLst/>
          </a:prstGeom>
          <a:ln w="12700">
            <a:solidFill>
              <a:srgbClr val="69727D"/>
            </a:solidFill>
          </a:ln>
        </p:spPr>
      </p:cxnSp>
      <p:sp>
        <p:nvSpPr>
          <p:cNvPr id="69" name="TextBox 68"/>
          <p:cNvSpPr txBox="1"/>
          <p:nvPr/>
        </p:nvSpPr>
        <p:spPr>
          <a:xfrm>
            <a:off x="8778240" y="5093208"/>
            <a:ext cx="914400" cy="274320"/>
          </a:xfrm>
          <a:prstGeom prst="rect">
            <a:avLst/>
          </a:prstGeom>
          <a:noFill/>
        </p:spPr>
        <p:txBody>
          <a:bodyPr wrap="square" lIns="0" rIns="0" tIns="0" bIns="0" anchor="t">
            <a:noAutofit/>
          </a:bodyPr>
          <a:lstStyle/>
          <a:p>
            <a:pPr algn="ctr">
              <a:lnSpc>
                <a:spcPct val="130000"/>
              </a:lnSpc>
            </a:pPr>
            <a:r>
              <a:rPr sz="1200" b="0" lang="ja-JP">
                <a:solidFill>
                  <a:srgbClr val="69727D"/>
                </a:solidFill>
                <a:latin typeface="BIZ UDPGothic"/>
                <a:ea typeface="BIZ UDPゴシック"/>
                <a:cs typeface="BIZ UDPGothic"/>
              </a:rPr>
              <a:t>45秒</a:t>
            </a:r>
          </a:p>
        </p:txBody>
      </p:sp>
      <p:cxnSp>
        <p:nvCxnSpPr>
          <p:cNvPr id="70" name="Connector 69"/>
          <p:cNvCxnSpPr/>
          <p:nvPr/>
        </p:nvCxnSpPr>
        <p:spPr>
          <a:xfrm>
            <a:off x="11292840" y="4983480"/>
            <a:ext cx="0" cy="73152"/>
          </a:xfrm>
          <a:prstGeom prst="line">
            <a:avLst/>
          </a:prstGeom>
          <a:ln w="12700">
            <a:solidFill>
              <a:srgbClr val="69727D"/>
            </a:solidFill>
          </a:ln>
        </p:spPr>
      </p:cxnSp>
      <p:sp>
        <p:nvSpPr>
          <p:cNvPr id="71" name="TextBox 70"/>
          <p:cNvSpPr txBox="1"/>
          <p:nvPr/>
        </p:nvSpPr>
        <p:spPr>
          <a:xfrm>
            <a:off x="10835640" y="5093208"/>
            <a:ext cx="914400" cy="274320"/>
          </a:xfrm>
          <a:prstGeom prst="rect">
            <a:avLst/>
          </a:prstGeom>
          <a:noFill/>
        </p:spPr>
        <p:txBody>
          <a:bodyPr wrap="square" lIns="0" rIns="0" tIns="0" bIns="0" anchor="t">
            <a:noAutofit/>
          </a:bodyPr>
          <a:lstStyle/>
          <a:p>
            <a:pPr algn="ctr">
              <a:lnSpc>
                <a:spcPct val="130000"/>
              </a:lnSpc>
            </a:pPr>
            <a:r>
              <a:rPr sz="1200" b="0" lang="ja-JP">
                <a:solidFill>
                  <a:srgbClr val="69727D"/>
                </a:solidFill>
                <a:latin typeface="BIZ UDPGothic"/>
                <a:ea typeface="BIZ UDPゴシック"/>
                <a:cs typeface="BIZ UDPGothic"/>
              </a:rPr>
              <a:t>60秒</a:t>
            </a:r>
          </a:p>
        </p:txBody>
      </p:sp>
      <p:sp>
        <p:nvSpPr>
          <p:cNvPr id="72" name="Rectangle 71"/>
          <p:cNvSpPr/>
          <p:nvPr/>
        </p:nvSpPr>
        <p:spPr>
          <a:xfrm>
            <a:off x="3063240" y="5669280"/>
            <a:ext cx="274320" cy="182880"/>
          </a:xfrm>
          <a:prstGeom prst="rect">
            <a:avLst/>
          </a:prstGeom>
          <a:solidFill>
            <a:srgbClr val="B3261E"/>
          </a:solidFill>
          <a:ln>
            <a:noFill/>
          </a:ln>
        </p:spPr>
        <p:txBody>
          <a:bodyPr rtlCol="0" anchor="ctr"/>
          <a:lstStyle/>
          <a:p>
            <a:pPr algn="ctr"/>
          </a:p>
        </p:txBody>
      </p:sp>
      <p:sp>
        <p:nvSpPr>
          <p:cNvPr id="73" name="TextBox 72"/>
          <p:cNvSpPr txBox="1"/>
          <p:nvPr/>
        </p:nvSpPr>
        <p:spPr>
          <a:xfrm>
            <a:off x="3447288" y="5641848"/>
            <a:ext cx="1828800" cy="274320"/>
          </a:xfrm>
          <a:prstGeom prst="rect">
            <a:avLst/>
          </a:prstGeom>
          <a:noFill/>
        </p:spPr>
        <p:txBody>
          <a:bodyPr wrap="square" lIns="0" rIns="0" tIns="0" bIns="0" anchor="t">
            <a:noAutofit/>
          </a:bodyPr>
          <a:lstStyle/>
          <a:p>
            <a:pPr algn="l">
              <a:lnSpc>
                <a:spcPct val="130000"/>
              </a:lnSpc>
            </a:pPr>
            <a:r>
              <a:rPr sz="1200" b="0" lang="ja-JP">
                <a:solidFill>
                  <a:srgbClr val="4B5560"/>
                </a:solidFill>
                <a:latin typeface="BIZ UDPGothic"/>
                <a:ea typeface="BIZ UDPゴシック"/>
                <a:cs typeface="BIZ UDPGothic"/>
              </a:rPr>
              <a:t>振動</a:t>
            </a:r>
          </a:p>
        </p:txBody>
      </p:sp>
      <p:sp>
        <p:nvSpPr>
          <p:cNvPr id="74" name="Rectangle 73"/>
          <p:cNvSpPr/>
          <p:nvPr/>
        </p:nvSpPr>
        <p:spPr>
          <a:xfrm>
            <a:off x="3063240" y="6016752"/>
            <a:ext cx="274320" cy="73152"/>
          </a:xfrm>
          <a:prstGeom prst="rect">
            <a:avLst/>
          </a:prstGeom>
          <a:solidFill>
            <a:srgbClr val="E9B0AB"/>
          </a:solidFill>
          <a:ln>
            <a:noFill/>
          </a:ln>
        </p:spPr>
        <p:txBody>
          <a:bodyPr rtlCol="0" anchor="ctr"/>
          <a:lstStyle/>
          <a:p>
            <a:pPr algn="ctr"/>
          </a:p>
        </p:txBody>
      </p:sp>
      <p:sp>
        <p:nvSpPr>
          <p:cNvPr id="75" name="TextBox 74"/>
          <p:cNvSpPr txBox="1"/>
          <p:nvPr/>
        </p:nvSpPr>
        <p:spPr>
          <a:xfrm>
            <a:off x="3447288" y="5934456"/>
            <a:ext cx="1828800" cy="274320"/>
          </a:xfrm>
          <a:prstGeom prst="rect">
            <a:avLst/>
          </a:prstGeom>
          <a:noFill/>
        </p:spPr>
        <p:txBody>
          <a:bodyPr wrap="square" lIns="0" rIns="0" tIns="0" bIns="0" anchor="t">
            <a:noAutofit/>
          </a:bodyPr>
          <a:lstStyle/>
          <a:p>
            <a:pPr algn="l">
              <a:lnSpc>
                <a:spcPct val="130000"/>
              </a:lnSpc>
            </a:pPr>
            <a:r>
              <a:rPr sz="1200" b="0" lang="ja-JP">
                <a:solidFill>
                  <a:srgbClr val="4B5560"/>
                </a:solidFill>
                <a:latin typeface="BIZ UDPGothic"/>
                <a:ea typeface="BIZ UDPゴシック"/>
                <a:cs typeface="BIZ UDPGothic"/>
              </a:rPr>
              <a:t>アラーム音</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685800" y="502920"/>
            <a:ext cx="10820095" cy="1188720"/>
          </a:xfrm>
        </p:spPr>
        <p:txBody>
          <a:bodyPr wrap="square" lIns="0" rIns="0" tIns="0" bIns="0" anchor="t">
            <a:noAutofit/>
          </a:bodyPr>
          <a:lstStyle/>
          <a:p>
            <a:pPr algn="l">
              <a:lnSpc>
                <a:spcPct val="120000"/>
              </a:lnSpc>
            </a:pPr>
            <a:r>
              <a:rPr sz="3000" b="1" lang="ja-JP">
                <a:solidFill>
                  <a:srgbClr val="1A1E23"/>
                </a:solidFill>
                <a:latin typeface="BIZ UDPGothic"/>
                <a:ea typeface="BIZ UDPゴシック"/>
                <a:cs typeface="BIZ UDPGothic"/>
              </a:rPr>
              <a:t>手首を上げると、</a:t>
            </a:r>
            <a:br/>
            <a:r>
              <a:rPr sz="3000" b="1" lang="ja-JP">
                <a:solidFill>
                  <a:srgbClr val="1A1E23"/>
                </a:solidFill>
                <a:latin typeface="BIZ UDPGothic"/>
                <a:ea typeface="BIZ UDPゴシック"/>
                <a:cs typeface="BIZ UDPGothic"/>
              </a:rPr>
              <a:t>警告の内容と「確認」ボタンが表示される</a:t>
            </a:r>
          </a:p>
        </p:txBody>
      </p:sp>
      <p:sp>
        <p:nvSpPr>
          <p:cNvPr id="3" name="TextBox 2"/>
          <p:cNvSpPr txBox="1"/>
          <p:nvPr/>
        </p:nvSpPr>
        <p:spPr>
          <a:xfrm>
            <a:off x="685800" y="6382512"/>
            <a:ext cx="9905695" cy="274320"/>
          </a:xfrm>
          <a:prstGeom prst="rect">
            <a:avLst/>
          </a:prstGeom>
          <a:noFill/>
        </p:spPr>
        <p:txBody>
          <a:bodyPr wrap="square" lIns="0" rIns="0" tIns="0" bIns="0" anchor="t">
            <a:noAutofit/>
          </a:bodyPr>
          <a:lstStyle/>
          <a:p>
            <a:pPr algn="l">
              <a:lnSpc>
                <a:spcPct val="130000"/>
              </a:lnSpc>
            </a:pPr>
            <a:r>
              <a:rPr sz="1000" b="0" lang="ja-JP">
                <a:solidFill>
                  <a:srgbClr val="69727D"/>
                </a:solidFill>
                <a:latin typeface="BIZ UDPGothic"/>
                <a:ea typeface="BIZ UDPゴシック"/>
                <a:cs typeface="BIZ UDPGothic"/>
              </a:rPr>
              <a:t>画面: Wear OS 5（API 34）エミュレーターで試作アプリを動かして撮影（2026-10-19）</a:t>
            </a:r>
          </a:p>
        </p:txBody>
      </p:sp>
      <p:sp>
        <p:nvSpPr>
          <p:cNvPr id="4" name="TextBox 3"/>
          <p:cNvSpPr txBox="1"/>
          <p:nvPr/>
        </p:nvSpPr>
        <p:spPr>
          <a:xfrm>
            <a:off x="10591495" y="6382512"/>
            <a:ext cx="914400" cy="274320"/>
          </a:xfrm>
          <a:prstGeom prst="rect">
            <a:avLst/>
          </a:prstGeom>
          <a:noFill/>
        </p:spPr>
        <p:txBody>
          <a:bodyPr wrap="square" lIns="0" rIns="0" tIns="0" bIns="0" anchor="t">
            <a:noAutofit/>
          </a:bodyPr>
          <a:lstStyle/>
          <a:p>
            <a:pPr algn="r">
              <a:lnSpc>
                <a:spcPct val="130000"/>
              </a:lnSpc>
            </a:pPr>
            <a:r>
              <a:rPr sz="1000" b="0" lang="ja-JP">
                <a:solidFill>
                  <a:srgbClr val="69727D"/>
                </a:solidFill>
                <a:latin typeface="BIZ UDPGothic"/>
                <a:ea typeface="BIZ UDPゴシック"/>
                <a:cs typeface="BIZ UDPGothic"/>
              </a:rPr>
              <a:t>9</a:t>
            </a:r>
          </a:p>
        </p:txBody>
      </p:sp>
      <p:pic>
        <p:nvPicPr>
          <p:cNvPr id="5" name="Picture 4" descr="通知の表示。警告: 閾値超過と本文"/>
          <p:cNvPicPr>
            <a:picLocks noChangeAspect="1"/>
          </p:cNvPicPr>
          <p:nvPr/>
        </p:nvPicPr>
        <p:blipFill>
          <a:blip r:embed="rId3"/>
          <a:stretch>
            <a:fillRect/>
          </a:stretch>
        </p:blipFill>
        <p:spPr>
          <a:xfrm>
            <a:off x="685800" y="1783080"/>
            <a:ext cx="2926080" cy="2926080"/>
          </a:xfrm>
          <a:prstGeom prst="rect">
            <a:avLst/>
          </a:prstGeom>
        </p:spPr>
      </p:pic>
      <p:sp>
        <p:nvSpPr>
          <p:cNvPr id="6" name="TextBox 5"/>
          <p:cNvSpPr txBox="1"/>
          <p:nvPr/>
        </p:nvSpPr>
        <p:spPr>
          <a:xfrm>
            <a:off x="685800" y="4754880"/>
            <a:ext cx="2926080" cy="1188720"/>
          </a:xfrm>
          <a:prstGeom prst="rect">
            <a:avLst/>
          </a:prstGeom>
          <a:noFill/>
        </p:spPr>
        <p:txBody>
          <a:bodyPr wrap="square" lIns="0" rIns="0" tIns="0" bIns="0" anchor="t">
            <a:noAutofit/>
          </a:bodyPr>
          <a:lstStyle/>
          <a:p>
            <a:pPr algn="ctr">
              <a:lnSpc>
                <a:spcPct val="130000"/>
              </a:lnSpc>
            </a:pPr>
            <a:r>
              <a:rPr sz="1700" b="1" lang="ja-JP">
                <a:solidFill>
                  <a:srgbClr val="B3261E"/>
                </a:solidFill>
                <a:latin typeface="BIZ UDPGothic"/>
                <a:ea typeface="BIZ UDPゴシック"/>
                <a:cs typeface="BIZ UDPGothic"/>
              </a:rPr>
              <a:t>1  </a:t>
            </a:r>
            <a:r>
              <a:rPr sz="1700" b="1" lang="ja-JP">
                <a:solidFill>
                  <a:srgbClr val="1A1E23"/>
                </a:solidFill>
                <a:latin typeface="BIZ UDPGothic"/>
                <a:ea typeface="BIZ UDPゴシック"/>
                <a:cs typeface="BIZ UDPGothic"/>
              </a:rPr>
              <a:t>通知の表示</a:t>
            </a:r>
          </a:p>
          <a:p>
            <a:pPr algn="ctr">
              <a:lnSpc>
                <a:spcPct val="130000"/>
              </a:lnSpc>
              <a:spcBef>
                <a:spcPts val="600"/>
              </a:spcBef>
            </a:pPr>
            <a:r>
              <a:rPr sz="1350" b="0" lang="ja-JP">
                <a:solidFill>
                  <a:srgbClr val="4B5560"/>
                </a:solidFill>
                <a:latin typeface="BIZ UDPGothic"/>
                <a:ea typeface="BIZ UDPゴシック"/>
                <a:cs typeface="BIZ UDPGothic"/>
              </a:rPr>
              <a:t>警告の題名と本文が出る</a:t>
            </a:r>
          </a:p>
        </p:txBody>
      </p:sp>
      <p:cxnSp>
        <p:nvCxnSpPr>
          <p:cNvPr id="7" name="Connector 6"/>
          <p:cNvCxnSpPr/>
          <p:nvPr/>
        </p:nvCxnSpPr>
        <p:spPr>
          <a:xfrm>
            <a:off x="3721608" y="3246120"/>
            <a:ext cx="801471" cy="0"/>
          </a:xfrm>
          <a:prstGeom prst="line">
            <a:avLst/>
          </a:prstGeom>
          <a:ln w="19050">
            <a:solidFill>
              <a:srgbClr val="69727D"/>
            </a:solidFill>
            <a:tailEnd type="triangle" w="med" len="med"/>
          </a:ln>
        </p:spPr>
      </p:cxnSp>
      <p:pic>
        <p:nvPicPr>
          <p:cNvPr id="8" name="Picture 7" descr="通知の操作。確認、スマートウォッチで開く、クリア"/>
          <p:cNvPicPr>
            <a:picLocks noChangeAspect="1"/>
          </p:cNvPicPr>
          <p:nvPr/>
        </p:nvPicPr>
        <p:blipFill>
          <a:blip r:embed="rId4"/>
          <a:stretch>
            <a:fillRect/>
          </a:stretch>
        </p:blipFill>
        <p:spPr>
          <a:xfrm>
            <a:off x="4632807" y="1783080"/>
            <a:ext cx="2926080" cy="2926080"/>
          </a:xfrm>
          <a:prstGeom prst="rect">
            <a:avLst/>
          </a:prstGeom>
        </p:spPr>
      </p:pic>
      <p:sp>
        <p:nvSpPr>
          <p:cNvPr id="9" name="TextBox 8"/>
          <p:cNvSpPr txBox="1"/>
          <p:nvPr/>
        </p:nvSpPr>
        <p:spPr>
          <a:xfrm>
            <a:off x="4632807" y="4754880"/>
            <a:ext cx="2926080" cy="1188720"/>
          </a:xfrm>
          <a:prstGeom prst="rect">
            <a:avLst/>
          </a:prstGeom>
          <a:noFill/>
        </p:spPr>
        <p:txBody>
          <a:bodyPr wrap="square" lIns="0" rIns="0" tIns="0" bIns="0" anchor="t">
            <a:noAutofit/>
          </a:bodyPr>
          <a:lstStyle/>
          <a:p>
            <a:pPr algn="ctr">
              <a:lnSpc>
                <a:spcPct val="130000"/>
              </a:lnSpc>
            </a:pPr>
            <a:r>
              <a:rPr sz="1700" b="1" lang="ja-JP">
                <a:solidFill>
                  <a:srgbClr val="B3261E"/>
                </a:solidFill>
                <a:latin typeface="BIZ UDPGothic"/>
                <a:ea typeface="BIZ UDPゴシック"/>
                <a:cs typeface="BIZ UDPGothic"/>
              </a:rPr>
              <a:t>2  </a:t>
            </a:r>
            <a:r>
              <a:rPr sz="1700" b="1" lang="ja-JP">
                <a:solidFill>
                  <a:srgbClr val="1A1E23"/>
                </a:solidFill>
                <a:latin typeface="BIZ UDPGothic"/>
                <a:ea typeface="BIZ UDPゴシック"/>
                <a:cs typeface="BIZ UDPGothic"/>
              </a:rPr>
              <a:t>下へ送ると操作</a:t>
            </a:r>
          </a:p>
          <a:p>
            <a:pPr algn="ctr">
              <a:lnSpc>
                <a:spcPct val="130000"/>
              </a:lnSpc>
              <a:spcBef>
                <a:spcPts val="600"/>
              </a:spcBef>
            </a:pPr>
            <a:r>
              <a:rPr sz="1350" b="0" lang="ja-JP">
                <a:solidFill>
                  <a:srgbClr val="4B5560"/>
                </a:solidFill>
                <a:latin typeface="BIZ UDPGothic"/>
                <a:ea typeface="BIZ UDPゴシック"/>
                <a:cs typeface="BIZ UDPGothic"/>
              </a:rPr>
              <a:t>「確認」で止める</a:t>
            </a:r>
            <a:br/>
            <a:r>
              <a:rPr sz="1350" b="0" lang="ja-JP">
                <a:solidFill>
                  <a:srgbClr val="4B5560"/>
                </a:solidFill>
                <a:latin typeface="BIZ UDPGothic"/>
                <a:ea typeface="BIZ UDPゴシック"/>
                <a:cs typeface="BIZ UDPGothic"/>
              </a:rPr>
              <a:t>「開く」で警告画面へ</a:t>
            </a:r>
          </a:p>
        </p:txBody>
      </p:sp>
      <p:cxnSp>
        <p:nvCxnSpPr>
          <p:cNvPr id="10" name="Connector 9"/>
          <p:cNvCxnSpPr/>
          <p:nvPr/>
        </p:nvCxnSpPr>
        <p:spPr>
          <a:xfrm>
            <a:off x="7668615" y="3246120"/>
            <a:ext cx="801472" cy="0"/>
          </a:xfrm>
          <a:prstGeom prst="line">
            <a:avLst/>
          </a:prstGeom>
          <a:ln w="19050">
            <a:solidFill>
              <a:srgbClr val="69727D"/>
            </a:solidFill>
            <a:tailEnd type="triangle" w="med" len="med"/>
          </a:ln>
        </p:spPr>
      </p:cxnSp>
      <p:pic>
        <p:nvPicPr>
          <p:cNvPr id="11" name="Picture 10" descr="警告画面。送信時刻と現場・端末の番号、確認ボタン"/>
          <p:cNvPicPr>
            <a:picLocks noChangeAspect="1"/>
          </p:cNvPicPr>
          <p:nvPr/>
        </p:nvPicPr>
        <p:blipFill>
          <a:blip r:embed="rId5"/>
          <a:stretch>
            <a:fillRect/>
          </a:stretch>
        </p:blipFill>
        <p:spPr>
          <a:xfrm>
            <a:off x="8579815" y="1783080"/>
            <a:ext cx="2926080" cy="2926080"/>
          </a:xfrm>
          <a:prstGeom prst="rect">
            <a:avLst/>
          </a:prstGeom>
        </p:spPr>
      </p:pic>
      <p:sp>
        <p:nvSpPr>
          <p:cNvPr id="12" name="TextBox 11"/>
          <p:cNvSpPr txBox="1"/>
          <p:nvPr/>
        </p:nvSpPr>
        <p:spPr>
          <a:xfrm>
            <a:off x="8579815" y="4754880"/>
            <a:ext cx="2926080" cy="1188720"/>
          </a:xfrm>
          <a:prstGeom prst="rect">
            <a:avLst/>
          </a:prstGeom>
          <a:noFill/>
        </p:spPr>
        <p:txBody>
          <a:bodyPr wrap="square" lIns="0" rIns="0" tIns="0" bIns="0" anchor="t">
            <a:noAutofit/>
          </a:bodyPr>
          <a:lstStyle/>
          <a:p>
            <a:pPr algn="ctr">
              <a:lnSpc>
                <a:spcPct val="130000"/>
              </a:lnSpc>
            </a:pPr>
            <a:r>
              <a:rPr sz="1700" b="1" lang="ja-JP">
                <a:solidFill>
                  <a:srgbClr val="B3261E"/>
                </a:solidFill>
                <a:latin typeface="BIZ UDPGothic"/>
                <a:ea typeface="BIZ UDPゴシック"/>
                <a:cs typeface="BIZ UDPGothic"/>
              </a:rPr>
              <a:t>3  </a:t>
            </a:r>
            <a:r>
              <a:rPr sz="1700" b="1" lang="ja-JP">
                <a:solidFill>
                  <a:srgbClr val="1A1E23"/>
                </a:solidFill>
                <a:latin typeface="BIZ UDPGothic"/>
                <a:ea typeface="BIZ UDPゴシック"/>
                <a:cs typeface="BIZ UDPGothic"/>
              </a:rPr>
              <a:t>警告画面</a:t>
            </a:r>
          </a:p>
          <a:p>
            <a:pPr algn="ctr">
              <a:lnSpc>
                <a:spcPct val="130000"/>
              </a:lnSpc>
              <a:spcBef>
                <a:spcPts val="600"/>
              </a:spcBef>
            </a:pPr>
            <a:r>
              <a:rPr sz="1350" b="0" lang="ja-JP">
                <a:solidFill>
                  <a:srgbClr val="4B5560"/>
                </a:solidFill>
                <a:latin typeface="BIZ UDPGothic"/>
                <a:ea typeface="BIZ UDPゴシック"/>
                <a:cs typeface="BIZ UDPGothic"/>
              </a:rPr>
              <a:t>内容・送信時刻・番号と</a:t>
            </a:r>
            <a:br/>
            <a:r>
              <a:rPr sz="1350" b="0" lang="ja-JP">
                <a:solidFill>
                  <a:srgbClr val="4B5560"/>
                </a:solidFill>
                <a:latin typeface="BIZ UDPGothic"/>
                <a:ea typeface="BIZ UDPゴシック"/>
                <a:cs typeface="BIZ UDPGothic"/>
              </a:rPr>
              <a:t>大きな「確認」ボタン</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685800" y="502920"/>
            <a:ext cx="10820095" cy="1188720"/>
          </a:xfrm>
        </p:spPr>
        <p:txBody>
          <a:bodyPr wrap="square" lIns="0" rIns="0" tIns="0" bIns="0" anchor="t">
            <a:noAutofit/>
          </a:bodyPr>
          <a:lstStyle/>
          <a:p>
            <a:pPr algn="l">
              <a:lnSpc>
                <a:spcPct val="120000"/>
              </a:lnSpc>
            </a:pPr>
            <a:r>
              <a:rPr sz="3000" b="1" lang="ja-JP">
                <a:solidFill>
                  <a:srgbClr val="1A1E23"/>
                </a:solidFill>
                <a:latin typeface="BIZ UDPGothic"/>
                <a:ea typeface="BIZ UDPゴシック"/>
                <a:cs typeface="BIZ UDPGothic"/>
              </a:rPr>
              <a:t>「確認」を押すと、振動と音はすぐに止まる</a:t>
            </a:r>
          </a:p>
        </p:txBody>
      </p:sp>
      <p:sp>
        <p:nvSpPr>
          <p:cNvPr id="3" name="TextBox 2"/>
          <p:cNvSpPr txBox="1"/>
          <p:nvPr/>
        </p:nvSpPr>
        <p:spPr>
          <a:xfrm>
            <a:off x="685800" y="6382512"/>
            <a:ext cx="9905695" cy="274320"/>
          </a:xfrm>
          <a:prstGeom prst="rect">
            <a:avLst/>
          </a:prstGeom>
          <a:noFill/>
        </p:spPr>
        <p:txBody>
          <a:bodyPr wrap="square" lIns="0" rIns="0" tIns="0" bIns="0" anchor="t">
            <a:noAutofit/>
          </a:bodyPr>
          <a:lstStyle/>
          <a:p>
            <a:pPr algn="l">
              <a:lnSpc>
                <a:spcPct val="130000"/>
              </a:lnSpc>
            </a:pPr>
            <a:r>
              <a:rPr sz="1000" b="0" lang="ja-JP">
                <a:solidFill>
                  <a:srgbClr val="69727D"/>
                </a:solidFill>
                <a:latin typeface="BIZ UDPGothic"/>
                <a:ea typeface="BIZ UDPゴシック"/>
                <a:cs typeface="BIZ UDPGothic"/>
              </a:rPr>
              <a:t>画面: Wear OS 5（API 34）エミュレーターで試作アプリを動かして撮影（2026-10-19）</a:t>
            </a:r>
          </a:p>
        </p:txBody>
      </p:sp>
      <p:sp>
        <p:nvSpPr>
          <p:cNvPr id="4" name="TextBox 3"/>
          <p:cNvSpPr txBox="1"/>
          <p:nvPr/>
        </p:nvSpPr>
        <p:spPr>
          <a:xfrm>
            <a:off x="10591495" y="6382512"/>
            <a:ext cx="914400" cy="274320"/>
          </a:xfrm>
          <a:prstGeom prst="rect">
            <a:avLst/>
          </a:prstGeom>
          <a:noFill/>
        </p:spPr>
        <p:txBody>
          <a:bodyPr wrap="square" lIns="0" rIns="0" tIns="0" bIns="0" anchor="t">
            <a:noAutofit/>
          </a:bodyPr>
          <a:lstStyle/>
          <a:p>
            <a:pPr algn="r">
              <a:lnSpc>
                <a:spcPct val="130000"/>
              </a:lnSpc>
            </a:pPr>
            <a:r>
              <a:rPr sz="1000" b="0" lang="ja-JP">
                <a:solidFill>
                  <a:srgbClr val="69727D"/>
                </a:solidFill>
                <a:latin typeface="BIZ UDPGothic"/>
                <a:ea typeface="BIZ UDPゴシック"/>
                <a:cs typeface="BIZ UDPGothic"/>
              </a:rPr>
              <a:t>10</a:t>
            </a:r>
          </a:p>
        </p:txBody>
      </p:sp>
      <p:pic>
        <p:nvPicPr>
          <p:cNvPr id="5" name="Picture 4" descr="警告画面と「確認」ボタン"/>
          <p:cNvPicPr>
            <a:picLocks noChangeAspect="1"/>
          </p:cNvPicPr>
          <p:nvPr/>
        </p:nvPicPr>
        <p:blipFill>
          <a:blip r:embed="rId3"/>
          <a:stretch>
            <a:fillRect/>
          </a:stretch>
        </p:blipFill>
        <p:spPr>
          <a:xfrm>
            <a:off x="1554480" y="1783080"/>
            <a:ext cx="3383280" cy="3383280"/>
          </a:xfrm>
          <a:prstGeom prst="rect">
            <a:avLst/>
          </a:prstGeom>
        </p:spPr>
      </p:pic>
      <p:pic>
        <p:nvPicPr>
          <p:cNvPr id="6" name="Picture 5" descr="確認後に戻った時計の文字盤"/>
          <p:cNvPicPr>
            <a:picLocks noChangeAspect="1"/>
          </p:cNvPicPr>
          <p:nvPr/>
        </p:nvPicPr>
        <p:blipFill>
          <a:blip r:embed="rId4"/>
          <a:stretch>
            <a:fillRect/>
          </a:stretch>
        </p:blipFill>
        <p:spPr>
          <a:xfrm>
            <a:off x="7253935" y="1783080"/>
            <a:ext cx="3383280" cy="3383280"/>
          </a:xfrm>
          <a:prstGeom prst="rect">
            <a:avLst/>
          </a:prstGeom>
        </p:spPr>
      </p:pic>
      <p:cxnSp>
        <p:nvCxnSpPr>
          <p:cNvPr id="7" name="Connector 6"/>
          <p:cNvCxnSpPr/>
          <p:nvPr/>
        </p:nvCxnSpPr>
        <p:spPr>
          <a:xfrm>
            <a:off x="5120640" y="3474720"/>
            <a:ext cx="1950415" cy="0"/>
          </a:xfrm>
          <a:prstGeom prst="line">
            <a:avLst/>
          </a:prstGeom>
          <a:ln w="25400">
            <a:solidFill>
              <a:srgbClr val="4B5560"/>
            </a:solidFill>
            <a:tailEnd type="triangle" w="med" len="med"/>
          </a:ln>
        </p:spPr>
      </p:cxnSp>
      <p:sp>
        <p:nvSpPr>
          <p:cNvPr id="8" name="TextBox 7"/>
          <p:cNvSpPr txBox="1"/>
          <p:nvPr/>
        </p:nvSpPr>
        <p:spPr>
          <a:xfrm>
            <a:off x="5120640" y="2971800"/>
            <a:ext cx="1950415" cy="365760"/>
          </a:xfrm>
          <a:prstGeom prst="rect">
            <a:avLst/>
          </a:prstGeom>
          <a:noFill/>
        </p:spPr>
        <p:txBody>
          <a:bodyPr wrap="square" lIns="0" rIns="0" tIns="0" bIns="0" anchor="t">
            <a:noAutofit/>
          </a:bodyPr>
          <a:lstStyle/>
          <a:p>
            <a:pPr algn="ctr">
              <a:lnSpc>
                <a:spcPct val="130000"/>
              </a:lnSpc>
            </a:pPr>
            <a:r>
              <a:rPr sz="1700" b="1" lang="ja-JP">
                <a:solidFill>
                  <a:srgbClr val="1A1E23"/>
                </a:solidFill>
                <a:latin typeface="BIZ UDPGothic"/>
                <a:ea typeface="BIZ UDPゴシック"/>
                <a:cs typeface="BIZ UDPGothic"/>
              </a:rPr>
              <a:t>「確認」を押す</a:t>
            </a:r>
          </a:p>
        </p:txBody>
      </p:sp>
      <p:sp>
        <p:nvSpPr>
          <p:cNvPr id="9" name="TextBox 8"/>
          <p:cNvSpPr txBox="1"/>
          <p:nvPr/>
        </p:nvSpPr>
        <p:spPr>
          <a:xfrm>
            <a:off x="1554480" y="4892040"/>
            <a:ext cx="3383280" cy="1188720"/>
          </a:xfrm>
          <a:prstGeom prst="rect">
            <a:avLst/>
          </a:prstGeom>
          <a:noFill/>
        </p:spPr>
        <p:txBody>
          <a:bodyPr wrap="square" lIns="0" rIns="0" tIns="0" bIns="0" anchor="t">
            <a:noAutofit/>
          </a:bodyPr>
          <a:lstStyle/>
          <a:p>
            <a:pPr algn="ctr">
              <a:lnSpc>
                <a:spcPct val="130000"/>
              </a:lnSpc>
            </a:pPr>
            <a:r>
              <a:rPr sz="1700" b="1" lang="ja-JP">
                <a:solidFill>
                  <a:srgbClr val="1A1E23"/>
                </a:solidFill>
                <a:latin typeface="BIZ UDPGothic"/>
                <a:ea typeface="BIZ UDPゴシック"/>
                <a:cs typeface="BIZ UDPGothic"/>
              </a:rPr>
              <a:t>鳴動中の警告画面</a:t>
            </a:r>
          </a:p>
          <a:p>
            <a:pPr algn="ctr">
              <a:lnSpc>
                <a:spcPct val="130000"/>
              </a:lnSpc>
              <a:spcBef>
                <a:spcPts val="600"/>
              </a:spcBef>
            </a:pPr>
            <a:r>
              <a:rPr sz="1350" b="0" lang="ja-JP">
                <a:solidFill>
                  <a:srgbClr val="4B5560"/>
                </a:solidFill>
                <a:latin typeface="BIZ UDPGothic"/>
                <a:ea typeface="BIZ UDPゴシック"/>
                <a:cs typeface="BIZ UDPGothic"/>
              </a:rPr>
              <a:t>振動とアラーム音が続いている</a:t>
            </a:r>
          </a:p>
        </p:txBody>
      </p:sp>
      <p:sp>
        <p:nvSpPr>
          <p:cNvPr id="10" name="TextBox 9"/>
          <p:cNvSpPr txBox="1"/>
          <p:nvPr/>
        </p:nvSpPr>
        <p:spPr>
          <a:xfrm>
            <a:off x="7253935" y="4892040"/>
            <a:ext cx="3383280" cy="1188720"/>
          </a:xfrm>
          <a:prstGeom prst="rect">
            <a:avLst/>
          </a:prstGeom>
          <a:noFill/>
        </p:spPr>
        <p:txBody>
          <a:bodyPr wrap="square" lIns="0" rIns="0" tIns="0" bIns="0" anchor="t">
            <a:noAutofit/>
          </a:bodyPr>
          <a:lstStyle/>
          <a:p>
            <a:pPr algn="ctr">
              <a:lnSpc>
                <a:spcPct val="130000"/>
              </a:lnSpc>
            </a:pPr>
            <a:r>
              <a:rPr sz="1700" b="1" lang="ja-JP">
                <a:solidFill>
                  <a:srgbClr val="1A1E23"/>
                </a:solidFill>
                <a:latin typeface="BIZ UDPGothic"/>
                <a:ea typeface="BIZ UDPゴシック"/>
                <a:cs typeface="BIZ UDPGothic"/>
              </a:rPr>
              <a:t>通常の文字盤に戻る</a:t>
            </a:r>
          </a:p>
          <a:p>
            <a:pPr algn="ctr">
              <a:lnSpc>
                <a:spcPct val="130000"/>
              </a:lnSpc>
              <a:spcBef>
                <a:spcPts val="600"/>
              </a:spcBef>
            </a:pPr>
            <a:r>
              <a:rPr sz="1350" b="0" lang="ja-JP">
                <a:solidFill>
                  <a:srgbClr val="4B5560"/>
                </a:solidFill>
                <a:latin typeface="BIZ UDPGothic"/>
                <a:ea typeface="BIZ UDPゴシック"/>
                <a:cs typeface="BIZ UDPGothic"/>
              </a:rPr>
              <a:t>振動・音・通知がすべて止まる</a:t>
            </a:r>
            <a:br/>
            <a:r>
              <a:rPr sz="1350" b="0" lang="ja-JP">
                <a:solidFill>
                  <a:srgbClr val="4B5560"/>
                </a:solidFill>
                <a:latin typeface="BIZ UDPGothic"/>
                <a:ea typeface="BIZ UDPゴシック"/>
                <a:cs typeface="BIZ UDPGothic"/>
              </a:rPr>
              <a:t>（約1秒後に確認）</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685800" y="502920"/>
            <a:ext cx="10820095" cy="1188720"/>
          </a:xfrm>
        </p:spPr>
        <p:txBody>
          <a:bodyPr wrap="square" lIns="0" rIns="0" tIns="0" bIns="0" anchor="t">
            <a:noAutofit/>
          </a:bodyPr>
          <a:lstStyle/>
          <a:p>
            <a:pPr algn="l">
              <a:lnSpc>
                <a:spcPct val="120000"/>
              </a:lnSpc>
            </a:pPr>
            <a:r>
              <a:rPr sz="3000" b="1" lang="ja-JP">
                <a:solidFill>
                  <a:srgbClr val="1A1E23"/>
                </a:solidFill>
                <a:latin typeface="BIZ UDPGothic"/>
                <a:ea typeface="BIZ UDPゴシック"/>
                <a:cs typeface="BIZ UDPGothic"/>
              </a:rPr>
              <a:t>配る前に、テスト通知で</a:t>
            </a:r>
            <a:br/>
            <a:r>
              <a:rPr sz="3000" b="1" lang="ja-JP">
                <a:solidFill>
                  <a:srgbClr val="1A1E23"/>
                </a:solidFill>
                <a:latin typeface="BIZ UDPGothic"/>
                <a:ea typeface="BIZ UDPゴシック"/>
                <a:cs typeface="BIZ UDPGothic"/>
              </a:rPr>
              <a:t>1台ずつ鳴動を確かめられる</a:t>
            </a:r>
          </a:p>
        </p:txBody>
      </p:sp>
      <p:sp>
        <p:nvSpPr>
          <p:cNvPr id="3" name="TextBox 2"/>
          <p:cNvSpPr txBox="1"/>
          <p:nvPr/>
        </p:nvSpPr>
        <p:spPr>
          <a:xfrm>
            <a:off x="685800" y="6382512"/>
            <a:ext cx="9905695" cy="274320"/>
          </a:xfrm>
          <a:prstGeom prst="rect">
            <a:avLst/>
          </a:prstGeom>
          <a:noFill/>
        </p:spPr>
        <p:txBody>
          <a:bodyPr wrap="square" lIns="0" rIns="0" tIns="0" bIns="0" anchor="t">
            <a:noAutofit/>
          </a:bodyPr>
          <a:lstStyle/>
          <a:p>
            <a:pPr algn="l">
              <a:lnSpc>
                <a:spcPct val="130000"/>
              </a:lnSpc>
            </a:pPr>
            <a:r>
              <a:rPr sz="1000" b="0" lang="ja-JP">
                <a:solidFill>
                  <a:srgbClr val="69727D"/>
                </a:solidFill>
                <a:latin typeface="BIZ UDPGothic"/>
                <a:ea typeface="BIZ UDPゴシック"/>
                <a:cs typeface="BIZ UDPGothic"/>
              </a:rPr>
              <a:t>画面: Wear OS 5（API 34）エミュレーターで試作アプリを動かして撮影（2026-10-19）</a:t>
            </a:r>
          </a:p>
        </p:txBody>
      </p:sp>
      <p:sp>
        <p:nvSpPr>
          <p:cNvPr id="4" name="TextBox 3"/>
          <p:cNvSpPr txBox="1"/>
          <p:nvPr/>
        </p:nvSpPr>
        <p:spPr>
          <a:xfrm>
            <a:off x="10591495" y="6382512"/>
            <a:ext cx="914400" cy="274320"/>
          </a:xfrm>
          <a:prstGeom prst="rect">
            <a:avLst/>
          </a:prstGeom>
          <a:noFill/>
        </p:spPr>
        <p:txBody>
          <a:bodyPr wrap="square" lIns="0" rIns="0" tIns="0" bIns="0" anchor="t">
            <a:noAutofit/>
          </a:bodyPr>
          <a:lstStyle/>
          <a:p>
            <a:pPr algn="r">
              <a:lnSpc>
                <a:spcPct val="130000"/>
              </a:lnSpc>
            </a:pPr>
            <a:r>
              <a:rPr sz="1000" b="0" lang="ja-JP">
                <a:solidFill>
                  <a:srgbClr val="69727D"/>
                </a:solidFill>
                <a:latin typeface="BIZ UDPGothic"/>
                <a:ea typeface="BIZ UDPゴシック"/>
                <a:cs typeface="BIZ UDPGothic"/>
              </a:rPr>
              <a:t>11</a:t>
            </a:r>
          </a:p>
        </p:txBody>
      </p:sp>
      <p:sp>
        <p:nvSpPr>
          <p:cNvPr id="5" name="TextBox 4"/>
          <p:cNvSpPr txBox="1"/>
          <p:nvPr/>
        </p:nvSpPr>
        <p:spPr>
          <a:xfrm>
            <a:off x="685800" y="2103120"/>
            <a:ext cx="6217920" cy="3840480"/>
          </a:xfrm>
          <a:prstGeom prst="rect">
            <a:avLst/>
          </a:prstGeom>
          <a:noFill/>
        </p:spPr>
        <p:txBody>
          <a:bodyPr wrap="square" lIns="0" rIns="0" tIns="0" bIns="0" anchor="t">
            <a:noAutofit/>
          </a:bodyPr>
          <a:lstStyle/>
          <a:p>
            <a:pPr algn="l">
              <a:lnSpc>
                <a:spcPct val="135000"/>
              </a:lnSpc>
            </a:pPr>
            <a:r>
              <a:rPr sz="2100" b="0" lang="ja-JP">
                <a:solidFill>
                  <a:srgbClr val="1A1E23"/>
                </a:solidFill>
                <a:latin typeface="BIZ UDPGothic"/>
                <a:ea typeface="BIZ UDPゴシック"/>
                <a:cs typeface="BIZ UDPGothic"/>
              </a:rPr>
              <a:t>管理側の送信ツールで、現場番号と端末番号を指定して送る。</a:t>
            </a:r>
          </a:p>
          <a:p>
            <a:pPr algn="l">
              <a:lnSpc>
                <a:spcPct val="135000"/>
              </a:lnSpc>
              <a:spcBef>
                <a:spcPts val="2200"/>
              </a:spcBef>
            </a:pPr>
            <a:r>
              <a:rPr sz="2100" b="0" lang="ja-JP">
                <a:solidFill>
                  <a:srgbClr val="1A1E23"/>
                </a:solidFill>
                <a:latin typeface="BIZ UDPGothic"/>
                <a:ea typeface="BIZ UDPゴシック"/>
                <a:cs typeface="BIZ UDPGothic"/>
              </a:rPr>
              <a:t>題名の先頭に【テスト】が付き、本番の警告と見分けられる。</a:t>
            </a:r>
          </a:p>
          <a:p>
            <a:pPr algn="l">
              <a:lnSpc>
                <a:spcPct val="135000"/>
              </a:lnSpc>
              <a:spcBef>
                <a:spcPts val="2200"/>
              </a:spcBef>
            </a:pPr>
            <a:r>
              <a:rPr sz="2100" b="0" lang="ja-JP">
                <a:solidFill>
                  <a:srgbClr val="1A1E23"/>
                </a:solidFill>
                <a:latin typeface="BIZ UDPGothic"/>
                <a:ea typeface="BIZ UDPゴシック"/>
                <a:cs typeface="BIZ UDPGothic"/>
              </a:rPr>
              <a:t>鳴り方と「確認」の操作は本番と同じ。キッティングの手順に組み込んだ。</a:t>
            </a:r>
          </a:p>
        </p:txBody>
      </p:sp>
      <p:pic>
        <p:nvPicPr>
          <p:cNvPr id="6" name="Picture 5" descr="テスト通知。【テスト】鳴動確認"/>
          <p:cNvPicPr>
            <a:picLocks noChangeAspect="1"/>
          </p:cNvPicPr>
          <p:nvPr/>
        </p:nvPicPr>
        <p:blipFill>
          <a:blip r:embed="rId3"/>
          <a:stretch>
            <a:fillRect/>
          </a:stretch>
        </p:blipFill>
        <p:spPr>
          <a:xfrm>
            <a:off x="7498079" y="1600200"/>
            <a:ext cx="4023360" cy="402336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685800" y="502920"/>
            <a:ext cx="10820095" cy="1188720"/>
          </a:xfrm>
        </p:spPr>
        <p:txBody>
          <a:bodyPr wrap="square" lIns="0" rIns="0" tIns="0" bIns="0" anchor="t">
            <a:noAutofit/>
          </a:bodyPr>
          <a:lstStyle/>
          <a:p>
            <a:pPr algn="l">
              <a:lnSpc>
                <a:spcPct val="120000"/>
              </a:lnSpc>
            </a:pPr>
            <a:r>
              <a:rPr sz="3000" b="1" lang="ja-JP">
                <a:solidFill>
                  <a:srgbClr val="1A1E23"/>
                </a:solidFill>
                <a:latin typeface="BIZ UDPGothic"/>
                <a:ea typeface="BIZ UDPゴシック"/>
                <a:cs typeface="BIZ UDPGothic"/>
              </a:rPr>
              <a:t>エミュレーターでは、</a:t>
            </a:r>
            <a:br/>
            <a:r>
              <a:rPr sz="3000" b="1" lang="ja-JP">
                <a:solidFill>
                  <a:srgbClr val="1A1E23"/>
                </a:solidFill>
                <a:latin typeface="BIZ UDPGothic"/>
                <a:ea typeface="BIZ UDPゴシック"/>
                <a:cs typeface="BIZ UDPGothic"/>
              </a:rPr>
              <a:t>登録から警告の停止まで一通り動いた</a:t>
            </a:r>
          </a:p>
        </p:txBody>
      </p:sp>
      <p:sp>
        <p:nvSpPr>
          <p:cNvPr id="3" name="TextBox 2"/>
          <p:cNvSpPr txBox="1"/>
          <p:nvPr/>
        </p:nvSpPr>
        <p:spPr>
          <a:xfrm>
            <a:off x="685800" y="6382512"/>
            <a:ext cx="9905695" cy="274320"/>
          </a:xfrm>
          <a:prstGeom prst="rect">
            <a:avLst/>
          </a:prstGeom>
          <a:noFill/>
        </p:spPr>
        <p:txBody>
          <a:bodyPr wrap="square" lIns="0" rIns="0" tIns="0" bIns="0" anchor="t">
            <a:noAutofit/>
          </a:bodyPr>
          <a:lstStyle/>
          <a:p>
            <a:pPr algn="l">
              <a:lnSpc>
                <a:spcPct val="130000"/>
              </a:lnSpc>
            </a:pPr>
            <a:r>
              <a:rPr sz="1000" b="0" lang="ja-JP">
                <a:solidFill>
                  <a:srgbClr val="69727D"/>
                </a:solidFill>
                <a:latin typeface="BIZ UDPGothic"/>
                <a:ea typeface="BIZ UDPゴシック"/>
                <a:cs typeface="BIZ UDPGothic"/>
              </a:rPr>
              <a:t>工事現場向け スマートウォッチ通知システム　試作の動作確認報告</a:t>
            </a:r>
          </a:p>
        </p:txBody>
      </p:sp>
      <p:sp>
        <p:nvSpPr>
          <p:cNvPr id="4" name="TextBox 3"/>
          <p:cNvSpPr txBox="1"/>
          <p:nvPr/>
        </p:nvSpPr>
        <p:spPr>
          <a:xfrm>
            <a:off x="10591495" y="6382512"/>
            <a:ext cx="914400" cy="274320"/>
          </a:xfrm>
          <a:prstGeom prst="rect">
            <a:avLst/>
          </a:prstGeom>
          <a:noFill/>
        </p:spPr>
        <p:txBody>
          <a:bodyPr wrap="square" lIns="0" rIns="0" tIns="0" bIns="0" anchor="t">
            <a:noAutofit/>
          </a:bodyPr>
          <a:lstStyle/>
          <a:p>
            <a:pPr algn="r">
              <a:lnSpc>
                <a:spcPct val="130000"/>
              </a:lnSpc>
            </a:pPr>
            <a:r>
              <a:rPr sz="1000" b="0" lang="ja-JP">
                <a:solidFill>
                  <a:srgbClr val="69727D"/>
                </a:solidFill>
                <a:latin typeface="BIZ UDPGothic"/>
                <a:ea typeface="BIZ UDPゴシック"/>
                <a:cs typeface="BIZ UDPGothic"/>
              </a:rPr>
              <a:t>12</a:t>
            </a:r>
          </a:p>
        </p:txBody>
      </p:sp>
      <p:graphicFrame>
        <p:nvGraphicFramePr>
          <p:cNvPr id="5" name="Table 4"/>
          <p:cNvGraphicFramePr>
            <a:graphicFrameLocks noGrp="1"/>
          </p:cNvGraphicFramePr>
          <p:nvPr/>
        </p:nvGraphicFramePr>
        <p:xfrm>
          <a:off x="685800" y="1783080"/>
          <a:ext cx="10817352" cy="3867912"/>
        </p:xfrm>
        <a:graphic>
          <a:graphicData uri="http://schemas.openxmlformats.org/drawingml/2006/table">
            <a:tbl>
              <a:tblPr>
                <a:tableStyleId>{2D5ABB26-0587-4C30-8999-92F81FD0307C}</a:tableStyleId>
              </a:tblPr>
              <a:tblGrid>
                <a:gridCol w="2926080"/>
                <a:gridCol w="6309360"/>
                <a:gridCol w="1581912"/>
              </a:tblGrid>
              <a:tr h="329184">
                <a:tc>
                  <a:txBody>
                    <a:bodyPr wrap="square" lIns="0" rIns="0" tIns="0" bIns="0" anchor="ctr">
                      <a:noAutofit/>
                    </a:bodyPr>
                    <a:lstStyle/>
                    <a:p>
                      <a:pPr algn="l">
                        <a:lnSpc>
                          <a:spcPct val="130000"/>
                        </a:lnSpc>
                      </a:pPr>
                      <a:r>
                        <a:rPr sz="1250" b="1" lang="ja-JP">
                          <a:solidFill>
                            <a:srgbClr val="4B5560"/>
                          </a:solidFill>
                          <a:latin typeface="BIZ UDPGothic"/>
                          <a:ea typeface="BIZ UDPゴシック"/>
                          <a:cs typeface="BIZ UDPGothic"/>
                        </a:rPr>
                        <a:t>確認項目</a:t>
                      </a:r>
                    </a:p>
                  </a:txBody>
                  <a:tcPr marL="0" marR="109728" marT="54864" marB="54864" anchor="ctr">
                    <a:lnL w="0">
                      <a:noFill/>
                    </a:lnL>
                    <a:lnR w="0">
                      <a:noFill/>
                    </a:lnR>
                    <a:lnT w="0">
                      <a:noFill/>
                    </a:lnT>
                    <a:lnB w="12700">
                      <a:solidFill>
                        <a:srgbClr val="69727D"/>
                      </a:solidFill>
                    </a:lnB>
                    <a:noFill/>
                  </a:tcPr>
                </a:tc>
                <a:tc>
                  <a:txBody>
                    <a:bodyPr wrap="square" lIns="0" rIns="0" tIns="0" bIns="0" anchor="ctr">
                      <a:noAutofit/>
                    </a:bodyPr>
                    <a:lstStyle/>
                    <a:p>
                      <a:pPr algn="l">
                        <a:lnSpc>
                          <a:spcPct val="130000"/>
                        </a:lnSpc>
                      </a:pPr>
                      <a:r>
                        <a:rPr sz="1250" b="1" lang="ja-JP">
                          <a:solidFill>
                            <a:srgbClr val="4B5560"/>
                          </a:solidFill>
                          <a:latin typeface="BIZ UDPGothic"/>
                          <a:ea typeface="BIZ UDPゴシック"/>
                          <a:cs typeface="BIZ UDPGothic"/>
                        </a:rPr>
                        <a:t>結果</a:t>
                      </a:r>
                    </a:p>
                  </a:txBody>
                  <a:tcPr marL="109728" marR="109728" marT="54864" marB="54864" anchor="ctr">
                    <a:lnL w="0">
                      <a:noFill/>
                    </a:lnL>
                    <a:lnR w="0">
                      <a:noFill/>
                    </a:lnR>
                    <a:lnT w="0">
                      <a:noFill/>
                    </a:lnT>
                    <a:lnB w="12700">
                      <a:solidFill>
                        <a:srgbClr val="69727D"/>
                      </a:solidFill>
                    </a:lnB>
                    <a:noFill/>
                  </a:tcPr>
                </a:tc>
                <a:tc>
                  <a:txBody>
                    <a:bodyPr wrap="square" lIns="0" rIns="0" tIns="0" bIns="0" anchor="ctr">
                      <a:noAutofit/>
                    </a:bodyPr>
                    <a:lstStyle/>
                    <a:p>
                      <a:pPr algn="l">
                        <a:lnSpc>
                          <a:spcPct val="130000"/>
                        </a:lnSpc>
                      </a:pPr>
                      <a:r>
                        <a:rPr sz="1250" b="1" lang="ja-JP">
                          <a:solidFill>
                            <a:srgbClr val="4B5560"/>
                          </a:solidFill>
                          <a:latin typeface="BIZ UDPGothic"/>
                          <a:ea typeface="BIZ UDPゴシック"/>
                          <a:cs typeface="BIZ UDPGothic"/>
                        </a:rPr>
                        <a:t>判定</a:t>
                      </a:r>
                    </a:p>
                  </a:txBody>
                  <a:tcPr marL="109728" marR="109728" marT="54864" marB="54864" anchor="ctr">
                    <a:lnL w="0">
                      <a:noFill/>
                    </a:lnL>
                    <a:lnR w="0">
                      <a:noFill/>
                    </a:lnR>
                    <a:lnT w="0">
                      <a:noFill/>
                    </a:lnT>
                    <a:lnB w="12700">
                      <a:solidFill>
                        <a:srgbClr val="69727D"/>
                      </a:solidFill>
                    </a:lnB>
                    <a:noFill/>
                  </a:tcPr>
                </a:tc>
              </a:tr>
              <a:tr h="393192">
                <a:tc>
                  <a:txBody>
                    <a:bodyPr wrap="square" lIns="0" rIns="0" tIns="0" bIns="0" anchor="ctr">
                      <a:noAutofit/>
                    </a:bodyPr>
                    <a:lstStyle/>
                    <a:p>
                      <a:pPr algn="l">
                        <a:lnSpc>
                          <a:spcPct val="120000"/>
                        </a:lnSpc>
                      </a:pPr>
                      <a:r>
                        <a:rPr sz="1400" b="1" lang="ja-JP">
                          <a:solidFill>
                            <a:srgbClr val="1A1E23"/>
                          </a:solidFill>
                          <a:latin typeface="BIZ UDPGothic"/>
                          <a:ea typeface="BIZ UDPゴシック"/>
                          <a:cs typeface="BIZ UDPGothic"/>
                        </a:rPr>
                        <a:t>端末の登録</a:t>
                      </a:r>
                    </a:p>
                  </a:txBody>
                  <a:tcPr marL="0" marR="109728" marT="54864" marB="54864" anchor="ctr">
                    <a:lnL w="0">
                      <a:noFill/>
                    </a:lnL>
                    <a:lnR w="0">
                      <a:noFill/>
                    </a:lnR>
                    <a:lnT w="0">
                      <a:noFill/>
                    </a:lnT>
                    <a:lnB w="9525">
                      <a:solidFill>
                        <a:srgbClr val="D3D8DE"/>
                      </a:solidFill>
                    </a:lnB>
                    <a:noFill/>
                  </a:tcPr>
                </a:tc>
                <a:tc>
                  <a:txBody>
                    <a:bodyPr wrap="square" lIns="0" rIns="0" tIns="0" bIns="0" anchor="ctr">
                      <a:noAutofit/>
                    </a:bodyPr>
                    <a:lstStyle/>
                    <a:p>
                      <a:pPr algn="l">
                        <a:lnSpc>
                          <a:spcPct val="120000"/>
                        </a:lnSpc>
                      </a:pPr>
                      <a:r>
                        <a:rPr sz="1400" b="0" lang="ja-JP">
                          <a:solidFill>
                            <a:srgbClr val="1A1E23"/>
                          </a:solidFill>
                          <a:latin typeface="BIZ UDPGothic"/>
                          <a:ea typeface="BIZ UDPゴシック"/>
                          <a:cs typeface="BIZ UDPGothic"/>
                        </a:rPr>
                        <a:t>番号と宛先がサーバーに保存され、画面が「待機中」になった</a:t>
                      </a:r>
                    </a:p>
                  </a:txBody>
                  <a:tcPr marL="109728" marR="109728" marT="54864" marB="54864" anchor="ctr">
                    <a:lnL w="0">
                      <a:noFill/>
                    </a:lnL>
                    <a:lnR w="0">
                      <a:noFill/>
                    </a:lnR>
                    <a:lnT w="0">
                      <a:noFill/>
                    </a:lnT>
                    <a:lnB w="9525">
                      <a:solidFill>
                        <a:srgbClr val="D3D8DE"/>
                      </a:solidFill>
                    </a:lnB>
                    <a:noFill/>
                  </a:tcPr>
                </a:tc>
                <a:tc>
                  <a:txBody>
                    <a:bodyPr wrap="square" lIns="0" rIns="0" tIns="0" bIns="0" anchor="ctr">
                      <a:noAutofit/>
                    </a:bodyPr>
                    <a:lstStyle/>
                    <a:p>
                      <a:pPr algn="l">
                        <a:lnSpc>
                          <a:spcPct val="120000"/>
                        </a:lnSpc>
                      </a:pPr>
                      <a:r>
                        <a:rPr sz="1400" b="1" lang="ja-JP">
                          <a:solidFill>
                            <a:srgbClr val="1E7A34"/>
                          </a:solidFill>
                          <a:latin typeface="BIZ UDPGothic"/>
                          <a:ea typeface="BIZ UDPゴシック"/>
                          <a:cs typeface="BIZ UDPGothic"/>
                        </a:rPr>
                        <a:t>確認済み</a:t>
                      </a:r>
                    </a:p>
                  </a:txBody>
                  <a:tcPr marL="109728" marR="109728" marT="54864" marB="54864" anchor="ctr">
                    <a:lnL w="0">
                      <a:noFill/>
                    </a:lnL>
                    <a:lnR w="0">
                      <a:noFill/>
                    </a:lnR>
                    <a:lnT w="0">
                      <a:noFill/>
                    </a:lnT>
                    <a:lnB w="9525">
                      <a:solidFill>
                        <a:srgbClr val="D3D8DE"/>
                      </a:solidFill>
                    </a:lnB>
                    <a:noFill/>
                  </a:tcPr>
                </a:tc>
              </a:tr>
              <a:tr h="393192">
                <a:tc>
                  <a:txBody>
                    <a:bodyPr wrap="square" lIns="0" rIns="0" tIns="0" bIns="0" anchor="ctr">
                      <a:noAutofit/>
                    </a:bodyPr>
                    <a:lstStyle/>
                    <a:p>
                      <a:pPr algn="l">
                        <a:lnSpc>
                          <a:spcPct val="120000"/>
                        </a:lnSpc>
                      </a:pPr>
                      <a:r>
                        <a:rPr sz="1400" b="1" lang="ja-JP">
                          <a:solidFill>
                            <a:srgbClr val="1A1E23"/>
                          </a:solidFill>
                          <a:latin typeface="BIZ UDPGothic"/>
                          <a:ea typeface="BIZ UDPゴシック"/>
                          <a:cs typeface="BIZ UDPGothic"/>
                        </a:rPr>
                        <a:t>画面消灯・省電力中の受信</a:t>
                      </a:r>
                    </a:p>
                  </a:txBody>
                  <a:tcPr marL="0" marR="109728" marT="54864" marB="54864" anchor="ctr">
                    <a:lnL w="0">
                      <a:noFill/>
                    </a:lnL>
                    <a:lnR w="0">
                      <a:noFill/>
                    </a:lnR>
                    <a:lnT w="0">
                      <a:noFill/>
                    </a:lnT>
                    <a:lnB w="9525">
                      <a:solidFill>
                        <a:srgbClr val="D3D8DE"/>
                      </a:solidFill>
                    </a:lnB>
                    <a:noFill/>
                  </a:tcPr>
                </a:tc>
                <a:tc>
                  <a:txBody>
                    <a:bodyPr wrap="square" lIns="0" rIns="0" tIns="0" bIns="0" anchor="ctr">
                      <a:noAutofit/>
                    </a:bodyPr>
                    <a:lstStyle/>
                    <a:p>
                      <a:pPr algn="l">
                        <a:lnSpc>
                          <a:spcPct val="120000"/>
                        </a:lnSpc>
                      </a:pPr>
                      <a:r>
                        <a:rPr sz="1400" b="0" lang="ja-JP">
                          <a:solidFill>
                            <a:srgbClr val="1A1E23"/>
                          </a:solidFill>
                          <a:latin typeface="BIZ UDPGothic"/>
                          <a:ea typeface="BIZ UDPゴシック"/>
                          <a:cs typeface="BIZ UDPGothic"/>
                        </a:rPr>
                        <a:t>受信して鳴り始めた（計測した回は送信から約1秒）</a:t>
                      </a:r>
                    </a:p>
                  </a:txBody>
                  <a:tcPr marL="109728" marR="109728" marT="54864" marB="54864" anchor="ctr">
                    <a:lnL w="0">
                      <a:noFill/>
                    </a:lnL>
                    <a:lnR w="0">
                      <a:noFill/>
                    </a:lnR>
                    <a:lnT w="0">
                      <a:noFill/>
                    </a:lnT>
                    <a:lnB w="9525">
                      <a:solidFill>
                        <a:srgbClr val="D3D8DE"/>
                      </a:solidFill>
                    </a:lnB>
                    <a:noFill/>
                  </a:tcPr>
                </a:tc>
                <a:tc>
                  <a:txBody>
                    <a:bodyPr wrap="square" lIns="0" rIns="0" tIns="0" bIns="0" anchor="ctr">
                      <a:noAutofit/>
                    </a:bodyPr>
                    <a:lstStyle/>
                    <a:p>
                      <a:pPr algn="l">
                        <a:lnSpc>
                          <a:spcPct val="120000"/>
                        </a:lnSpc>
                      </a:pPr>
                      <a:r>
                        <a:rPr sz="1400" b="1" lang="ja-JP">
                          <a:solidFill>
                            <a:srgbClr val="1E7A34"/>
                          </a:solidFill>
                          <a:latin typeface="BIZ UDPGothic"/>
                          <a:ea typeface="BIZ UDPゴシック"/>
                          <a:cs typeface="BIZ UDPGothic"/>
                        </a:rPr>
                        <a:t>確認済み</a:t>
                      </a:r>
                    </a:p>
                  </a:txBody>
                  <a:tcPr marL="109728" marR="109728" marT="54864" marB="54864" anchor="ctr">
                    <a:lnL w="0">
                      <a:noFill/>
                    </a:lnL>
                    <a:lnR w="0">
                      <a:noFill/>
                    </a:lnR>
                    <a:lnT w="0">
                      <a:noFill/>
                    </a:lnT>
                    <a:lnB w="9525">
                      <a:solidFill>
                        <a:srgbClr val="D3D8DE"/>
                      </a:solidFill>
                    </a:lnB>
                    <a:noFill/>
                  </a:tcPr>
                </a:tc>
              </a:tr>
              <a:tr h="393192">
                <a:tc>
                  <a:txBody>
                    <a:bodyPr wrap="square" lIns="0" rIns="0" tIns="0" bIns="0" anchor="ctr">
                      <a:noAutofit/>
                    </a:bodyPr>
                    <a:lstStyle/>
                    <a:p>
                      <a:pPr algn="l">
                        <a:lnSpc>
                          <a:spcPct val="120000"/>
                        </a:lnSpc>
                      </a:pPr>
                      <a:r>
                        <a:rPr sz="1400" b="1" lang="ja-JP">
                          <a:solidFill>
                            <a:srgbClr val="1A1E23"/>
                          </a:solidFill>
                          <a:latin typeface="BIZ UDPGothic"/>
                          <a:ea typeface="BIZ UDPゴシック"/>
                          <a:cs typeface="BIZ UDPGothic"/>
                        </a:rPr>
                        <a:t>振動とアラーム音</a:t>
                      </a:r>
                    </a:p>
                  </a:txBody>
                  <a:tcPr marL="0" marR="109728" marT="54864" marB="54864" anchor="ctr">
                    <a:lnL w="0">
                      <a:noFill/>
                    </a:lnL>
                    <a:lnR w="0">
                      <a:noFill/>
                    </a:lnR>
                    <a:lnT w="0">
                      <a:noFill/>
                    </a:lnT>
                    <a:lnB w="9525">
                      <a:solidFill>
                        <a:srgbClr val="D3D8DE"/>
                      </a:solidFill>
                    </a:lnB>
                    <a:noFill/>
                  </a:tcPr>
                </a:tc>
                <a:tc>
                  <a:txBody>
                    <a:bodyPr wrap="square" lIns="0" rIns="0" tIns="0" bIns="0" anchor="ctr">
                      <a:noAutofit/>
                    </a:bodyPr>
                    <a:lstStyle/>
                    <a:p>
                      <a:pPr algn="l">
                        <a:lnSpc>
                          <a:spcPct val="120000"/>
                        </a:lnSpc>
                      </a:pPr>
                      <a:r>
                        <a:rPr sz="1400" b="0" lang="ja-JP">
                          <a:solidFill>
                            <a:srgbClr val="1A1E23"/>
                          </a:solidFill>
                          <a:latin typeface="BIZ UDPGothic"/>
                          <a:ea typeface="BIZ UDPゴシック"/>
                          <a:cs typeface="BIZ UDPGothic"/>
                        </a:rPr>
                        <a:t>1秒振動＋0.5秒休止の繰り返しと、アラーム音の再生</a:t>
                      </a:r>
                    </a:p>
                  </a:txBody>
                  <a:tcPr marL="109728" marR="109728" marT="54864" marB="54864" anchor="ctr">
                    <a:lnL w="0">
                      <a:noFill/>
                    </a:lnL>
                    <a:lnR w="0">
                      <a:noFill/>
                    </a:lnR>
                    <a:lnT w="0">
                      <a:noFill/>
                    </a:lnT>
                    <a:lnB w="9525">
                      <a:solidFill>
                        <a:srgbClr val="D3D8DE"/>
                      </a:solidFill>
                    </a:lnB>
                    <a:noFill/>
                  </a:tcPr>
                </a:tc>
                <a:tc>
                  <a:txBody>
                    <a:bodyPr wrap="square" lIns="0" rIns="0" tIns="0" bIns="0" anchor="ctr">
                      <a:noAutofit/>
                    </a:bodyPr>
                    <a:lstStyle/>
                    <a:p>
                      <a:pPr algn="l">
                        <a:lnSpc>
                          <a:spcPct val="120000"/>
                        </a:lnSpc>
                      </a:pPr>
                      <a:r>
                        <a:rPr sz="1400" b="1" lang="ja-JP">
                          <a:solidFill>
                            <a:srgbClr val="1E7A34"/>
                          </a:solidFill>
                          <a:latin typeface="BIZ UDPGothic"/>
                          <a:ea typeface="BIZ UDPゴシック"/>
                          <a:cs typeface="BIZ UDPGothic"/>
                        </a:rPr>
                        <a:t>確認済み</a:t>
                      </a:r>
                    </a:p>
                  </a:txBody>
                  <a:tcPr marL="109728" marR="109728" marT="54864" marB="54864" anchor="ctr">
                    <a:lnL w="0">
                      <a:noFill/>
                    </a:lnL>
                    <a:lnR w="0">
                      <a:noFill/>
                    </a:lnR>
                    <a:lnT w="0">
                      <a:noFill/>
                    </a:lnT>
                    <a:lnB w="9525">
                      <a:solidFill>
                        <a:srgbClr val="D3D8DE"/>
                      </a:solidFill>
                    </a:lnB>
                    <a:noFill/>
                  </a:tcPr>
                </a:tc>
              </a:tr>
              <a:tr h="393192">
                <a:tc>
                  <a:txBody>
                    <a:bodyPr wrap="square" lIns="0" rIns="0" tIns="0" bIns="0" anchor="ctr">
                      <a:noAutofit/>
                    </a:bodyPr>
                    <a:lstStyle/>
                    <a:p>
                      <a:pPr algn="l">
                        <a:lnSpc>
                          <a:spcPct val="120000"/>
                        </a:lnSpc>
                      </a:pPr>
                      <a:r>
                        <a:rPr sz="1400" b="1" lang="ja-JP">
                          <a:solidFill>
                            <a:srgbClr val="1A1E23"/>
                          </a:solidFill>
                          <a:latin typeface="BIZ UDPGothic"/>
                          <a:ea typeface="BIZ UDPゴシック"/>
                          <a:cs typeface="BIZ UDPGothic"/>
                        </a:rPr>
                        <a:t>自動停止</a:t>
                      </a:r>
                    </a:p>
                  </a:txBody>
                  <a:tcPr marL="0" marR="109728" marT="54864" marB="54864" anchor="ctr">
                    <a:lnL w="0">
                      <a:noFill/>
                    </a:lnL>
                    <a:lnR w="0">
                      <a:noFill/>
                    </a:lnR>
                    <a:lnT w="0">
                      <a:noFill/>
                    </a:lnT>
                    <a:lnB w="9525">
                      <a:solidFill>
                        <a:srgbClr val="D3D8DE"/>
                      </a:solidFill>
                    </a:lnB>
                    <a:noFill/>
                  </a:tcPr>
                </a:tc>
                <a:tc>
                  <a:txBody>
                    <a:bodyPr wrap="square" lIns="0" rIns="0" tIns="0" bIns="0" anchor="ctr">
                      <a:noAutofit/>
                    </a:bodyPr>
                    <a:lstStyle/>
                    <a:p>
                      <a:pPr algn="l">
                        <a:lnSpc>
                          <a:spcPct val="120000"/>
                        </a:lnSpc>
                      </a:pPr>
                      <a:r>
                        <a:rPr sz="1400" b="0" lang="ja-JP">
                          <a:solidFill>
                            <a:srgbClr val="1A1E23"/>
                          </a:solidFill>
                          <a:latin typeface="BIZ UDPGothic"/>
                          <a:ea typeface="BIZ UDPゴシック"/>
                          <a:cs typeface="BIZ UDPGothic"/>
                        </a:rPr>
                        <a:t>確認されないと60秒で止まり、通知は残る</a:t>
                      </a:r>
                    </a:p>
                  </a:txBody>
                  <a:tcPr marL="109728" marR="109728" marT="54864" marB="54864" anchor="ctr">
                    <a:lnL w="0">
                      <a:noFill/>
                    </a:lnL>
                    <a:lnR w="0">
                      <a:noFill/>
                    </a:lnR>
                    <a:lnT w="0">
                      <a:noFill/>
                    </a:lnT>
                    <a:lnB w="9525">
                      <a:solidFill>
                        <a:srgbClr val="D3D8DE"/>
                      </a:solidFill>
                    </a:lnB>
                    <a:noFill/>
                  </a:tcPr>
                </a:tc>
                <a:tc>
                  <a:txBody>
                    <a:bodyPr wrap="square" lIns="0" rIns="0" tIns="0" bIns="0" anchor="ctr">
                      <a:noAutofit/>
                    </a:bodyPr>
                    <a:lstStyle/>
                    <a:p>
                      <a:pPr algn="l">
                        <a:lnSpc>
                          <a:spcPct val="120000"/>
                        </a:lnSpc>
                      </a:pPr>
                      <a:r>
                        <a:rPr sz="1400" b="1" lang="ja-JP">
                          <a:solidFill>
                            <a:srgbClr val="1E7A34"/>
                          </a:solidFill>
                          <a:latin typeface="BIZ UDPGothic"/>
                          <a:ea typeface="BIZ UDPゴシック"/>
                          <a:cs typeface="BIZ UDPGothic"/>
                        </a:rPr>
                        <a:t>確認済み</a:t>
                      </a:r>
                    </a:p>
                  </a:txBody>
                  <a:tcPr marL="109728" marR="109728" marT="54864" marB="54864" anchor="ctr">
                    <a:lnL w="0">
                      <a:noFill/>
                    </a:lnL>
                    <a:lnR w="0">
                      <a:noFill/>
                    </a:lnR>
                    <a:lnT w="0">
                      <a:noFill/>
                    </a:lnT>
                    <a:lnB w="9525">
                      <a:solidFill>
                        <a:srgbClr val="D3D8DE"/>
                      </a:solidFill>
                    </a:lnB>
                    <a:noFill/>
                  </a:tcPr>
                </a:tc>
              </a:tr>
              <a:tr h="393192">
                <a:tc>
                  <a:txBody>
                    <a:bodyPr wrap="square" lIns="0" rIns="0" tIns="0" bIns="0" anchor="ctr">
                      <a:noAutofit/>
                    </a:bodyPr>
                    <a:lstStyle/>
                    <a:p>
                      <a:pPr algn="l">
                        <a:lnSpc>
                          <a:spcPct val="120000"/>
                        </a:lnSpc>
                      </a:pPr>
                      <a:r>
                        <a:rPr sz="1400" b="1" lang="ja-JP">
                          <a:solidFill>
                            <a:srgbClr val="1A1E23"/>
                          </a:solidFill>
                          <a:latin typeface="BIZ UDPGothic"/>
                          <a:ea typeface="BIZ UDPゴシック"/>
                          <a:cs typeface="BIZ UDPGothic"/>
                        </a:rPr>
                        <a:t>「確認」での停止</a:t>
                      </a:r>
                    </a:p>
                  </a:txBody>
                  <a:tcPr marL="0" marR="109728" marT="54864" marB="54864" anchor="ctr">
                    <a:lnL w="0">
                      <a:noFill/>
                    </a:lnL>
                    <a:lnR w="0">
                      <a:noFill/>
                    </a:lnR>
                    <a:lnT w="0">
                      <a:noFill/>
                    </a:lnT>
                    <a:lnB w="9525">
                      <a:solidFill>
                        <a:srgbClr val="D3D8DE"/>
                      </a:solidFill>
                    </a:lnB>
                    <a:noFill/>
                  </a:tcPr>
                </a:tc>
                <a:tc>
                  <a:txBody>
                    <a:bodyPr wrap="square" lIns="0" rIns="0" tIns="0" bIns="0" anchor="ctr">
                      <a:noAutofit/>
                    </a:bodyPr>
                    <a:lstStyle/>
                    <a:p>
                      <a:pPr algn="l">
                        <a:lnSpc>
                          <a:spcPct val="120000"/>
                        </a:lnSpc>
                      </a:pPr>
                      <a:r>
                        <a:rPr sz="1400" b="0" lang="ja-JP">
                          <a:solidFill>
                            <a:srgbClr val="1A1E23"/>
                          </a:solidFill>
                          <a:latin typeface="BIZ UDPGothic"/>
                          <a:ea typeface="BIZ UDPゴシック"/>
                          <a:cs typeface="BIZ UDPGothic"/>
                        </a:rPr>
                        <a:t>振動と音が止まり、通知も消えた</a:t>
                      </a:r>
                    </a:p>
                  </a:txBody>
                  <a:tcPr marL="109728" marR="109728" marT="54864" marB="54864" anchor="ctr">
                    <a:lnL w="0">
                      <a:noFill/>
                    </a:lnL>
                    <a:lnR w="0">
                      <a:noFill/>
                    </a:lnR>
                    <a:lnT w="0">
                      <a:noFill/>
                    </a:lnT>
                    <a:lnB w="9525">
                      <a:solidFill>
                        <a:srgbClr val="D3D8DE"/>
                      </a:solidFill>
                    </a:lnB>
                    <a:noFill/>
                  </a:tcPr>
                </a:tc>
                <a:tc>
                  <a:txBody>
                    <a:bodyPr wrap="square" lIns="0" rIns="0" tIns="0" bIns="0" anchor="ctr">
                      <a:noAutofit/>
                    </a:bodyPr>
                    <a:lstStyle/>
                    <a:p>
                      <a:pPr algn="l">
                        <a:lnSpc>
                          <a:spcPct val="120000"/>
                        </a:lnSpc>
                      </a:pPr>
                      <a:r>
                        <a:rPr sz="1400" b="1" lang="ja-JP">
                          <a:solidFill>
                            <a:srgbClr val="1E7A34"/>
                          </a:solidFill>
                          <a:latin typeface="BIZ UDPGothic"/>
                          <a:ea typeface="BIZ UDPゴシック"/>
                          <a:cs typeface="BIZ UDPGothic"/>
                        </a:rPr>
                        <a:t>確認済み</a:t>
                      </a:r>
                    </a:p>
                  </a:txBody>
                  <a:tcPr marL="109728" marR="109728" marT="54864" marB="54864" anchor="ctr">
                    <a:lnL w="0">
                      <a:noFill/>
                    </a:lnL>
                    <a:lnR w="0">
                      <a:noFill/>
                    </a:lnR>
                    <a:lnT w="0">
                      <a:noFill/>
                    </a:lnT>
                    <a:lnB w="9525">
                      <a:solidFill>
                        <a:srgbClr val="D3D8DE"/>
                      </a:solidFill>
                    </a:lnB>
                    <a:noFill/>
                  </a:tcPr>
                </a:tc>
              </a:tr>
              <a:tr h="393192">
                <a:tc>
                  <a:txBody>
                    <a:bodyPr wrap="square" lIns="0" rIns="0" tIns="0" bIns="0" anchor="ctr">
                      <a:noAutofit/>
                    </a:bodyPr>
                    <a:lstStyle/>
                    <a:p>
                      <a:pPr algn="l">
                        <a:lnSpc>
                          <a:spcPct val="120000"/>
                        </a:lnSpc>
                      </a:pPr>
                      <a:r>
                        <a:rPr sz="1400" b="1" lang="ja-JP">
                          <a:solidFill>
                            <a:srgbClr val="1A1E23"/>
                          </a:solidFill>
                          <a:latin typeface="BIZ UDPGothic"/>
                          <a:ea typeface="BIZ UDPゴシック"/>
                          <a:cs typeface="BIZ UDPGothic"/>
                        </a:rPr>
                        <a:t>切断中に送った警告</a:t>
                      </a:r>
                    </a:p>
                  </a:txBody>
                  <a:tcPr marL="0" marR="109728" marT="54864" marB="54864" anchor="ctr">
                    <a:lnL w="0">
                      <a:noFill/>
                    </a:lnL>
                    <a:lnR w="0">
                      <a:noFill/>
                    </a:lnR>
                    <a:lnT w="0">
                      <a:noFill/>
                    </a:lnT>
                    <a:lnB w="9525">
                      <a:solidFill>
                        <a:srgbClr val="D3D8DE"/>
                      </a:solidFill>
                    </a:lnB>
                    <a:noFill/>
                  </a:tcPr>
                </a:tc>
                <a:tc>
                  <a:txBody>
                    <a:bodyPr wrap="square" lIns="0" rIns="0" tIns="0" bIns="0" anchor="ctr">
                      <a:noAutofit/>
                    </a:bodyPr>
                    <a:lstStyle/>
                    <a:p>
                      <a:pPr algn="l">
                        <a:lnSpc>
                          <a:spcPct val="120000"/>
                        </a:lnSpc>
                      </a:pPr>
                      <a:r>
                        <a:rPr sz="1400" b="0" lang="ja-JP">
                          <a:solidFill>
                            <a:srgbClr val="1A1E23"/>
                          </a:solidFill>
                          <a:latin typeface="BIZ UDPGothic"/>
                          <a:ea typeface="BIZ UDPゴシック"/>
                          <a:cs typeface="BIZ UDPGothic"/>
                        </a:rPr>
                        <a:t>接続が戻った後、保持期間（5分）内に届いた</a:t>
                      </a:r>
                    </a:p>
                  </a:txBody>
                  <a:tcPr marL="109728" marR="109728" marT="54864" marB="54864" anchor="ctr">
                    <a:lnL w="0">
                      <a:noFill/>
                    </a:lnL>
                    <a:lnR w="0">
                      <a:noFill/>
                    </a:lnR>
                    <a:lnT w="0">
                      <a:noFill/>
                    </a:lnT>
                    <a:lnB w="9525">
                      <a:solidFill>
                        <a:srgbClr val="D3D8DE"/>
                      </a:solidFill>
                    </a:lnB>
                    <a:noFill/>
                  </a:tcPr>
                </a:tc>
                <a:tc>
                  <a:txBody>
                    <a:bodyPr wrap="square" lIns="0" rIns="0" tIns="0" bIns="0" anchor="ctr">
                      <a:noAutofit/>
                    </a:bodyPr>
                    <a:lstStyle/>
                    <a:p>
                      <a:pPr algn="l">
                        <a:lnSpc>
                          <a:spcPct val="120000"/>
                        </a:lnSpc>
                      </a:pPr>
                      <a:r>
                        <a:rPr sz="1400" b="1" lang="ja-JP">
                          <a:solidFill>
                            <a:srgbClr val="1E7A34"/>
                          </a:solidFill>
                          <a:latin typeface="BIZ UDPGothic"/>
                          <a:ea typeface="BIZ UDPゴシック"/>
                          <a:cs typeface="BIZ UDPGothic"/>
                        </a:rPr>
                        <a:t>確認済み</a:t>
                      </a:r>
                    </a:p>
                  </a:txBody>
                  <a:tcPr marL="109728" marR="109728" marT="54864" marB="54864" anchor="ctr">
                    <a:lnL w="0">
                      <a:noFill/>
                    </a:lnL>
                    <a:lnR w="0">
                      <a:noFill/>
                    </a:lnR>
                    <a:lnT w="0">
                      <a:noFill/>
                    </a:lnT>
                    <a:lnB w="9525">
                      <a:solidFill>
                        <a:srgbClr val="D3D8DE"/>
                      </a:solidFill>
                    </a:lnB>
                    <a:noFill/>
                  </a:tcPr>
                </a:tc>
              </a:tr>
              <a:tr h="393192">
                <a:tc>
                  <a:txBody>
                    <a:bodyPr wrap="square" lIns="0" rIns="0" tIns="0" bIns="0" anchor="ctr">
                      <a:noAutofit/>
                    </a:bodyPr>
                    <a:lstStyle/>
                    <a:p>
                      <a:pPr algn="l">
                        <a:lnSpc>
                          <a:spcPct val="120000"/>
                        </a:lnSpc>
                      </a:pPr>
                      <a:r>
                        <a:rPr sz="1400" b="1" lang="ja-JP">
                          <a:solidFill>
                            <a:srgbClr val="1A1E23"/>
                          </a:solidFill>
                          <a:latin typeface="BIZ UDPGothic"/>
                          <a:ea typeface="BIZ UDPゴシック"/>
                          <a:cs typeface="BIZ UDPGothic"/>
                        </a:rPr>
                        <a:t>アプリ更新後の受信</a:t>
                      </a:r>
                    </a:p>
                  </a:txBody>
                  <a:tcPr marL="0" marR="109728" marT="54864" marB="54864" anchor="ctr">
                    <a:lnL w="0">
                      <a:noFill/>
                    </a:lnL>
                    <a:lnR w="0">
                      <a:noFill/>
                    </a:lnR>
                    <a:lnT w="0">
                      <a:noFill/>
                    </a:lnT>
                    <a:lnB w="9525">
                      <a:solidFill>
                        <a:srgbClr val="D3D8DE"/>
                      </a:solidFill>
                    </a:lnB>
                    <a:noFill/>
                  </a:tcPr>
                </a:tc>
                <a:tc>
                  <a:txBody>
                    <a:bodyPr wrap="square" lIns="0" rIns="0" tIns="0" bIns="0" anchor="ctr">
                      <a:noAutofit/>
                    </a:bodyPr>
                    <a:lstStyle/>
                    <a:p>
                      <a:pPr algn="l">
                        <a:lnSpc>
                          <a:spcPct val="120000"/>
                        </a:lnSpc>
                      </a:pPr>
                      <a:r>
                        <a:rPr sz="1400" b="0" lang="ja-JP">
                          <a:solidFill>
                            <a:srgbClr val="1A1E23"/>
                          </a:solidFill>
                          <a:latin typeface="BIZ UDPGothic"/>
                          <a:ea typeface="BIZ UDPゴシック"/>
                          <a:cs typeface="BIZ UDPGothic"/>
                        </a:rPr>
                        <a:t>上書き更新の後も、登録し直さずに受信した</a:t>
                      </a:r>
                    </a:p>
                  </a:txBody>
                  <a:tcPr marL="109728" marR="109728" marT="54864" marB="54864" anchor="ctr">
                    <a:lnL w="0">
                      <a:noFill/>
                    </a:lnL>
                    <a:lnR w="0">
                      <a:noFill/>
                    </a:lnR>
                    <a:lnT w="0">
                      <a:noFill/>
                    </a:lnT>
                    <a:lnB w="9525">
                      <a:solidFill>
                        <a:srgbClr val="D3D8DE"/>
                      </a:solidFill>
                    </a:lnB>
                    <a:noFill/>
                  </a:tcPr>
                </a:tc>
                <a:tc>
                  <a:txBody>
                    <a:bodyPr wrap="square" lIns="0" rIns="0" tIns="0" bIns="0" anchor="ctr">
                      <a:noAutofit/>
                    </a:bodyPr>
                    <a:lstStyle/>
                    <a:p>
                      <a:pPr algn="l">
                        <a:lnSpc>
                          <a:spcPct val="120000"/>
                        </a:lnSpc>
                      </a:pPr>
                      <a:r>
                        <a:rPr sz="1400" b="1" lang="ja-JP">
                          <a:solidFill>
                            <a:srgbClr val="1E7A34"/>
                          </a:solidFill>
                          <a:latin typeface="BIZ UDPGothic"/>
                          <a:ea typeface="BIZ UDPゴシック"/>
                          <a:cs typeface="BIZ UDPGothic"/>
                        </a:rPr>
                        <a:t>確認済み</a:t>
                      </a:r>
                    </a:p>
                  </a:txBody>
                  <a:tcPr marL="109728" marR="109728" marT="54864" marB="54864" anchor="ctr">
                    <a:lnL w="0">
                      <a:noFill/>
                    </a:lnL>
                    <a:lnR w="0">
                      <a:noFill/>
                    </a:lnR>
                    <a:lnT w="0">
                      <a:noFill/>
                    </a:lnT>
                    <a:lnB w="9525">
                      <a:solidFill>
                        <a:srgbClr val="D3D8DE"/>
                      </a:solidFill>
                    </a:lnB>
                    <a:noFill/>
                  </a:tcPr>
                </a:tc>
              </a:tr>
              <a:tr h="393192">
                <a:tc>
                  <a:txBody>
                    <a:bodyPr wrap="square" lIns="0" rIns="0" tIns="0" bIns="0" anchor="ctr">
                      <a:noAutofit/>
                    </a:bodyPr>
                    <a:lstStyle/>
                    <a:p>
                      <a:pPr algn="l">
                        <a:lnSpc>
                          <a:spcPct val="120000"/>
                        </a:lnSpc>
                      </a:pPr>
                      <a:r>
                        <a:rPr sz="1400" b="1" lang="ja-JP">
                          <a:solidFill>
                            <a:srgbClr val="1A1E23"/>
                          </a:solidFill>
                          <a:latin typeface="BIZ UDPGothic"/>
                          <a:ea typeface="BIZ UDPゴシック"/>
                          <a:cs typeface="BIZ UDPGothic"/>
                        </a:rPr>
                        <a:t>番号の入力</a:t>
                      </a:r>
                    </a:p>
                  </a:txBody>
                  <a:tcPr marL="0" marR="109728" marT="54864" marB="54864" anchor="ctr">
                    <a:lnL w="0">
                      <a:noFill/>
                    </a:lnL>
                    <a:lnR w="0">
                      <a:noFill/>
                    </a:lnR>
                    <a:lnT w="0">
                      <a:noFill/>
                    </a:lnT>
                    <a:lnB w="9525">
                      <a:solidFill>
                        <a:srgbClr val="D3D8DE"/>
                      </a:solidFill>
                    </a:lnB>
                    <a:noFill/>
                  </a:tcPr>
                </a:tc>
                <a:tc>
                  <a:txBody>
                    <a:bodyPr wrap="square" lIns="0" rIns="0" tIns="0" bIns="0" anchor="ctr">
                      <a:noAutofit/>
                    </a:bodyPr>
                    <a:lstStyle/>
                    <a:p>
                      <a:pPr algn="l">
                        <a:lnSpc>
                          <a:spcPct val="120000"/>
                        </a:lnSpc>
                      </a:pPr>
                      <a:r>
                        <a:rPr sz="1400" b="0" lang="ja-JP">
                          <a:solidFill>
                            <a:srgbClr val="1A1E23"/>
                          </a:solidFill>
                          <a:latin typeface="BIZ UDPGothic"/>
                          <a:ea typeface="BIZ UDPゴシック"/>
                          <a:cs typeface="BIZ UDPGothic"/>
                        </a:rPr>
                        <a:t>数字だけのキーが出た</a:t>
                      </a:r>
                    </a:p>
                  </a:txBody>
                  <a:tcPr marL="109728" marR="109728" marT="54864" marB="54864" anchor="ctr">
                    <a:lnL w="0">
                      <a:noFill/>
                    </a:lnL>
                    <a:lnR w="0">
                      <a:noFill/>
                    </a:lnR>
                    <a:lnT w="0">
                      <a:noFill/>
                    </a:lnT>
                    <a:lnB w="9525">
                      <a:solidFill>
                        <a:srgbClr val="D3D8DE"/>
                      </a:solidFill>
                    </a:lnB>
                    <a:noFill/>
                  </a:tcPr>
                </a:tc>
                <a:tc>
                  <a:txBody>
                    <a:bodyPr wrap="square" lIns="0" rIns="0" tIns="0" bIns="0" anchor="ctr">
                      <a:noAutofit/>
                    </a:bodyPr>
                    <a:lstStyle/>
                    <a:p>
                      <a:pPr algn="l">
                        <a:lnSpc>
                          <a:spcPct val="120000"/>
                        </a:lnSpc>
                      </a:pPr>
                      <a:r>
                        <a:rPr sz="1400" b="1" lang="ja-JP">
                          <a:solidFill>
                            <a:srgbClr val="1E7A34"/>
                          </a:solidFill>
                          <a:latin typeface="BIZ UDPGothic"/>
                          <a:ea typeface="BIZ UDPゴシック"/>
                          <a:cs typeface="BIZ UDPGothic"/>
                        </a:rPr>
                        <a:t>確認済み</a:t>
                      </a:r>
                    </a:p>
                  </a:txBody>
                  <a:tcPr marL="109728" marR="109728" marT="54864" marB="54864" anchor="ctr">
                    <a:lnL w="0">
                      <a:noFill/>
                    </a:lnL>
                    <a:lnR w="0">
                      <a:noFill/>
                    </a:lnR>
                    <a:lnT w="0">
                      <a:noFill/>
                    </a:lnT>
                    <a:lnB w="9525">
                      <a:solidFill>
                        <a:srgbClr val="D3D8DE"/>
                      </a:solidFill>
                    </a:lnB>
                    <a:noFill/>
                  </a:tcPr>
                </a:tc>
              </a:tr>
              <a:tr h="393192">
                <a:tc>
                  <a:txBody>
                    <a:bodyPr wrap="square" lIns="0" rIns="0" tIns="0" bIns="0" anchor="ctr">
                      <a:noAutofit/>
                    </a:bodyPr>
                    <a:lstStyle/>
                    <a:p>
                      <a:pPr algn="l">
                        <a:lnSpc>
                          <a:spcPct val="120000"/>
                        </a:lnSpc>
                      </a:pPr>
                      <a:r>
                        <a:rPr sz="1400" b="1" lang="ja-JP">
                          <a:solidFill>
                            <a:srgbClr val="1A1E23"/>
                          </a:solidFill>
                          <a:latin typeface="BIZ UDPGothic"/>
                          <a:ea typeface="BIZ UDPゴシック"/>
                          <a:cs typeface="BIZ UDPGothic"/>
                        </a:rPr>
                        <a:t>警告の自動表示</a:t>
                      </a:r>
                    </a:p>
                  </a:txBody>
                  <a:tcPr marL="0" marR="109728" marT="54864" marB="54864" anchor="ctr">
                    <a:lnL w="0">
                      <a:noFill/>
                    </a:lnL>
                    <a:lnR w="0">
                      <a:noFill/>
                    </a:lnR>
                    <a:lnT w="0">
                      <a:noFill/>
                    </a:lnT>
                    <a:lnB w="9525">
                      <a:solidFill>
                        <a:srgbClr val="D3D8DE"/>
                      </a:solidFill>
                    </a:lnB>
                    <a:noFill/>
                  </a:tcPr>
                </a:tc>
                <a:tc>
                  <a:txBody>
                    <a:bodyPr wrap="square" lIns="0" rIns="0" tIns="0" bIns="0" anchor="ctr">
                      <a:noAutofit/>
                    </a:bodyPr>
                    <a:lstStyle/>
                    <a:p>
                      <a:pPr algn="l">
                        <a:lnSpc>
                          <a:spcPct val="120000"/>
                        </a:lnSpc>
                      </a:pPr>
                      <a:r>
                        <a:rPr sz="1400" b="0" lang="ja-JP">
                          <a:solidFill>
                            <a:srgbClr val="1A1E23"/>
                          </a:solidFill>
                          <a:latin typeface="BIZ UDPGothic"/>
                          <a:ea typeface="BIZ UDPゴシック"/>
                          <a:cs typeface="BIZ UDPGothic"/>
                        </a:rPr>
                        <a:t>自動では全画面にならない。手首を上げると表示された</a:t>
                      </a:r>
                    </a:p>
                  </a:txBody>
                  <a:tcPr marL="109728" marR="109728" marT="54864" marB="54864" anchor="ctr">
                    <a:lnL w="0">
                      <a:noFill/>
                    </a:lnL>
                    <a:lnR w="0">
                      <a:noFill/>
                    </a:lnR>
                    <a:lnT w="0">
                      <a:noFill/>
                    </a:lnT>
                    <a:lnB w="9525">
                      <a:solidFill>
                        <a:srgbClr val="D3D8DE"/>
                      </a:solidFill>
                    </a:lnB>
                    <a:noFill/>
                  </a:tcPr>
                </a:tc>
                <a:tc>
                  <a:txBody>
                    <a:bodyPr wrap="square" lIns="0" rIns="0" tIns="0" bIns="0" anchor="ctr">
                      <a:noAutofit/>
                    </a:bodyPr>
                    <a:lstStyle/>
                    <a:p>
                      <a:pPr algn="l">
                        <a:lnSpc>
                          <a:spcPct val="120000"/>
                        </a:lnSpc>
                      </a:pPr>
                      <a:r>
                        <a:rPr sz="1400" b="1" lang="ja-JP">
                          <a:solidFill>
                            <a:srgbClr val="855600"/>
                          </a:solidFill>
                          <a:latin typeface="BIZ UDPGothic"/>
                          <a:ea typeface="BIZ UDPゴシック"/>
                          <a:cs typeface="BIZ UDPGothic"/>
                        </a:rPr>
                        <a:t>代替で対応</a:t>
                      </a:r>
                    </a:p>
                  </a:txBody>
                  <a:tcPr marL="109728" marR="109728" marT="54864" marB="54864" anchor="ctr">
                    <a:lnL w="0">
                      <a:noFill/>
                    </a:lnL>
                    <a:lnR w="0">
                      <a:noFill/>
                    </a:lnR>
                    <a:lnT w="0">
                      <a:noFill/>
                    </a:lnT>
                    <a:lnB w="9525">
                      <a:solidFill>
                        <a:srgbClr val="D3D8DE"/>
                      </a:solidFill>
                    </a:lnB>
                    <a:noFill/>
                  </a:tcPr>
                </a:tc>
              </a:tr>
            </a:tbl>
          </a:graphicData>
        </a:graphic>
      </p:graphicFrame>
      <p:sp>
        <p:nvSpPr>
          <p:cNvPr id="6" name="TextBox 5"/>
          <p:cNvSpPr txBox="1"/>
          <p:nvPr/>
        </p:nvSpPr>
        <p:spPr>
          <a:xfrm>
            <a:off x="685800" y="5806440"/>
            <a:ext cx="10820095" cy="365760"/>
          </a:xfrm>
          <a:prstGeom prst="rect">
            <a:avLst/>
          </a:prstGeom>
          <a:noFill/>
        </p:spPr>
        <p:txBody>
          <a:bodyPr wrap="square" lIns="0" rIns="0" tIns="0" bIns="0" anchor="t">
            <a:noAutofit/>
          </a:bodyPr>
          <a:lstStyle/>
          <a:p>
            <a:pPr algn="l">
              <a:lnSpc>
                <a:spcPct val="130000"/>
              </a:lnSpc>
            </a:pPr>
            <a:r>
              <a:rPr sz="1300" b="0" lang="ja-JP">
                <a:solidFill>
                  <a:srgbClr val="4B5560"/>
                </a:solidFill>
                <a:latin typeface="BIZ UDPGothic"/>
                <a:ea typeface="BIZ UDPゴシック"/>
                <a:cs typeface="BIZ UDPGothic"/>
              </a:rPr>
              <a:t>未確認: おやすみモード時の音、電池持ち、騒音下での気付き、Google Playからの配信（実機で確認する）</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685800" y="502920"/>
            <a:ext cx="10820095" cy="1188720"/>
          </a:xfrm>
        </p:spPr>
        <p:txBody>
          <a:bodyPr wrap="square" lIns="0" rIns="0" tIns="0" bIns="0" anchor="t">
            <a:noAutofit/>
          </a:bodyPr>
          <a:lstStyle/>
          <a:p>
            <a:pPr algn="l">
              <a:lnSpc>
                <a:spcPct val="120000"/>
              </a:lnSpc>
            </a:pPr>
            <a:r>
              <a:rPr sz="3000" b="1" lang="ja-JP">
                <a:solidFill>
                  <a:srgbClr val="1A1E23"/>
                </a:solidFill>
                <a:latin typeface="BIZ UDPGothic"/>
                <a:ea typeface="BIZ UDPゴシック"/>
                <a:cs typeface="BIZ UDPGothic"/>
              </a:rPr>
              <a:t>Wear OS 5では、</a:t>
            </a:r>
            <a:br/>
            <a:r>
              <a:rPr sz="3000" b="1" lang="ja-JP">
                <a:solidFill>
                  <a:srgbClr val="1A1E23"/>
                </a:solidFill>
                <a:latin typeface="BIZ UDPGothic"/>
                <a:ea typeface="BIZ UDPゴシック"/>
                <a:cs typeface="BIZ UDPGothic"/>
              </a:rPr>
              <a:t>警告が自動で全画面には表示されない</a:t>
            </a:r>
          </a:p>
        </p:txBody>
      </p:sp>
      <p:sp>
        <p:nvSpPr>
          <p:cNvPr id="3" name="TextBox 2"/>
          <p:cNvSpPr txBox="1"/>
          <p:nvPr/>
        </p:nvSpPr>
        <p:spPr>
          <a:xfrm>
            <a:off x="685800" y="6382512"/>
            <a:ext cx="9905695" cy="274320"/>
          </a:xfrm>
          <a:prstGeom prst="rect">
            <a:avLst/>
          </a:prstGeom>
          <a:noFill/>
        </p:spPr>
        <p:txBody>
          <a:bodyPr wrap="square" lIns="0" rIns="0" tIns="0" bIns="0" anchor="t">
            <a:noAutofit/>
          </a:bodyPr>
          <a:lstStyle/>
          <a:p>
            <a:pPr algn="l">
              <a:lnSpc>
                <a:spcPct val="130000"/>
              </a:lnSpc>
            </a:pPr>
            <a:r>
              <a:rPr sz="1000" b="0" lang="ja-JP">
                <a:solidFill>
                  <a:srgbClr val="69727D"/>
                </a:solidFill>
                <a:latin typeface="BIZ UDPGothic"/>
                <a:ea typeface="BIZ UDPゴシック"/>
                <a:cs typeface="BIZ UDPGothic"/>
              </a:rPr>
              <a:t>工事現場向け スマートウォッチ通知システム　試作の動作確認報告</a:t>
            </a:r>
          </a:p>
        </p:txBody>
      </p:sp>
      <p:sp>
        <p:nvSpPr>
          <p:cNvPr id="4" name="TextBox 3"/>
          <p:cNvSpPr txBox="1"/>
          <p:nvPr/>
        </p:nvSpPr>
        <p:spPr>
          <a:xfrm>
            <a:off x="10591495" y="6382512"/>
            <a:ext cx="914400" cy="274320"/>
          </a:xfrm>
          <a:prstGeom prst="rect">
            <a:avLst/>
          </a:prstGeom>
          <a:noFill/>
        </p:spPr>
        <p:txBody>
          <a:bodyPr wrap="square" lIns="0" rIns="0" tIns="0" bIns="0" anchor="t">
            <a:noAutofit/>
          </a:bodyPr>
          <a:lstStyle/>
          <a:p>
            <a:pPr algn="r">
              <a:lnSpc>
                <a:spcPct val="130000"/>
              </a:lnSpc>
            </a:pPr>
            <a:r>
              <a:rPr sz="1000" b="0" lang="ja-JP">
                <a:solidFill>
                  <a:srgbClr val="69727D"/>
                </a:solidFill>
                <a:latin typeface="BIZ UDPGothic"/>
                <a:ea typeface="BIZ UDPゴシック"/>
                <a:cs typeface="BIZ UDPGothic"/>
              </a:rPr>
              <a:t>13</a:t>
            </a:r>
          </a:p>
        </p:txBody>
      </p:sp>
      <p:sp>
        <p:nvSpPr>
          <p:cNvPr id="5" name="TextBox 4"/>
          <p:cNvSpPr txBox="1"/>
          <p:nvPr/>
        </p:nvSpPr>
        <p:spPr>
          <a:xfrm>
            <a:off x="685800" y="1783080"/>
            <a:ext cx="10820095" cy="731520"/>
          </a:xfrm>
          <a:prstGeom prst="rect">
            <a:avLst/>
          </a:prstGeom>
          <a:noFill/>
        </p:spPr>
        <p:txBody>
          <a:bodyPr wrap="square" lIns="0" rIns="0" tIns="0" bIns="0" anchor="t">
            <a:noAutofit/>
          </a:bodyPr>
          <a:lstStyle/>
          <a:p>
            <a:pPr algn="l">
              <a:lnSpc>
                <a:spcPct val="140000"/>
              </a:lnSpc>
            </a:pPr>
            <a:r>
              <a:rPr sz="1700" b="0" lang="ja-JP">
                <a:solidFill>
                  <a:srgbClr val="4B5560"/>
                </a:solidFill>
                <a:latin typeface="BIZ UDPGothic"/>
                <a:ea typeface="BIZ UDPゴシック"/>
                <a:cs typeface="BIZ UDPGothic"/>
              </a:rPr>
              <a:t>当初は、受信と同時に画面を点けて警告画面を全面に出す想定だった。Wear OS 5のエミュレーターでは、この仕組み（全画面通知）がOS側で働かなかった。</a:t>
            </a:r>
          </a:p>
        </p:txBody>
      </p:sp>
      <p:sp>
        <p:nvSpPr>
          <p:cNvPr id="6" name="TextBox 5"/>
          <p:cNvSpPr txBox="1"/>
          <p:nvPr/>
        </p:nvSpPr>
        <p:spPr>
          <a:xfrm>
            <a:off x="685800" y="2788920"/>
            <a:ext cx="10820095" cy="365760"/>
          </a:xfrm>
          <a:prstGeom prst="rect">
            <a:avLst/>
          </a:prstGeom>
          <a:noFill/>
        </p:spPr>
        <p:txBody>
          <a:bodyPr wrap="square" lIns="0" rIns="0" tIns="0" bIns="0" anchor="t">
            <a:noAutofit/>
          </a:bodyPr>
          <a:lstStyle/>
          <a:p>
            <a:pPr algn="l">
              <a:lnSpc>
                <a:spcPct val="130000"/>
              </a:lnSpc>
            </a:pPr>
            <a:r>
              <a:rPr sz="1800" b="1" lang="ja-JP">
                <a:solidFill>
                  <a:srgbClr val="1A1E23"/>
                </a:solidFill>
                <a:latin typeface="BIZ UDPGothic"/>
                <a:ea typeface="BIZ UDPゴシック"/>
                <a:cs typeface="BIZ UDPGothic"/>
              </a:rPr>
              <a:t>対応：気付かせるのは振動と音、内容は手首を上げて見る</a:t>
            </a:r>
          </a:p>
        </p:txBody>
      </p:sp>
      <p:cxnSp>
        <p:nvCxnSpPr>
          <p:cNvPr id="7" name="Connector 6"/>
          <p:cNvCxnSpPr/>
          <p:nvPr/>
        </p:nvCxnSpPr>
        <p:spPr>
          <a:xfrm>
            <a:off x="1965960" y="3794760"/>
            <a:ext cx="8259775" cy="0"/>
          </a:xfrm>
          <a:prstGeom prst="line">
            <a:avLst/>
          </a:prstGeom>
          <a:ln w="25400">
            <a:solidFill>
              <a:srgbClr val="D3D8DE"/>
            </a:solidFill>
          </a:ln>
        </p:spPr>
      </p:cxnSp>
      <p:sp>
        <p:nvSpPr>
          <p:cNvPr id="8" name="Oval 7"/>
          <p:cNvSpPr/>
          <p:nvPr/>
        </p:nvSpPr>
        <p:spPr>
          <a:xfrm>
            <a:off x="1783080" y="3611880"/>
            <a:ext cx="365760" cy="365760"/>
          </a:xfrm>
          <a:prstGeom prst="ellipse">
            <a:avLst/>
          </a:prstGeom>
          <a:solidFill>
            <a:srgbClr val="B3261E"/>
          </a:solidFill>
          <a:ln>
            <a:noFill/>
          </a:ln>
        </p:spPr>
        <p:txBody>
          <a:bodyPr rtlCol="0" anchor="ctr"/>
          <a:lstStyle/>
          <a:p>
            <a:pPr algn="ctr"/>
          </a:p>
        </p:txBody>
      </p:sp>
      <p:sp>
        <p:nvSpPr>
          <p:cNvPr id="9" name="TextBox 8"/>
          <p:cNvSpPr txBox="1"/>
          <p:nvPr/>
        </p:nvSpPr>
        <p:spPr>
          <a:xfrm>
            <a:off x="502919" y="4142232"/>
            <a:ext cx="2926080" cy="1280160"/>
          </a:xfrm>
          <a:prstGeom prst="rect">
            <a:avLst/>
          </a:prstGeom>
          <a:noFill/>
        </p:spPr>
        <p:txBody>
          <a:bodyPr wrap="square" lIns="0" rIns="0" tIns="0" bIns="0" anchor="t">
            <a:noAutofit/>
          </a:bodyPr>
          <a:lstStyle/>
          <a:p>
            <a:pPr algn="ctr">
              <a:lnSpc>
                <a:spcPct val="130000"/>
              </a:lnSpc>
            </a:pPr>
            <a:r>
              <a:rPr sz="1300" b="1" lang="ja-JP">
                <a:solidFill>
                  <a:srgbClr val="4B5560"/>
                </a:solidFill>
                <a:latin typeface="BIZ UDPGothic"/>
                <a:ea typeface="BIZ UDPゴシック"/>
                <a:cs typeface="BIZ UDPGothic"/>
              </a:rPr>
              <a:t>時計</a:t>
            </a:r>
          </a:p>
          <a:p>
            <a:pPr algn="ctr">
              <a:lnSpc>
                <a:spcPct val="130000"/>
              </a:lnSpc>
              <a:spcBef>
                <a:spcPts val="400"/>
              </a:spcBef>
            </a:pPr>
            <a:r>
              <a:rPr sz="1800" b="1" lang="ja-JP">
                <a:solidFill>
                  <a:srgbClr val="1A1E23"/>
                </a:solidFill>
                <a:latin typeface="BIZ UDPGothic"/>
                <a:ea typeface="BIZ UDPゴシック"/>
                <a:cs typeface="BIZ UDPGothic"/>
              </a:rPr>
              <a:t>振動とアラーム音で</a:t>
            </a:r>
            <a:br/>
            <a:r>
              <a:rPr sz="1800" b="1" lang="ja-JP">
                <a:solidFill>
                  <a:srgbClr val="1A1E23"/>
                </a:solidFill>
                <a:latin typeface="BIZ UDPGothic"/>
                <a:ea typeface="BIZ UDPゴシック"/>
                <a:cs typeface="BIZ UDPGothic"/>
              </a:rPr>
              <a:t>知らせる（自動）</a:t>
            </a:r>
          </a:p>
        </p:txBody>
      </p:sp>
      <p:sp>
        <p:nvSpPr>
          <p:cNvPr id="10" name="Oval 9"/>
          <p:cNvSpPr/>
          <p:nvPr/>
        </p:nvSpPr>
        <p:spPr>
          <a:xfrm>
            <a:off x="5912967" y="3611880"/>
            <a:ext cx="365760" cy="365760"/>
          </a:xfrm>
          <a:prstGeom prst="ellipse">
            <a:avLst/>
          </a:prstGeom>
          <a:solidFill>
            <a:srgbClr val="FFFFFF"/>
          </a:solidFill>
          <a:ln w="25400">
            <a:solidFill>
              <a:srgbClr val="1A1E23"/>
            </a:solidFill>
          </a:ln>
        </p:spPr>
        <p:txBody>
          <a:bodyPr rtlCol="0" anchor="ctr"/>
          <a:lstStyle/>
          <a:p>
            <a:pPr algn="ctr"/>
          </a:p>
        </p:txBody>
      </p:sp>
      <p:sp>
        <p:nvSpPr>
          <p:cNvPr id="11" name="TextBox 10"/>
          <p:cNvSpPr txBox="1"/>
          <p:nvPr/>
        </p:nvSpPr>
        <p:spPr>
          <a:xfrm>
            <a:off x="4632807" y="4142232"/>
            <a:ext cx="2926080" cy="1280160"/>
          </a:xfrm>
          <a:prstGeom prst="rect">
            <a:avLst/>
          </a:prstGeom>
          <a:noFill/>
        </p:spPr>
        <p:txBody>
          <a:bodyPr wrap="square" lIns="0" rIns="0" tIns="0" bIns="0" anchor="t">
            <a:noAutofit/>
          </a:bodyPr>
          <a:lstStyle/>
          <a:p>
            <a:pPr algn="ctr">
              <a:lnSpc>
                <a:spcPct val="130000"/>
              </a:lnSpc>
            </a:pPr>
            <a:r>
              <a:rPr sz="1300" b="1" lang="ja-JP">
                <a:solidFill>
                  <a:srgbClr val="4B5560"/>
                </a:solidFill>
                <a:latin typeface="BIZ UDPGothic"/>
                <a:ea typeface="BIZ UDPゴシック"/>
                <a:cs typeface="BIZ UDPGothic"/>
              </a:rPr>
              <a:t>作業員</a:t>
            </a:r>
          </a:p>
          <a:p>
            <a:pPr algn="ctr">
              <a:lnSpc>
                <a:spcPct val="130000"/>
              </a:lnSpc>
              <a:spcBef>
                <a:spcPts val="400"/>
              </a:spcBef>
            </a:pPr>
            <a:r>
              <a:rPr sz="1800" b="1" lang="ja-JP">
                <a:solidFill>
                  <a:srgbClr val="1A1E23"/>
                </a:solidFill>
                <a:latin typeface="BIZ UDPGothic"/>
                <a:ea typeface="BIZ UDPゴシック"/>
                <a:cs typeface="BIZ UDPGothic"/>
              </a:rPr>
              <a:t>気付いて</a:t>
            </a:r>
            <a:br/>
            <a:r>
              <a:rPr sz="1800" b="1" lang="ja-JP">
                <a:solidFill>
                  <a:srgbClr val="1A1E23"/>
                </a:solidFill>
                <a:latin typeface="BIZ UDPGothic"/>
                <a:ea typeface="BIZ UDPゴシック"/>
                <a:cs typeface="BIZ UDPGothic"/>
              </a:rPr>
              <a:t>手首を上げる</a:t>
            </a:r>
          </a:p>
        </p:txBody>
      </p:sp>
      <p:sp>
        <p:nvSpPr>
          <p:cNvPr id="12" name="Oval 11"/>
          <p:cNvSpPr/>
          <p:nvPr/>
        </p:nvSpPr>
        <p:spPr>
          <a:xfrm>
            <a:off x="10042855" y="3611880"/>
            <a:ext cx="365760" cy="365760"/>
          </a:xfrm>
          <a:prstGeom prst="ellipse">
            <a:avLst/>
          </a:prstGeom>
          <a:solidFill>
            <a:srgbClr val="1A1E23"/>
          </a:solidFill>
          <a:ln>
            <a:noFill/>
          </a:ln>
        </p:spPr>
        <p:txBody>
          <a:bodyPr rtlCol="0" anchor="ctr"/>
          <a:lstStyle/>
          <a:p>
            <a:pPr algn="ctr"/>
          </a:p>
        </p:txBody>
      </p:sp>
      <p:sp>
        <p:nvSpPr>
          <p:cNvPr id="13" name="TextBox 12"/>
          <p:cNvSpPr txBox="1"/>
          <p:nvPr/>
        </p:nvSpPr>
        <p:spPr>
          <a:xfrm>
            <a:off x="8762695" y="4142232"/>
            <a:ext cx="2926080" cy="1280160"/>
          </a:xfrm>
          <a:prstGeom prst="rect">
            <a:avLst/>
          </a:prstGeom>
          <a:noFill/>
        </p:spPr>
        <p:txBody>
          <a:bodyPr wrap="square" lIns="0" rIns="0" tIns="0" bIns="0" anchor="t">
            <a:noAutofit/>
          </a:bodyPr>
          <a:lstStyle/>
          <a:p>
            <a:pPr algn="ctr">
              <a:lnSpc>
                <a:spcPct val="130000"/>
              </a:lnSpc>
            </a:pPr>
            <a:r>
              <a:rPr sz="1300" b="1" lang="ja-JP">
                <a:solidFill>
                  <a:srgbClr val="4B5560"/>
                </a:solidFill>
                <a:latin typeface="BIZ UDPGothic"/>
                <a:ea typeface="BIZ UDPゴシック"/>
                <a:cs typeface="BIZ UDPGothic"/>
              </a:rPr>
              <a:t>時計</a:t>
            </a:r>
          </a:p>
          <a:p>
            <a:pPr algn="ctr">
              <a:lnSpc>
                <a:spcPct val="130000"/>
              </a:lnSpc>
              <a:spcBef>
                <a:spcPts val="400"/>
              </a:spcBef>
            </a:pPr>
            <a:r>
              <a:rPr sz="1800" b="1" lang="ja-JP">
                <a:solidFill>
                  <a:srgbClr val="1A1E23"/>
                </a:solidFill>
                <a:latin typeface="BIZ UDPGothic"/>
                <a:ea typeface="BIZ UDPゴシック"/>
                <a:cs typeface="BIZ UDPGothic"/>
              </a:rPr>
              <a:t>警告の内容と</a:t>
            </a:r>
            <a:br/>
            <a:r>
              <a:rPr sz="1800" b="1" lang="ja-JP">
                <a:solidFill>
                  <a:srgbClr val="1A1E23"/>
                </a:solidFill>
                <a:latin typeface="BIZ UDPGothic"/>
                <a:ea typeface="BIZ UDPゴシック"/>
                <a:cs typeface="BIZ UDPGothic"/>
              </a:rPr>
              <a:t>「確認」ボタンを出す</a:t>
            </a:r>
          </a:p>
        </p:txBody>
      </p:sp>
      <p:sp>
        <p:nvSpPr>
          <p:cNvPr id="14" name="TextBox 13"/>
          <p:cNvSpPr txBox="1"/>
          <p:nvPr/>
        </p:nvSpPr>
        <p:spPr>
          <a:xfrm>
            <a:off x="685800" y="5760720"/>
            <a:ext cx="10820095" cy="365760"/>
          </a:xfrm>
          <a:prstGeom prst="rect">
            <a:avLst/>
          </a:prstGeom>
          <a:noFill/>
        </p:spPr>
        <p:txBody>
          <a:bodyPr wrap="square" lIns="0" rIns="0" tIns="0" bIns="0" anchor="t">
            <a:noAutofit/>
          </a:bodyPr>
          <a:lstStyle/>
          <a:p>
            <a:pPr algn="l">
              <a:lnSpc>
                <a:spcPct val="130000"/>
              </a:lnSpc>
            </a:pPr>
            <a:r>
              <a:rPr sz="1400" b="0" lang="ja-JP">
                <a:solidFill>
                  <a:srgbClr val="4B5560"/>
                </a:solidFill>
                <a:latin typeface="BIZ UDPGothic"/>
                <a:ea typeface="BIZ UDPゴシック"/>
                <a:cs typeface="BIZ UDPGothic"/>
              </a:rPr>
              <a:t>実機（機種ごと）でも同じ動きかを確かめる。</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685800" y="502920"/>
            <a:ext cx="10820095" cy="1188720"/>
          </a:xfrm>
        </p:spPr>
        <p:txBody>
          <a:bodyPr wrap="square" lIns="0" rIns="0" tIns="0" bIns="0" anchor="t">
            <a:noAutofit/>
          </a:bodyPr>
          <a:lstStyle/>
          <a:p>
            <a:pPr algn="l">
              <a:lnSpc>
                <a:spcPct val="120000"/>
              </a:lnSpc>
            </a:pPr>
            <a:r>
              <a:rPr sz="3000" b="1" lang="ja-JP">
                <a:solidFill>
                  <a:srgbClr val="1A1E23"/>
                </a:solidFill>
                <a:latin typeface="BIZ UDPGothic"/>
                <a:ea typeface="BIZ UDPゴシック"/>
                <a:cs typeface="BIZ UDPGothic"/>
              </a:rPr>
              <a:t>届くまでの時間は、</a:t>
            </a:r>
            <a:br/>
            <a:r>
              <a:rPr sz="3000" b="1" lang="ja-JP">
                <a:solidFill>
                  <a:srgbClr val="1A1E23"/>
                </a:solidFill>
                <a:latin typeface="BIZ UDPGothic"/>
                <a:ea typeface="BIZ UDPゴシック"/>
                <a:cs typeface="BIZ UDPGothic"/>
              </a:rPr>
              <a:t>現場のWi-Fiと実機で測る必要がある</a:t>
            </a:r>
          </a:p>
        </p:txBody>
      </p:sp>
      <p:sp>
        <p:nvSpPr>
          <p:cNvPr id="3" name="TextBox 2"/>
          <p:cNvSpPr txBox="1"/>
          <p:nvPr/>
        </p:nvSpPr>
        <p:spPr>
          <a:xfrm>
            <a:off x="685800" y="6382512"/>
            <a:ext cx="9905695" cy="274320"/>
          </a:xfrm>
          <a:prstGeom prst="rect">
            <a:avLst/>
          </a:prstGeom>
          <a:noFill/>
        </p:spPr>
        <p:txBody>
          <a:bodyPr wrap="square" lIns="0" rIns="0" tIns="0" bIns="0" anchor="t">
            <a:noAutofit/>
          </a:bodyPr>
          <a:lstStyle/>
          <a:p>
            <a:pPr algn="l">
              <a:lnSpc>
                <a:spcPct val="130000"/>
              </a:lnSpc>
            </a:pPr>
            <a:r>
              <a:rPr sz="1000" b="0" lang="ja-JP">
                <a:solidFill>
                  <a:srgbClr val="69727D"/>
                </a:solidFill>
                <a:latin typeface="BIZ UDPGothic"/>
                <a:ea typeface="BIZ UDPゴシック"/>
                <a:cs typeface="BIZ UDPGothic"/>
              </a:rPr>
              <a:t>工事現場向け スマートウォッチ通知システム　試作の動作確認報告</a:t>
            </a:r>
          </a:p>
        </p:txBody>
      </p:sp>
      <p:sp>
        <p:nvSpPr>
          <p:cNvPr id="4" name="TextBox 3"/>
          <p:cNvSpPr txBox="1"/>
          <p:nvPr/>
        </p:nvSpPr>
        <p:spPr>
          <a:xfrm>
            <a:off x="10591495" y="6382512"/>
            <a:ext cx="914400" cy="274320"/>
          </a:xfrm>
          <a:prstGeom prst="rect">
            <a:avLst/>
          </a:prstGeom>
          <a:noFill/>
        </p:spPr>
        <p:txBody>
          <a:bodyPr wrap="square" lIns="0" rIns="0" tIns="0" bIns="0" anchor="t">
            <a:noAutofit/>
          </a:bodyPr>
          <a:lstStyle/>
          <a:p>
            <a:pPr algn="r">
              <a:lnSpc>
                <a:spcPct val="130000"/>
              </a:lnSpc>
            </a:pPr>
            <a:r>
              <a:rPr sz="1000" b="0" lang="ja-JP">
                <a:solidFill>
                  <a:srgbClr val="69727D"/>
                </a:solidFill>
                <a:latin typeface="BIZ UDPGothic"/>
                <a:ea typeface="BIZ UDPゴシック"/>
                <a:cs typeface="BIZ UDPGothic"/>
              </a:rPr>
              <a:t>14</a:t>
            </a:r>
          </a:p>
        </p:txBody>
      </p:sp>
      <p:sp>
        <p:nvSpPr>
          <p:cNvPr id="5" name="TextBox 4"/>
          <p:cNvSpPr txBox="1"/>
          <p:nvPr/>
        </p:nvSpPr>
        <p:spPr>
          <a:xfrm>
            <a:off x="685800" y="1965960"/>
            <a:ext cx="5044287" cy="3931920"/>
          </a:xfrm>
          <a:prstGeom prst="rect">
            <a:avLst/>
          </a:prstGeom>
          <a:noFill/>
        </p:spPr>
        <p:txBody>
          <a:bodyPr wrap="square" lIns="0" rIns="0" tIns="0" bIns="0" anchor="t">
            <a:noAutofit/>
          </a:bodyPr>
          <a:lstStyle/>
          <a:p>
            <a:pPr algn="l">
              <a:lnSpc>
                <a:spcPct val="135000"/>
              </a:lnSpc>
            </a:pPr>
            <a:r>
              <a:rPr sz="1500" b="1" lang="ja-JP">
                <a:solidFill>
                  <a:srgbClr val="4B5560"/>
                </a:solidFill>
                <a:latin typeface="BIZ UDPGothic"/>
                <a:ea typeface="BIZ UDPゴシック"/>
                <a:cs typeface="BIZ UDPGothic"/>
              </a:rPr>
              <a:t>開発環境で起きたこと</a:t>
            </a:r>
          </a:p>
          <a:p>
            <a:pPr algn="l">
              <a:lnSpc>
                <a:spcPct val="135000"/>
              </a:lnSpc>
              <a:spcBef>
                <a:spcPts val="1000"/>
              </a:spcBef>
            </a:pPr>
            <a:r>
              <a:rPr sz="1800" b="0" lang="ja-JP">
                <a:solidFill>
                  <a:srgbClr val="1A1E23"/>
                </a:solidFill>
                <a:latin typeface="BIZ UDPGothic"/>
                <a:ea typeface="BIZ UDPゴシック"/>
                <a:cs typeface="BIZ UDPGothic"/>
              </a:rPr>
              <a:t>長い時間なにもしないでいると、通知を受ける接続が切れたままになり、つなぎ直すまで届かないことがあった。</a:t>
            </a:r>
          </a:p>
          <a:p>
            <a:pPr algn="l">
              <a:lnSpc>
                <a:spcPct val="135000"/>
              </a:lnSpc>
              <a:spcBef>
                <a:spcPts val="1400"/>
              </a:spcBef>
            </a:pPr>
            <a:r>
              <a:rPr sz="1800" b="0" lang="ja-JP">
                <a:solidFill>
                  <a:srgbClr val="1A1E23"/>
                </a:solidFill>
                <a:latin typeface="BIZ UDPGothic"/>
                <a:ea typeface="BIZ UDPゴシック"/>
                <a:cs typeface="BIZ UDPGothic"/>
              </a:rPr>
              <a:t>開発用の回線（VPN経由）に特有の現象の可能性がある。</a:t>
            </a:r>
          </a:p>
        </p:txBody>
      </p:sp>
      <p:cxnSp>
        <p:nvCxnSpPr>
          <p:cNvPr id="6" name="Connector 5"/>
          <p:cNvCxnSpPr/>
          <p:nvPr/>
        </p:nvCxnSpPr>
        <p:spPr>
          <a:xfrm>
            <a:off x="6095847" y="2011680"/>
            <a:ext cx="0" cy="3749040"/>
          </a:xfrm>
          <a:prstGeom prst="line">
            <a:avLst/>
          </a:prstGeom>
          <a:ln w="12700">
            <a:solidFill>
              <a:srgbClr val="D3D8DE"/>
            </a:solidFill>
          </a:ln>
        </p:spPr>
      </p:cxnSp>
      <p:sp>
        <p:nvSpPr>
          <p:cNvPr id="7" name="TextBox 6"/>
          <p:cNvSpPr txBox="1"/>
          <p:nvPr/>
        </p:nvSpPr>
        <p:spPr>
          <a:xfrm>
            <a:off x="6461607" y="1965960"/>
            <a:ext cx="5044287" cy="3931920"/>
          </a:xfrm>
          <a:prstGeom prst="rect">
            <a:avLst/>
          </a:prstGeom>
          <a:noFill/>
        </p:spPr>
        <p:txBody>
          <a:bodyPr wrap="square" lIns="0" rIns="0" tIns="0" bIns="0" anchor="t">
            <a:noAutofit/>
          </a:bodyPr>
          <a:lstStyle/>
          <a:p>
            <a:pPr algn="l">
              <a:lnSpc>
                <a:spcPct val="135000"/>
              </a:lnSpc>
            </a:pPr>
            <a:r>
              <a:rPr sz="1500" b="1" lang="ja-JP">
                <a:solidFill>
                  <a:srgbClr val="4B5560"/>
                </a:solidFill>
                <a:latin typeface="BIZ UDPGothic"/>
                <a:ea typeface="BIZ UDPゴシック"/>
                <a:cs typeface="BIZ UDPGothic"/>
              </a:rPr>
              <a:t>現場で測ること</a:t>
            </a:r>
          </a:p>
          <a:p>
            <a:pPr algn="l">
              <a:lnSpc>
                <a:spcPct val="135000"/>
              </a:lnSpc>
              <a:spcBef>
                <a:spcPts val="1000"/>
              </a:spcBef>
            </a:pPr>
            <a:r>
              <a:rPr sz="1800" b="0" lang="ja-JP">
                <a:solidFill>
                  <a:srgbClr val="1A1E23"/>
                </a:solidFill>
                <a:latin typeface="BIZ UDPGothic"/>
                <a:ea typeface="BIZ UDPゴシック"/>
                <a:cs typeface="BIZ UDPGothic"/>
              </a:rPr>
              <a:t>1時間以上待機した後でも、10秒以内に届くか</a:t>
            </a:r>
          </a:p>
          <a:p>
            <a:pPr algn="l">
              <a:lnSpc>
                <a:spcPct val="135000"/>
              </a:lnSpc>
              <a:spcBef>
                <a:spcPts val="1400"/>
              </a:spcBef>
            </a:pPr>
            <a:r>
              <a:rPr sz="1800" b="0" lang="ja-JP">
                <a:solidFill>
                  <a:srgbClr val="1A1E23"/>
                </a:solidFill>
                <a:latin typeface="BIZ UDPGothic"/>
                <a:ea typeface="BIZ UDPゴシック"/>
                <a:cs typeface="BIZ UDPGothic"/>
              </a:rPr>
              <a:t>Wi-Fiの省電力機能で、接続が切れたままにならないか</a:t>
            </a:r>
          </a:p>
          <a:p>
            <a:pPr algn="l">
              <a:lnSpc>
                <a:spcPct val="135000"/>
              </a:lnSpc>
              <a:spcBef>
                <a:spcPts val="1400"/>
              </a:spcBef>
            </a:pPr>
            <a:r>
              <a:rPr sz="1800" b="0" lang="ja-JP">
                <a:solidFill>
                  <a:srgbClr val="1A1E23"/>
                </a:solidFill>
                <a:latin typeface="BIZ UDPGothic"/>
                <a:ea typeface="BIZ UDPゴシック"/>
                <a:cs typeface="BIZ UDPGothic"/>
              </a:rPr>
              <a:t>切れていた間の警告が、つながった後に届くか（5分を過ぎた古い警告は鳴らさない設定）</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685800" y="502920"/>
            <a:ext cx="10820095" cy="1188720"/>
          </a:xfrm>
        </p:spPr>
        <p:txBody>
          <a:bodyPr wrap="square" lIns="0" rIns="0" tIns="0" bIns="0" anchor="t">
            <a:noAutofit/>
          </a:bodyPr>
          <a:lstStyle/>
          <a:p>
            <a:pPr algn="l">
              <a:lnSpc>
                <a:spcPct val="120000"/>
              </a:lnSpc>
            </a:pPr>
            <a:r>
              <a:rPr sz="3000" b="1" lang="ja-JP">
                <a:solidFill>
                  <a:srgbClr val="1A1E23"/>
                </a:solidFill>
                <a:latin typeface="BIZ UDPGothic"/>
                <a:ea typeface="BIZ UDPゴシック"/>
                <a:cs typeface="BIZ UDPGothic"/>
              </a:rPr>
              <a:t>次は実機で、4つの点を確かめる</a:t>
            </a:r>
          </a:p>
        </p:txBody>
      </p:sp>
      <p:sp>
        <p:nvSpPr>
          <p:cNvPr id="3" name="TextBox 2"/>
          <p:cNvSpPr txBox="1"/>
          <p:nvPr/>
        </p:nvSpPr>
        <p:spPr>
          <a:xfrm>
            <a:off x="685800" y="6382512"/>
            <a:ext cx="9905695" cy="274320"/>
          </a:xfrm>
          <a:prstGeom prst="rect">
            <a:avLst/>
          </a:prstGeom>
          <a:noFill/>
        </p:spPr>
        <p:txBody>
          <a:bodyPr wrap="square" lIns="0" rIns="0" tIns="0" bIns="0" anchor="t">
            <a:noAutofit/>
          </a:bodyPr>
          <a:lstStyle/>
          <a:p>
            <a:pPr algn="l">
              <a:lnSpc>
                <a:spcPct val="130000"/>
              </a:lnSpc>
            </a:pPr>
            <a:r>
              <a:rPr sz="1000" b="0" lang="ja-JP">
                <a:solidFill>
                  <a:srgbClr val="69727D"/>
                </a:solidFill>
                <a:latin typeface="BIZ UDPGothic"/>
                <a:ea typeface="BIZ UDPゴシック"/>
                <a:cs typeface="BIZ UDPGothic"/>
              </a:rPr>
              <a:t>工事現場向け スマートウォッチ通知システム　試作の動作確認報告</a:t>
            </a:r>
          </a:p>
        </p:txBody>
      </p:sp>
      <p:sp>
        <p:nvSpPr>
          <p:cNvPr id="4" name="TextBox 3"/>
          <p:cNvSpPr txBox="1"/>
          <p:nvPr/>
        </p:nvSpPr>
        <p:spPr>
          <a:xfrm>
            <a:off x="10591495" y="6382512"/>
            <a:ext cx="914400" cy="274320"/>
          </a:xfrm>
          <a:prstGeom prst="rect">
            <a:avLst/>
          </a:prstGeom>
          <a:noFill/>
        </p:spPr>
        <p:txBody>
          <a:bodyPr wrap="square" lIns="0" rIns="0" tIns="0" bIns="0" anchor="t">
            <a:noAutofit/>
          </a:bodyPr>
          <a:lstStyle/>
          <a:p>
            <a:pPr algn="r">
              <a:lnSpc>
                <a:spcPct val="130000"/>
              </a:lnSpc>
            </a:pPr>
            <a:r>
              <a:rPr sz="1000" b="0" lang="ja-JP">
                <a:solidFill>
                  <a:srgbClr val="69727D"/>
                </a:solidFill>
                <a:latin typeface="BIZ UDPGothic"/>
                <a:ea typeface="BIZ UDPゴシック"/>
                <a:cs typeface="BIZ UDPGothic"/>
              </a:rPr>
              <a:t>15</a:t>
            </a:r>
          </a:p>
        </p:txBody>
      </p:sp>
      <p:graphicFrame>
        <p:nvGraphicFramePr>
          <p:cNvPr id="5" name="Table 4"/>
          <p:cNvGraphicFramePr>
            <a:graphicFrameLocks noGrp="1"/>
          </p:cNvGraphicFramePr>
          <p:nvPr/>
        </p:nvGraphicFramePr>
        <p:xfrm>
          <a:off x="685800" y="1874519"/>
          <a:ext cx="10820095" cy="3438144"/>
        </p:xfrm>
        <a:graphic>
          <a:graphicData uri="http://schemas.openxmlformats.org/drawingml/2006/table">
            <a:tbl>
              <a:tblPr>
                <a:tableStyleId>{2D5ABB26-0587-4C30-8999-92F81FD0307C}</a:tableStyleId>
              </a:tblPr>
              <a:tblGrid>
                <a:gridCol w="2743200"/>
                <a:gridCol w="8076895"/>
              </a:tblGrid>
              <a:tr h="329184">
                <a:tc>
                  <a:txBody>
                    <a:bodyPr wrap="square" lIns="0" rIns="0" tIns="0" bIns="0" anchor="ctr">
                      <a:noAutofit/>
                    </a:bodyPr>
                    <a:lstStyle/>
                    <a:p>
                      <a:pPr algn="l">
                        <a:lnSpc>
                          <a:spcPct val="130000"/>
                        </a:lnSpc>
                      </a:pPr>
                      <a:r>
                        <a:rPr sz="1250" b="1" lang="ja-JP">
                          <a:solidFill>
                            <a:srgbClr val="4B5560"/>
                          </a:solidFill>
                          <a:latin typeface="BIZ UDPGothic"/>
                          <a:ea typeface="BIZ UDPゴシック"/>
                          <a:cs typeface="BIZ UDPGothic"/>
                        </a:rPr>
                        <a:t>確認すること</a:t>
                      </a:r>
                    </a:p>
                  </a:txBody>
                  <a:tcPr marL="0" marR="109728" marT="54864" marB="54864" anchor="ctr">
                    <a:lnL w="0">
                      <a:noFill/>
                    </a:lnL>
                    <a:lnR w="0">
                      <a:noFill/>
                    </a:lnR>
                    <a:lnT w="0">
                      <a:noFill/>
                    </a:lnT>
                    <a:lnB w="12700">
                      <a:solidFill>
                        <a:srgbClr val="69727D"/>
                      </a:solidFill>
                    </a:lnB>
                    <a:noFill/>
                  </a:tcPr>
                </a:tc>
                <a:tc>
                  <a:txBody>
                    <a:bodyPr wrap="square" lIns="0" rIns="0" tIns="0" bIns="0" anchor="ctr">
                      <a:noAutofit/>
                    </a:bodyPr>
                    <a:lstStyle/>
                    <a:p>
                      <a:pPr algn="l">
                        <a:lnSpc>
                          <a:spcPct val="130000"/>
                        </a:lnSpc>
                      </a:pPr>
                      <a:r>
                        <a:rPr sz="1250" b="1" lang="ja-JP">
                          <a:solidFill>
                            <a:srgbClr val="4B5560"/>
                          </a:solidFill>
                          <a:latin typeface="BIZ UDPGothic"/>
                          <a:ea typeface="BIZ UDPゴシック"/>
                          <a:cs typeface="BIZ UDPGothic"/>
                        </a:rPr>
                        <a:t>合格の目安（暫定）</a:t>
                      </a:r>
                    </a:p>
                  </a:txBody>
                  <a:tcPr marL="109728" marR="109728" marT="54864" marB="54864" anchor="ctr">
                    <a:lnL w="0">
                      <a:noFill/>
                    </a:lnL>
                    <a:lnR w="0">
                      <a:noFill/>
                    </a:lnR>
                    <a:lnT w="0">
                      <a:noFill/>
                    </a:lnT>
                    <a:lnB w="12700">
                      <a:solidFill>
                        <a:srgbClr val="69727D"/>
                      </a:solidFill>
                    </a:lnB>
                    <a:noFill/>
                  </a:tcPr>
                </a:tc>
              </a:tr>
              <a:tr h="777240">
                <a:tc>
                  <a:txBody>
                    <a:bodyPr wrap="square" lIns="0" rIns="0" tIns="0" bIns="0" anchor="ctr">
                      <a:noAutofit/>
                    </a:bodyPr>
                    <a:lstStyle/>
                    <a:p>
                      <a:pPr algn="l">
                        <a:lnSpc>
                          <a:spcPct val="120000"/>
                        </a:lnSpc>
                      </a:pPr>
                      <a:r>
                        <a:rPr sz="1700" b="1" lang="ja-JP">
                          <a:solidFill>
                            <a:srgbClr val="1A1E23"/>
                          </a:solidFill>
                          <a:latin typeface="BIZ UDPGothic"/>
                          <a:ea typeface="BIZ UDPゴシック"/>
                          <a:cs typeface="BIZ UDPGothic"/>
                        </a:rPr>
                        <a:t>画面の表示</a:t>
                      </a:r>
                    </a:p>
                  </a:txBody>
                  <a:tcPr marL="0" marR="109728" marT="54864" marB="54864" anchor="ctr">
                    <a:lnL w="0">
                      <a:noFill/>
                    </a:lnL>
                    <a:lnR w="0">
                      <a:noFill/>
                    </a:lnR>
                    <a:lnT w="0">
                      <a:noFill/>
                    </a:lnT>
                    <a:lnB w="9525">
                      <a:solidFill>
                        <a:srgbClr val="D3D8DE"/>
                      </a:solidFill>
                    </a:lnB>
                    <a:noFill/>
                  </a:tcPr>
                </a:tc>
                <a:tc>
                  <a:txBody>
                    <a:bodyPr wrap="square" lIns="0" rIns="0" tIns="0" bIns="0" anchor="ctr">
                      <a:noAutofit/>
                    </a:bodyPr>
                    <a:lstStyle/>
                    <a:p>
                      <a:pPr algn="l">
                        <a:lnSpc>
                          <a:spcPct val="120000"/>
                        </a:lnSpc>
                      </a:pPr>
                      <a:r>
                        <a:rPr sz="1700" b="0" lang="ja-JP">
                          <a:solidFill>
                            <a:srgbClr val="1A1E23"/>
                          </a:solidFill>
                          <a:latin typeface="BIZ UDPGothic"/>
                          <a:ea typeface="BIZ UDPゴシック"/>
                          <a:cs typeface="BIZ UDPGothic"/>
                        </a:rPr>
                        <a:t>手首を上げた時に、警告と「確認」ボタンが出る。自動で点灯するかも記録する</a:t>
                      </a:r>
                    </a:p>
                  </a:txBody>
                  <a:tcPr marL="109728" marR="109728" marT="54864" marB="54864" anchor="ctr">
                    <a:lnL w="0">
                      <a:noFill/>
                    </a:lnL>
                    <a:lnR w="0">
                      <a:noFill/>
                    </a:lnR>
                    <a:lnT w="0">
                      <a:noFill/>
                    </a:lnT>
                    <a:lnB w="9525">
                      <a:solidFill>
                        <a:srgbClr val="D3D8DE"/>
                      </a:solidFill>
                    </a:lnB>
                    <a:noFill/>
                  </a:tcPr>
                </a:tc>
              </a:tr>
              <a:tr h="777240">
                <a:tc>
                  <a:txBody>
                    <a:bodyPr wrap="square" lIns="0" rIns="0" tIns="0" bIns="0" anchor="ctr">
                      <a:noAutofit/>
                    </a:bodyPr>
                    <a:lstStyle/>
                    <a:p>
                      <a:pPr algn="l">
                        <a:lnSpc>
                          <a:spcPct val="120000"/>
                        </a:lnSpc>
                      </a:pPr>
                      <a:r>
                        <a:rPr sz="1700" b="1" lang="ja-JP">
                          <a:solidFill>
                            <a:srgbClr val="1A1E23"/>
                          </a:solidFill>
                          <a:latin typeface="BIZ UDPGothic"/>
                          <a:ea typeface="BIZ UDPゴシック"/>
                          <a:cs typeface="BIZ UDPGothic"/>
                        </a:rPr>
                        <a:t>届くまでの時間</a:t>
                      </a:r>
                    </a:p>
                  </a:txBody>
                  <a:tcPr marL="0" marR="109728" marT="54864" marB="54864" anchor="ctr">
                    <a:lnL w="0">
                      <a:noFill/>
                    </a:lnL>
                    <a:lnR w="0">
                      <a:noFill/>
                    </a:lnR>
                    <a:lnT w="0">
                      <a:noFill/>
                    </a:lnT>
                    <a:lnB w="9525">
                      <a:solidFill>
                        <a:srgbClr val="D3D8DE"/>
                      </a:solidFill>
                    </a:lnB>
                    <a:noFill/>
                  </a:tcPr>
                </a:tc>
                <a:tc>
                  <a:txBody>
                    <a:bodyPr wrap="square" lIns="0" rIns="0" tIns="0" bIns="0" anchor="ctr">
                      <a:noAutofit/>
                    </a:bodyPr>
                    <a:lstStyle/>
                    <a:p>
                      <a:pPr algn="l">
                        <a:lnSpc>
                          <a:spcPct val="120000"/>
                        </a:lnSpc>
                      </a:pPr>
                      <a:r>
                        <a:rPr sz="1700" b="0" lang="ja-JP">
                          <a:solidFill>
                            <a:srgbClr val="1A1E23"/>
                          </a:solidFill>
                          <a:latin typeface="BIZ UDPGothic"/>
                          <a:ea typeface="BIZ UDPゴシック"/>
                          <a:cs typeface="BIZ UDPGothic"/>
                        </a:rPr>
                        <a:t>画面を消して1時間以上置いた後でも、送信から10秒以内に通知が出る</a:t>
                      </a:r>
                    </a:p>
                  </a:txBody>
                  <a:tcPr marL="109728" marR="109728" marT="54864" marB="54864" anchor="ctr">
                    <a:lnL w="0">
                      <a:noFill/>
                    </a:lnL>
                    <a:lnR w="0">
                      <a:noFill/>
                    </a:lnR>
                    <a:lnT w="0">
                      <a:noFill/>
                    </a:lnT>
                    <a:lnB w="9525">
                      <a:solidFill>
                        <a:srgbClr val="D3D8DE"/>
                      </a:solidFill>
                    </a:lnB>
                    <a:noFill/>
                  </a:tcPr>
                </a:tc>
              </a:tr>
              <a:tr h="777240">
                <a:tc>
                  <a:txBody>
                    <a:bodyPr wrap="square" lIns="0" rIns="0" tIns="0" bIns="0" anchor="ctr">
                      <a:noAutofit/>
                    </a:bodyPr>
                    <a:lstStyle/>
                    <a:p>
                      <a:pPr algn="l">
                        <a:lnSpc>
                          <a:spcPct val="120000"/>
                        </a:lnSpc>
                      </a:pPr>
                      <a:r>
                        <a:rPr sz="1700" b="1" lang="ja-JP">
                          <a:solidFill>
                            <a:srgbClr val="1A1E23"/>
                          </a:solidFill>
                          <a:latin typeface="BIZ UDPGothic"/>
                          <a:ea typeface="BIZ UDPゴシック"/>
                          <a:cs typeface="BIZ UDPGothic"/>
                        </a:rPr>
                        <a:t>騒音下での気付き</a:t>
                      </a:r>
                    </a:p>
                  </a:txBody>
                  <a:tcPr marL="0" marR="109728" marT="54864" marB="54864" anchor="ctr">
                    <a:lnL w="0">
                      <a:noFill/>
                    </a:lnL>
                    <a:lnR w="0">
                      <a:noFill/>
                    </a:lnR>
                    <a:lnT w="0">
                      <a:noFill/>
                    </a:lnT>
                    <a:lnB w="9525">
                      <a:solidFill>
                        <a:srgbClr val="D3D8DE"/>
                      </a:solidFill>
                    </a:lnB>
                    <a:noFill/>
                  </a:tcPr>
                </a:tc>
                <a:tc>
                  <a:txBody>
                    <a:bodyPr wrap="square" lIns="0" rIns="0" tIns="0" bIns="0" anchor="ctr">
                      <a:noAutofit/>
                    </a:bodyPr>
                    <a:lstStyle/>
                    <a:p>
                      <a:pPr algn="l">
                        <a:lnSpc>
                          <a:spcPct val="120000"/>
                        </a:lnSpc>
                      </a:pPr>
                      <a:r>
                        <a:rPr sz="1700" b="0" lang="ja-JP">
                          <a:solidFill>
                            <a:srgbClr val="1A1E23"/>
                          </a:solidFill>
                          <a:latin typeface="BIZ UDPGothic"/>
                          <a:ea typeface="BIZ UDPゴシック"/>
                          <a:cs typeface="BIZ UDPGothic"/>
                        </a:rPr>
                        <a:t>重機の近くなど実際の騒音の中で、作業員が振動と音に気付ける</a:t>
                      </a:r>
                    </a:p>
                  </a:txBody>
                  <a:tcPr marL="109728" marR="109728" marT="54864" marB="54864" anchor="ctr">
                    <a:lnL w="0">
                      <a:noFill/>
                    </a:lnL>
                    <a:lnR w="0">
                      <a:noFill/>
                    </a:lnR>
                    <a:lnT w="0">
                      <a:noFill/>
                    </a:lnT>
                    <a:lnB w="9525">
                      <a:solidFill>
                        <a:srgbClr val="D3D8DE"/>
                      </a:solidFill>
                    </a:lnB>
                    <a:noFill/>
                  </a:tcPr>
                </a:tc>
              </a:tr>
              <a:tr h="777240">
                <a:tc>
                  <a:txBody>
                    <a:bodyPr wrap="square" lIns="0" rIns="0" tIns="0" bIns="0" anchor="ctr">
                      <a:noAutofit/>
                    </a:bodyPr>
                    <a:lstStyle/>
                    <a:p>
                      <a:pPr algn="l">
                        <a:lnSpc>
                          <a:spcPct val="120000"/>
                        </a:lnSpc>
                      </a:pPr>
                      <a:r>
                        <a:rPr sz="1700" b="1" lang="ja-JP">
                          <a:solidFill>
                            <a:srgbClr val="1A1E23"/>
                          </a:solidFill>
                          <a:latin typeface="BIZ UDPGothic"/>
                          <a:ea typeface="BIZ UDPゴシック"/>
                          <a:cs typeface="BIZ UDPGothic"/>
                        </a:rPr>
                        <a:t>電池持ち</a:t>
                      </a:r>
                    </a:p>
                  </a:txBody>
                  <a:tcPr marL="0" marR="109728" marT="54864" marB="54864" anchor="ctr">
                    <a:lnL w="0">
                      <a:noFill/>
                    </a:lnL>
                    <a:lnR w="0">
                      <a:noFill/>
                    </a:lnR>
                    <a:lnT w="0">
                      <a:noFill/>
                    </a:lnT>
                    <a:lnB w="9525">
                      <a:solidFill>
                        <a:srgbClr val="D3D8DE"/>
                      </a:solidFill>
                    </a:lnB>
                    <a:noFill/>
                  </a:tcPr>
                </a:tc>
                <a:tc>
                  <a:txBody>
                    <a:bodyPr wrap="square" lIns="0" rIns="0" tIns="0" bIns="0" anchor="ctr">
                      <a:noAutofit/>
                    </a:bodyPr>
                    <a:lstStyle/>
                    <a:p>
                      <a:pPr algn="l">
                        <a:lnSpc>
                          <a:spcPct val="120000"/>
                        </a:lnSpc>
                      </a:pPr>
                      <a:r>
                        <a:rPr sz="1700" b="0" lang="ja-JP">
                          <a:solidFill>
                            <a:srgbClr val="1A1E23"/>
                          </a:solidFill>
                          <a:latin typeface="BIZ UDPGothic"/>
                          <a:ea typeface="BIZ UDPゴシック"/>
                          <a:cs typeface="BIZ UDPGothic"/>
                        </a:rPr>
                        <a:t>Wi-Fiにつないだまま1勤務（8〜10時間）着けて、終業時に20%以上残る</a:t>
                      </a:r>
                    </a:p>
                  </a:txBody>
                  <a:tcPr marL="109728" marR="109728" marT="54864" marB="54864" anchor="ctr">
                    <a:lnL w="0">
                      <a:noFill/>
                    </a:lnL>
                    <a:lnR w="0">
                      <a:noFill/>
                    </a:lnR>
                    <a:lnT w="0">
                      <a:noFill/>
                    </a:lnT>
                    <a:lnB w="9525">
                      <a:solidFill>
                        <a:srgbClr val="D3D8DE"/>
                      </a:solidFill>
                    </a:lnB>
                    <a:noFill/>
                  </a:tcPr>
                </a:tc>
              </a:tr>
            </a:tbl>
          </a:graphicData>
        </a:graphic>
      </p:graphicFrame>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685800" y="502920"/>
            <a:ext cx="10820095" cy="1188720"/>
          </a:xfrm>
        </p:spPr>
        <p:txBody>
          <a:bodyPr wrap="square" lIns="0" rIns="0" tIns="0" bIns="0" anchor="t">
            <a:noAutofit/>
          </a:bodyPr>
          <a:lstStyle/>
          <a:p>
            <a:pPr algn="l">
              <a:lnSpc>
                <a:spcPct val="120000"/>
              </a:lnSpc>
            </a:pPr>
            <a:r>
              <a:rPr sz="3000" b="1" lang="ja-JP">
                <a:solidFill>
                  <a:srgbClr val="1A1E23"/>
                </a:solidFill>
                <a:latin typeface="BIZ UDPGothic"/>
                <a:ea typeface="BIZ UDPゴシック"/>
                <a:cs typeface="BIZ UDPGothic"/>
              </a:rPr>
              <a:t>アプリの配布と更新は、</a:t>
            </a:r>
            <a:br/>
            <a:r>
              <a:rPr sz="3000" b="1" lang="ja-JP">
                <a:solidFill>
                  <a:srgbClr val="1A1E23"/>
                </a:solidFill>
                <a:latin typeface="BIZ UDPGothic"/>
                <a:ea typeface="BIZ UDPゴシック"/>
                <a:cs typeface="BIZ UDPGothic"/>
              </a:rPr>
              <a:t>Google Playの内部テストで行う</a:t>
            </a:r>
          </a:p>
        </p:txBody>
      </p:sp>
      <p:sp>
        <p:nvSpPr>
          <p:cNvPr id="3" name="TextBox 2"/>
          <p:cNvSpPr txBox="1"/>
          <p:nvPr/>
        </p:nvSpPr>
        <p:spPr>
          <a:xfrm>
            <a:off x="685800" y="6382512"/>
            <a:ext cx="9905695" cy="274320"/>
          </a:xfrm>
          <a:prstGeom prst="rect">
            <a:avLst/>
          </a:prstGeom>
          <a:noFill/>
        </p:spPr>
        <p:txBody>
          <a:bodyPr wrap="square" lIns="0" rIns="0" tIns="0" bIns="0" anchor="t">
            <a:noAutofit/>
          </a:bodyPr>
          <a:lstStyle/>
          <a:p>
            <a:pPr algn="l">
              <a:lnSpc>
                <a:spcPct val="130000"/>
              </a:lnSpc>
            </a:pPr>
            <a:r>
              <a:rPr sz="1000" b="0" lang="ja-JP">
                <a:solidFill>
                  <a:srgbClr val="69727D"/>
                </a:solidFill>
                <a:latin typeface="BIZ UDPGothic"/>
                <a:ea typeface="BIZ UDPゴシック"/>
                <a:cs typeface="BIZ UDPGothic"/>
              </a:rPr>
              <a:t>工事現場向け スマートウォッチ通知システム　試作の動作確認報告</a:t>
            </a:r>
          </a:p>
        </p:txBody>
      </p:sp>
      <p:sp>
        <p:nvSpPr>
          <p:cNvPr id="4" name="TextBox 3"/>
          <p:cNvSpPr txBox="1"/>
          <p:nvPr/>
        </p:nvSpPr>
        <p:spPr>
          <a:xfrm>
            <a:off x="10591495" y="6382512"/>
            <a:ext cx="914400" cy="274320"/>
          </a:xfrm>
          <a:prstGeom prst="rect">
            <a:avLst/>
          </a:prstGeom>
          <a:noFill/>
        </p:spPr>
        <p:txBody>
          <a:bodyPr wrap="square" lIns="0" rIns="0" tIns="0" bIns="0" anchor="t">
            <a:noAutofit/>
          </a:bodyPr>
          <a:lstStyle/>
          <a:p>
            <a:pPr algn="r">
              <a:lnSpc>
                <a:spcPct val="130000"/>
              </a:lnSpc>
            </a:pPr>
            <a:r>
              <a:rPr sz="1000" b="0" lang="ja-JP">
                <a:solidFill>
                  <a:srgbClr val="69727D"/>
                </a:solidFill>
                <a:latin typeface="BIZ UDPGothic"/>
                <a:ea typeface="BIZ UDPゴシック"/>
                <a:cs typeface="BIZ UDPGothic"/>
              </a:rPr>
              <a:t>16</a:t>
            </a:r>
          </a:p>
        </p:txBody>
      </p:sp>
      <p:sp>
        <p:nvSpPr>
          <p:cNvPr id="5" name="TextBox 4"/>
          <p:cNvSpPr txBox="1"/>
          <p:nvPr/>
        </p:nvSpPr>
        <p:spPr>
          <a:xfrm>
            <a:off x="685800" y="2103120"/>
            <a:ext cx="6400800" cy="3840480"/>
          </a:xfrm>
          <a:prstGeom prst="rect">
            <a:avLst/>
          </a:prstGeom>
          <a:noFill/>
        </p:spPr>
        <p:txBody>
          <a:bodyPr wrap="square" lIns="0" rIns="0" tIns="0" bIns="0" anchor="t">
            <a:noAutofit/>
          </a:bodyPr>
          <a:lstStyle/>
          <a:p>
            <a:pPr algn="l">
              <a:lnSpc>
                <a:spcPct val="135000"/>
              </a:lnSpc>
            </a:pPr>
            <a:r>
              <a:rPr sz="2000" b="0" lang="ja-JP">
                <a:solidFill>
                  <a:srgbClr val="1A1E23"/>
                </a:solidFill>
                <a:latin typeface="BIZ UDPGothic"/>
                <a:ea typeface="BIZ UDPゴシック"/>
                <a:cs typeface="BIZ UDPGothic"/>
              </a:rPr>
              <a:t>時計のPlayストアからインストールでき、更新も同じ経路で届く。</a:t>
            </a:r>
          </a:p>
          <a:p>
            <a:pPr algn="l">
              <a:lnSpc>
                <a:spcPct val="135000"/>
              </a:lnSpc>
              <a:spcBef>
                <a:spcPts val="2200"/>
              </a:spcBef>
            </a:pPr>
            <a:r>
              <a:rPr sz="2000" b="0" lang="ja-JP">
                <a:solidFill>
                  <a:srgbClr val="1A1E23"/>
                </a:solidFill>
                <a:latin typeface="BIZ UDPGothic"/>
                <a:ea typeface="BIZ UDPゴシック"/>
                <a:cs typeface="BIZ UDPGothic"/>
              </a:rPr>
              <a:t>テスターは最大100アカウント。少数の共通アカウントで時計にログインして使う。</a:t>
            </a:r>
          </a:p>
          <a:p>
            <a:pPr algn="l">
              <a:lnSpc>
                <a:spcPct val="135000"/>
              </a:lnSpc>
              <a:spcBef>
                <a:spcPts val="2200"/>
              </a:spcBef>
            </a:pPr>
            <a:r>
              <a:rPr sz="2000" b="0" lang="ja-JP">
                <a:solidFill>
                  <a:srgbClr val="1A1E23"/>
                </a:solidFill>
                <a:latin typeface="BIZ UDPGothic"/>
                <a:ea typeface="BIZ UDPゴシック"/>
                <a:cs typeface="BIZ UDPGothic"/>
              </a:rPr>
              <a:t>開始にはGoogle Play Consoleの開発者登録（登録料25米ドル、本人確認）が要る。</a:t>
            </a:r>
            <a:r>
              <a:rPr sz="2000" b="1" lang="ja-JP">
                <a:solidFill>
                  <a:srgbClr val="855600"/>
                </a:solidFill>
                <a:latin typeface="BIZ UDPGothic"/>
                <a:ea typeface="BIZ UDPゴシック"/>
                <a:cs typeface="BIZ UDPGothic"/>
              </a:rPr>
              <a:t>まだ登録していない。</a:t>
            </a:r>
          </a:p>
        </p:txBody>
      </p:sp>
      <p:sp>
        <p:nvSpPr>
          <p:cNvPr id="6" name="Rounded Rectangle 5"/>
          <p:cNvSpPr/>
          <p:nvPr/>
        </p:nvSpPr>
        <p:spPr>
          <a:xfrm>
            <a:off x="8092440" y="2103120"/>
            <a:ext cx="3383280" cy="868680"/>
          </a:xfrm>
          <a:prstGeom prst="roundRect">
            <a:avLst>
              <a:gd name="adj" fmla="val 12000"/>
            </a:avLst>
          </a:prstGeom>
          <a:solidFill>
            <a:srgbClr val="F1F3F5"/>
          </a:solidFill>
          <a:ln>
            <a:noFill/>
          </a:ln>
        </p:spPr>
        <p:txBody>
          <a:bodyPr rtlCol="0" anchor="ctr" wrap="square" lIns="0" rIns="0" tIns="0" bIns="0">
            <a:noAutofit/>
          </a:bodyPr>
          <a:lstStyle/>
          <a:p>
            <a:pPr algn="ctr">
              <a:lnSpc>
                <a:spcPct val="115000"/>
              </a:lnSpc>
            </a:pPr>
            <a:r>
              <a:rPr sz="1600" b="1" lang="ja-JP">
                <a:solidFill>
                  <a:srgbClr val="1A1E23"/>
                </a:solidFill>
                <a:latin typeface="BIZ UDPGothic"/>
                <a:ea typeface="BIZ UDPゴシック"/>
                <a:cs typeface="BIZ UDPGothic"/>
              </a:rPr>
              <a:t>アプリを</a:t>
            </a:r>
            <a:br/>
            <a:r>
              <a:rPr sz="1600" b="1" lang="ja-JP">
                <a:solidFill>
                  <a:srgbClr val="1A1E23"/>
                </a:solidFill>
                <a:latin typeface="BIZ UDPGothic"/>
                <a:ea typeface="BIZ UDPゴシック"/>
                <a:cs typeface="BIZ UDPGothic"/>
              </a:rPr>
              <a:t>内部テストに公開</a:t>
            </a:r>
          </a:p>
        </p:txBody>
      </p:sp>
      <p:cxnSp>
        <p:nvCxnSpPr>
          <p:cNvPr id="7" name="Connector 6"/>
          <p:cNvCxnSpPr/>
          <p:nvPr/>
        </p:nvCxnSpPr>
        <p:spPr>
          <a:xfrm>
            <a:off x="9784080" y="3026664"/>
            <a:ext cx="0" cy="347472"/>
          </a:xfrm>
          <a:prstGeom prst="line">
            <a:avLst/>
          </a:prstGeom>
          <a:ln w="19050">
            <a:solidFill>
              <a:srgbClr val="4B5560"/>
            </a:solidFill>
            <a:tailEnd type="triangle" w="med" len="med"/>
          </a:ln>
        </p:spPr>
      </p:cxnSp>
      <p:sp>
        <p:nvSpPr>
          <p:cNvPr id="8" name="Rounded Rectangle 7"/>
          <p:cNvSpPr/>
          <p:nvPr/>
        </p:nvSpPr>
        <p:spPr>
          <a:xfrm>
            <a:off x="8092440" y="3429000"/>
            <a:ext cx="3383280" cy="868680"/>
          </a:xfrm>
          <a:prstGeom prst="roundRect">
            <a:avLst>
              <a:gd name="adj" fmla="val 12000"/>
            </a:avLst>
          </a:prstGeom>
          <a:solidFill>
            <a:srgbClr val="F1F3F5"/>
          </a:solidFill>
          <a:ln>
            <a:noFill/>
          </a:ln>
        </p:spPr>
        <p:txBody>
          <a:bodyPr rtlCol="0" anchor="ctr" wrap="square" lIns="0" rIns="0" tIns="0" bIns="0">
            <a:noAutofit/>
          </a:bodyPr>
          <a:lstStyle/>
          <a:p>
            <a:pPr algn="ctr">
              <a:lnSpc>
                <a:spcPct val="115000"/>
              </a:lnSpc>
            </a:pPr>
            <a:r>
              <a:rPr sz="1600" b="1" lang="ja-JP">
                <a:solidFill>
                  <a:srgbClr val="1A1E23"/>
                </a:solidFill>
                <a:latin typeface="BIZ UDPGothic"/>
                <a:ea typeface="BIZ UDPゴシック"/>
                <a:cs typeface="BIZ UDPGothic"/>
              </a:rPr>
              <a:t>Google Play</a:t>
            </a:r>
          </a:p>
        </p:txBody>
      </p:sp>
      <p:cxnSp>
        <p:nvCxnSpPr>
          <p:cNvPr id="9" name="Connector 8"/>
          <p:cNvCxnSpPr/>
          <p:nvPr/>
        </p:nvCxnSpPr>
        <p:spPr>
          <a:xfrm>
            <a:off x="9784080" y="4352544"/>
            <a:ext cx="0" cy="347472"/>
          </a:xfrm>
          <a:prstGeom prst="line">
            <a:avLst/>
          </a:prstGeom>
          <a:ln w="19050">
            <a:solidFill>
              <a:srgbClr val="4B5560"/>
            </a:solidFill>
            <a:tailEnd type="triangle" w="med" len="med"/>
          </a:ln>
        </p:spPr>
      </p:cxnSp>
      <p:sp>
        <p:nvSpPr>
          <p:cNvPr id="10" name="Rounded Rectangle 9"/>
          <p:cNvSpPr/>
          <p:nvPr/>
        </p:nvSpPr>
        <p:spPr>
          <a:xfrm>
            <a:off x="8092440" y="4754879"/>
            <a:ext cx="3383280" cy="868680"/>
          </a:xfrm>
          <a:prstGeom prst="roundRect">
            <a:avLst>
              <a:gd name="adj" fmla="val 12000"/>
            </a:avLst>
          </a:prstGeom>
          <a:solidFill>
            <a:srgbClr val="F1F3F5"/>
          </a:solidFill>
          <a:ln>
            <a:noFill/>
          </a:ln>
        </p:spPr>
        <p:txBody>
          <a:bodyPr rtlCol="0" anchor="ctr" wrap="square" lIns="0" rIns="0" tIns="0" bIns="0">
            <a:noAutofit/>
          </a:bodyPr>
          <a:lstStyle/>
          <a:p>
            <a:pPr algn="ctr">
              <a:lnSpc>
                <a:spcPct val="115000"/>
              </a:lnSpc>
            </a:pPr>
            <a:r>
              <a:rPr sz="1600" b="1" lang="ja-JP">
                <a:solidFill>
                  <a:srgbClr val="1A1E23"/>
                </a:solidFill>
                <a:latin typeface="BIZ UDPGothic"/>
                <a:ea typeface="BIZ UDPゴシック"/>
                <a:cs typeface="BIZ UDPGothic"/>
              </a:rPr>
              <a:t>テスター用アカウントで</a:t>
            </a:r>
            <a:br/>
            <a:r>
              <a:rPr sz="1600" b="1" lang="ja-JP">
                <a:solidFill>
                  <a:srgbClr val="1A1E23"/>
                </a:solidFill>
                <a:latin typeface="BIZ UDPGothic"/>
                <a:ea typeface="BIZ UDPゴシック"/>
                <a:cs typeface="BIZ UDPGothic"/>
              </a:rPr>
              <a:t>ログインした時計</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685800" y="502920"/>
            <a:ext cx="10820095" cy="1188720"/>
          </a:xfrm>
        </p:spPr>
        <p:txBody>
          <a:bodyPr wrap="square" lIns="0" rIns="0" tIns="0" bIns="0" anchor="t">
            <a:noAutofit/>
          </a:bodyPr>
          <a:lstStyle/>
          <a:p>
            <a:pPr algn="l">
              <a:lnSpc>
                <a:spcPct val="120000"/>
              </a:lnSpc>
            </a:pPr>
            <a:r>
              <a:rPr sz="3000" b="1" lang="ja-JP">
                <a:solidFill>
                  <a:srgbClr val="1A1E23"/>
                </a:solidFill>
                <a:latin typeface="BIZ UDPGothic"/>
                <a:ea typeface="BIZ UDPゴシック"/>
                <a:cs typeface="BIZ UDPGothic"/>
              </a:rPr>
              <a:t>既存の監視システムへ組み込むため、</a:t>
            </a:r>
            <a:br/>
            <a:r>
              <a:rPr sz="3000" b="1" lang="ja-JP">
                <a:solidFill>
                  <a:srgbClr val="1A1E23"/>
                </a:solidFill>
                <a:latin typeface="BIZ UDPGothic"/>
                <a:ea typeface="BIZ UDPゴシック"/>
                <a:cs typeface="BIZ UDPGothic"/>
              </a:rPr>
              <a:t>構成を教えてください</a:t>
            </a:r>
          </a:p>
        </p:txBody>
      </p:sp>
      <p:sp>
        <p:nvSpPr>
          <p:cNvPr id="3" name="TextBox 2"/>
          <p:cNvSpPr txBox="1"/>
          <p:nvPr/>
        </p:nvSpPr>
        <p:spPr>
          <a:xfrm>
            <a:off x="685800" y="6382512"/>
            <a:ext cx="9905695" cy="274320"/>
          </a:xfrm>
          <a:prstGeom prst="rect">
            <a:avLst/>
          </a:prstGeom>
          <a:noFill/>
        </p:spPr>
        <p:txBody>
          <a:bodyPr wrap="square" lIns="0" rIns="0" tIns="0" bIns="0" anchor="t">
            <a:noAutofit/>
          </a:bodyPr>
          <a:lstStyle/>
          <a:p>
            <a:pPr algn="l">
              <a:lnSpc>
                <a:spcPct val="130000"/>
              </a:lnSpc>
            </a:pPr>
            <a:r>
              <a:rPr sz="1000" b="0" lang="ja-JP">
                <a:solidFill>
                  <a:srgbClr val="69727D"/>
                </a:solidFill>
                <a:latin typeface="BIZ UDPGothic"/>
                <a:ea typeface="BIZ UDPゴシック"/>
                <a:cs typeface="BIZ UDPGothic"/>
              </a:rPr>
              <a:t>工事現場向け スマートウォッチ通知システム　試作の動作確認報告</a:t>
            </a:r>
          </a:p>
        </p:txBody>
      </p:sp>
      <p:sp>
        <p:nvSpPr>
          <p:cNvPr id="4" name="TextBox 3"/>
          <p:cNvSpPr txBox="1"/>
          <p:nvPr/>
        </p:nvSpPr>
        <p:spPr>
          <a:xfrm>
            <a:off x="10591495" y="6382512"/>
            <a:ext cx="914400" cy="274320"/>
          </a:xfrm>
          <a:prstGeom prst="rect">
            <a:avLst/>
          </a:prstGeom>
          <a:noFill/>
        </p:spPr>
        <p:txBody>
          <a:bodyPr wrap="square" lIns="0" rIns="0" tIns="0" bIns="0" anchor="t">
            <a:noAutofit/>
          </a:bodyPr>
          <a:lstStyle/>
          <a:p>
            <a:pPr algn="r">
              <a:lnSpc>
                <a:spcPct val="130000"/>
              </a:lnSpc>
            </a:pPr>
            <a:r>
              <a:rPr sz="1000" b="0" lang="ja-JP">
                <a:solidFill>
                  <a:srgbClr val="69727D"/>
                </a:solidFill>
                <a:latin typeface="BIZ UDPGothic"/>
                <a:ea typeface="BIZ UDPゴシック"/>
                <a:cs typeface="BIZ UDPGothic"/>
              </a:rPr>
              <a:t>17</a:t>
            </a:r>
          </a:p>
        </p:txBody>
      </p:sp>
      <p:sp>
        <p:nvSpPr>
          <p:cNvPr id="5" name="TextBox 4"/>
          <p:cNvSpPr txBox="1"/>
          <p:nvPr/>
        </p:nvSpPr>
        <p:spPr>
          <a:xfrm>
            <a:off x="685800" y="2148840"/>
            <a:ext cx="5852160" cy="3657600"/>
          </a:xfrm>
          <a:prstGeom prst="rect">
            <a:avLst/>
          </a:prstGeom>
          <a:noFill/>
        </p:spPr>
        <p:txBody>
          <a:bodyPr wrap="square" lIns="0" rIns="0" tIns="0" bIns="0" anchor="t">
            <a:noAutofit/>
          </a:bodyPr>
          <a:lstStyle/>
          <a:p>
            <a:pPr algn="l">
              <a:lnSpc>
                <a:spcPct val="135000"/>
              </a:lnSpc>
            </a:pPr>
            <a:r>
              <a:rPr sz="1500" b="1" lang="ja-JP">
                <a:solidFill>
                  <a:srgbClr val="4B5560"/>
                </a:solidFill>
                <a:latin typeface="BIZ UDPGothic"/>
                <a:ea typeface="BIZ UDPゴシック"/>
                <a:cs typeface="BIZ UDPGothic"/>
              </a:rPr>
              <a:t>教えていただきたいこと</a:t>
            </a:r>
          </a:p>
          <a:p>
            <a:pPr algn="l">
              <a:lnSpc>
                <a:spcPct val="135000"/>
              </a:lnSpc>
              <a:spcBef>
                <a:spcPts val="1000"/>
              </a:spcBef>
            </a:pPr>
            <a:r>
              <a:rPr sz="1900" b="0" lang="ja-JP">
                <a:solidFill>
                  <a:srgbClr val="1A1E23"/>
                </a:solidFill>
                <a:latin typeface="BIZ UDPGothic"/>
                <a:ea typeface="BIZ UDPゴシック"/>
                <a:cs typeface="BIZ UDPGothic"/>
              </a:rPr>
              <a:t>使っているプログラム言語とデータベース製品</a:t>
            </a:r>
          </a:p>
          <a:p>
            <a:pPr algn="l">
              <a:lnSpc>
                <a:spcPct val="135000"/>
              </a:lnSpc>
              <a:spcBef>
                <a:spcPts val="1400"/>
              </a:spcBef>
            </a:pPr>
            <a:r>
              <a:rPr sz="1900" b="0" lang="ja-JP">
                <a:solidFill>
                  <a:srgbClr val="1A1E23"/>
                </a:solidFill>
                <a:latin typeface="BIZ UDPGothic"/>
                <a:ea typeface="BIZ UDPゴシック"/>
                <a:cs typeface="BIZ UDPGothic"/>
              </a:rPr>
              <a:t>サーバーの置き場所（現場のWi-Fiから登録APIへ届くか）</a:t>
            </a:r>
          </a:p>
          <a:p>
            <a:pPr algn="l">
              <a:lnSpc>
                <a:spcPct val="135000"/>
              </a:lnSpc>
              <a:spcBef>
                <a:spcPts val="1400"/>
              </a:spcBef>
            </a:pPr>
            <a:r>
              <a:rPr sz="1900" b="0" lang="ja-JP">
                <a:solidFill>
                  <a:srgbClr val="1A1E23"/>
                </a:solidFill>
                <a:latin typeface="BIZ UDPGothic"/>
                <a:ea typeface="BIZ UDPゴシック"/>
                <a:cs typeface="BIZ UDPGothic"/>
              </a:rPr>
              <a:t>登録APIに使うドメイン名（HTTPSで公開）</a:t>
            </a:r>
          </a:p>
          <a:p>
            <a:pPr algn="l">
              <a:lnSpc>
                <a:spcPct val="135000"/>
              </a:lnSpc>
              <a:spcBef>
                <a:spcPts val="1400"/>
              </a:spcBef>
            </a:pPr>
            <a:r>
              <a:rPr sz="1900" b="0" lang="ja-JP">
                <a:solidFill>
                  <a:srgbClr val="1A1E23"/>
                </a:solidFill>
                <a:latin typeface="BIZ UDPGothic"/>
                <a:ea typeface="BIZ UDPゴシック"/>
                <a:cs typeface="BIZ UDPGothic"/>
              </a:rPr>
              <a:t>異常が続いた時に、警報を繰り返すルール</a:t>
            </a:r>
          </a:p>
        </p:txBody>
      </p:sp>
      <p:sp>
        <p:nvSpPr>
          <p:cNvPr id="6" name="Rounded Rectangle 5"/>
          <p:cNvSpPr/>
          <p:nvPr/>
        </p:nvSpPr>
        <p:spPr>
          <a:xfrm>
            <a:off x="7086600" y="1828800"/>
            <a:ext cx="4419295" cy="3566160"/>
          </a:xfrm>
          <a:prstGeom prst="roundRect">
            <a:avLst>
              <a:gd name="adj" fmla="val 5000"/>
            </a:avLst>
          </a:prstGeom>
          <a:solidFill>
            <a:srgbClr val="F1F3F5"/>
          </a:solidFill>
          <a:ln>
            <a:noFill/>
          </a:ln>
        </p:spPr>
        <p:txBody>
          <a:bodyPr rtlCol="0" anchor="ctr"/>
          <a:lstStyle/>
          <a:p>
            <a:pPr algn="ctr"/>
          </a:p>
        </p:txBody>
      </p:sp>
      <p:sp>
        <p:nvSpPr>
          <p:cNvPr id="7" name="TextBox 6"/>
          <p:cNvSpPr txBox="1"/>
          <p:nvPr/>
        </p:nvSpPr>
        <p:spPr>
          <a:xfrm>
            <a:off x="7452360" y="2148840"/>
            <a:ext cx="3687775" cy="3108960"/>
          </a:xfrm>
          <a:prstGeom prst="rect">
            <a:avLst/>
          </a:prstGeom>
          <a:noFill/>
        </p:spPr>
        <p:txBody>
          <a:bodyPr wrap="square" lIns="0" rIns="0" tIns="0" bIns="0" anchor="t">
            <a:noAutofit/>
          </a:bodyPr>
          <a:lstStyle/>
          <a:p>
            <a:pPr algn="l">
              <a:lnSpc>
                <a:spcPct val="135000"/>
              </a:lnSpc>
            </a:pPr>
            <a:r>
              <a:rPr sz="1500" b="1" lang="ja-JP">
                <a:solidFill>
                  <a:srgbClr val="4B5560"/>
                </a:solidFill>
                <a:latin typeface="BIZ UDPGothic"/>
                <a:ea typeface="BIZ UDPゴシック"/>
                <a:cs typeface="BIZ UDPGothic"/>
              </a:rPr>
              <a:t>こちらで用意済み</a:t>
            </a:r>
          </a:p>
          <a:p>
            <a:pPr algn="l">
              <a:lnSpc>
                <a:spcPct val="135000"/>
              </a:lnSpc>
              <a:spcBef>
                <a:spcPts val="1000"/>
              </a:spcBef>
            </a:pPr>
            <a:r>
              <a:rPr sz="1800" b="0" lang="ja-JP">
                <a:solidFill>
                  <a:srgbClr val="1A1E23"/>
                </a:solidFill>
                <a:latin typeface="BIZ UDPGothic"/>
                <a:ea typeface="BIZ UDPゴシック"/>
                <a:cs typeface="BIZ UDPGothic"/>
              </a:rPr>
              <a:t>登録APIと送信処理の</a:t>
            </a:r>
            <a:br/>
            <a:r>
              <a:rPr sz="1800" b="0" lang="ja-JP">
                <a:solidFill>
                  <a:srgbClr val="1A1E23"/>
                </a:solidFill>
                <a:latin typeface="BIZ UDPGothic"/>
                <a:ea typeface="BIZ UDPゴシック"/>
                <a:cs typeface="BIZ UDPGothic"/>
              </a:rPr>
              <a:t>参考実装（Python）</a:t>
            </a:r>
          </a:p>
          <a:p>
            <a:pPr algn="l">
              <a:lnSpc>
                <a:spcPct val="135000"/>
              </a:lnSpc>
              <a:spcBef>
                <a:spcPts val="1400"/>
              </a:spcBef>
            </a:pPr>
            <a:r>
              <a:rPr sz="1800" b="0" lang="ja-JP">
                <a:solidFill>
                  <a:srgbClr val="1A1E23"/>
                </a:solidFill>
                <a:latin typeface="BIZ UDPGothic"/>
                <a:ea typeface="BIZ UDPゴシック"/>
                <a:cs typeface="BIZ UDPGothic"/>
              </a:rPr>
              <a:t>テーブル定義</a:t>
            </a:r>
            <a:br/>
            <a:r>
              <a:rPr sz="1800" b="0" lang="ja-JP">
                <a:solidFill>
                  <a:srgbClr val="1A1E23"/>
                </a:solidFill>
                <a:latin typeface="BIZ UDPGothic"/>
                <a:ea typeface="BIZ UDPゴシック"/>
                <a:cs typeface="BIZ UDPGothic"/>
              </a:rPr>
              <a:t>（PostgreSQL・MySQL用）</a:t>
            </a:r>
          </a:p>
          <a:p>
            <a:pPr algn="l">
              <a:lnSpc>
                <a:spcPct val="135000"/>
              </a:lnSpc>
              <a:spcBef>
                <a:spcPts val="1400"/>
              </a:spcBef>
            </a:pPr>
            <a:r>
              <a:rPr sz="1800" b="0" lang="ja-JP">
                <a:solidFill>
                  <a:srgbClr val="1A1E23"/>
                </a:solidFill>
                <a:latin typeface="BIZ UDPGothic"/>
                <a:ea typeface="BIZ UDPゴシック"/>
                <a:cs typeface="BIZ UDPGothic"/>
              </a:rPr>
              <a:t>自動テスト34件（すべて成功）</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685800" y="502920"/>
            <a:ext cx="10820095" cy="1188720"/>
          </a:xfrm>
        </p:spPr>
        <p:txBody>
          <a:bodyPr wrap="square" lIns="0" rIns="0" tIns="0" bIns="0" anchor="t">
            <a:noAutofit/>
          </a:bodyPr>
          <a:lstStyle/>
          <a:p>
            <a:pPr algn="l">
              <a:lnSpc>
                <a:spcPct val="120000"/>
              </a:lnSpc>
            </a:pPr>
            <a:r>
              <a:rPr sz="3000" b="1" lang="ja-JP">
                <a:solidFill>
                  <a:srgbClr val="1A1E23"/>
                </a:solidFill>
                <a:latin typeface="BIZ UDPGothic"/>
                <a:ea typeface="BIZ UDPゴシック"/>
                <a:cs typeface="BIZ UDPGothic"/>
              </a:rPr>
              <a:t>対象機種は、現場試行の前に決めたい</a:t>
            </a:r>
          </a:p>
        </p:txBody>
      </p:sp>
      <p:sp>
        <p:nvSpPr>
          <p:cNvPr id="3" name="TextBox 2"/>
          <p:cNvSpPr txBox="1"/>
          <p:nvPr/>
        </p:nvSpPr>
        <p:spPr>
          <a:xfrm>
            <a:off x="685800" y="6382512"/>
            <a:ext cx="9905695" cy="274320"/>
          </a:xfrm>
          <a:prstGeom prst="rect">
            <a:avLst/>
          </a:prstGeom>
          <a:noFill/>
        </p:spPr>
        <p:txBody>
          <a:bodyPr wrap="square" lIns="0" rIns="0" tIns="0" bIns="0" anchor="t">
            <a:noAutofit/>
          </a:bodyPr>
          <a:lstStyle/>
          <a:p>
            <a:pPr algn="l">
              <a:lnSpc>
                <a:spcPct val="130000"/>
              </a:lnSpc>
            </a:pPr>
            <a:r>
              <a:rPr sz="1000" b="0" lang="ja-JP">
                <a:solidFill>
                  <a:srgbClr val="69727D"/>
                </a:solidFill>
                <a:latin typeface="BIZ UDPGothic"/>
                <a:ea typeface="BIZ UDPゴシック"/>
                <a:cs typeface="BIZ UDPGothic"/>
              </a:rPr>
              <a:t>工事現場向け スマートウォッチ通知システム　試作の動作確認報告</a:t>
            </a:r>
          </a:p>
        </p:txBody>
      </p:sp>
      <p:sp>
        <p:nvSpPr>
          <p:cNvPr id="4" name="TextBox 3"/>
          <p:cNvSpPr txBox="1"/>
          <p:nvPr/>
        </p:nvSpPr>
        <p:spPr>
          <a:xfrm>
            <a:off x="10591495" y="6382512"/>
            <a:ext cx="914400" cy="274320"/>
          </a:xfrm>
          <a:prstGeom prst="rect">
            <a:avLst/>
          </a:prstGeom>
          <a:noFill/>
        </p:spPr>
        <p:txBody>
          <a:bodyPr wrap="square" lIns="0" rIns="0" tIns="0" bIns="0" anchor="t">
            <a:noAutofit/>
          </a:bodyPr>
          <a:lstStyle/>
          <a:p>
            <a:pPr algn="r">
              <a:lnSpc>
                <a:spcPct val="130000"/>
              </a:lnSpc>
            </a:pPr>
            <a:r>
              <a:rPr sz="1000" b="0" lang="ja-JP">
                <a:solidFill>
                  <a:srgbClr val="69727D"/>
                </a:solidFill>
                <a:latin typeface="BIZ UDPGothic"/>
                <a:ea typeface="BIZ UDPゴシック"/>
                <a:cs typeface="BIZ UDPGothic"/>
              </a:rPr>
              <a:t>18</a:t>
            </a:r>
          </a:p>
        </p:txBody>
      </p:sp>
      <p:sp>
        <p:nvSpPr>
          <p:cNvPr id="5" name="TextBox 4"/>
          <p:cNvSpPr txBox="1"/>
          <p:nvPr/>
        </p:nvSpPr>
        <p:spPr>
          <a:xfrm>
            <a:off x="685800" y="1965960"/>
            <a:ext cx="5044287" cy="3931920"/>
          </a:xfrm>
          <a:prstGeom prst="rect">
            <a:avLst/>
          </a:prstGeom>
          <a:noFill/>
        </p:spPr>
        <p:txBody>
          <a:bodyPr wrap="square" lIns="0" rIns="0" tIns="0" bIns="0" anchor="t">
            <a:noAutofit/>
          </a:bodyPr>
          <a:lstStyle/>
          <a:p>
            <a:pPr algn="l">
              <a:lnSpc>
                <a:spcPct val="135000"/>
              </a:lnSpc>
            </a:pPr>
            <a:r>
              <a:rPr sz="1500" b="1" lang="ja-JP">
                <a:solidFill>
                  <a:srgbClr val="4B5560"/>
                </a:solidFill>
                <a:latin typeface="BIZ UDPGothic"/>
                <a:ea typeface="BIZ UDPゴシック"/>
                <a:cs typeface="BIZ UDPGothic"/>
              </a:rPr>
              <a:t>現場試行の前に決める</a:t>
            </a:r>
          </a:p>
          <a:p>
            <a:pPr algn="l">
              <a:lnSpc>
                <a:spcPct val="135000"/>
              </a:lnSpc>
              <a:spcBef>
                <a:spcPts val="1000"/>
              </a:spcBef>
            </a:pPr>
            <a:r>
              <a:rPr sz="1900" b="1" lang="ja-JP">
                <a:solidFill>
                  <a:srgbClr val="1A1E23"/>
                </a:solidFill>
                <a:latin typeface="BIZ UDPGothic"/>
                <a:ea typeface="BIZ UDPゴシック"/>
                <a:cs typeface="BIZ UDPGothic"/>
              </a:rPr>
              <a:t>対象機種　</a:t>
            </a:r>
            <a:r>
              <a:rPr sz="1900" b="0" lang="ja-JP">
                <a:solidFill>
                  <a:srgbClr val="1A1E23"/>
                </a:solidFill>
                <a:latin typeface="BIZ UDPGothic"/>
                <a:ea typeface="BIZ UDPゴシック"/>
                <a:cs typeface="BIZ UDPGothic"/>
              </a:rPr>
              <a:t>スピーカー付き、Wear OS 4以降、2.4GHzのWi-Fiに対応</a:t>
            </a:r>
          </a:p>
          <a:p>
            <a:pPr algn="l">
              <a:lnSpc>
                <a:spcPct val="135000"/>
              </a:lnSpc>
              <a:spcBef>
                <a:spcPts val="1800"/>
              </a:spcBef>
            </a:pPr>
            <a:r>
              <a:rPr sz="1900" b="1" lang="ja-JP">
                <a:solidFill>
                  <a:srgbClr val="1E7A34"/>
                </a:solidFill>
                <a:latin typeface="BIZ UDPGothic"/>
                <a:ea typeface="BIZ UDPゴシック"/>
                <a:cs typeface="BIZ UDPGothic"/>
              </a:rPr>
              <a:t>決定済み　</a:t>
            </a:r>
            <a:r>
              <a:rPr sz="1900" b="0" lang="ja-JP">
                <a:solidFill>
                  <a:srgbClr val="1A1E23"/>
                </a:solidFill>
                <a:latin typeface="BIZ UDPGothic"/>
                <a:ea typeface="BIZ UDPゴシック"/>
                <a:cs typeface="BIZ UDPGothic"/>
              </a:rPr>
              <a:t>通知は現場単位で、現場の時計すべてへ送る</a:t>
            </a:r>
          </a:p>
        </p:txBody>
      </p:sp>
      <p:cxnSp>
        <p:nvCxnSpPr>
          <p:cNvPr id="6" name="Connector 5"/>
          <p:cNvCxnSpPr/>
          <p:nvPr/>
        </p:nvCxnSpPr>
        <p:spPr>
          <a:xfrm>
            <a:off x="6095847" y="2011680"/>
            <a:ext cx="0" cy="3749040"/>
          </a:xfrm>
          <a:prstGeom prst="line">
            <a:avLst/>
          </a:prstGeom>
          <a:ln w="12700">
            <a:solidFill>
              <a:srgbClr val="D3D8DE"/>
            </a:solidFill>
          </a:ln>
        </p:spPr>
      </p:cxnSp>
      <p:sp>
        <p:nvSpPr>
          <p:cNvPr id="7" name="TextBox 6"/>
          <p:cNvSpPr txBox="1"/>
          <p:nvPr/>
        </p:nvSpPr>
        <p:spPr>
          <a:xfrm>
            <a:off x="6461607" y="1965960"/>
            <a:ext cx="5044287" cy="3931920"/>
          </a:xfrm>
          <a:prstGeom prst="rect">
            <a:avLst/>
          </a:prstGeom>
          <a:noFill/>
        </p:spPr>
        <p:txBody>
          <a:bodyPr wrap="square" lIns="0" rIns="0" tIns="0" bIns="0" anchor="t">
            <a:noAutofit/>
          </a:bodyPr>
          <a:lstStyle/>
          <a:p>
            <a:pPr algn="l">
              <a:lnSpc>
                <a:spcPct val="135000"/>
              </a:lnSpc>
            </a:pPr>
            <a:r>
              <a:rPr sz="1500" b="1" lang="ja-JP">
                <a:solidFill>
                  <a:srgbClr val="4B5560"/>
                </a:solidFill>
                <a:latin typeface="BIZ UDPGothic"/>
                <a:ea typeface="BIZ UDPゴシック"/>
                <a:cs typeface="BIZ UDPGothic"/>
              </a:rPr>
              <a:t>現場試行の結果で決める</a:t>
            </a:r>
          </a:p>
          <a:p>
            <a:pPr algn="l">
              <a:lnSpc>
                <a:spcPct val="135000"/>
              </a:lnSpc>
              <a:spcBef>
                <a:spcPts val="1000"/>
              </a:spcBef>
            </a:pPr>
            <a:r>
              <a:rPr sz="1900" b="1" lang="ja-JP">
                <a:solidFill>
                  <a:srgbClr val="1A1E23"/>
                </a:solidFill>
                <a:latin typeface="BIZ UDPGothic"/>
                <a:ea typeface="BIZ UDPゴシック"/>
                <a:cs typeface="BIZ UDPGothic"/>
              </a:rPr>
              <a:t>確認の記録　</a:t>
            </a:r>
            <a:r>
              <a:rPr sz="1900" b="0" lang="ja-JP">
                <a:solidFill>
                  <a:srgbClr val="1A1E23"/>
                </a:solidFill>
                <a:latin typeface="BIZ UDPGothic"/>
                <a:ea typeface="BIZ UDPゴシック"/>
                <a:cs typeface="BIZ UDPGothic"/>
              </a:rPr>
              <a:t>「確認」したことを監視画面に表示するか</a:t>
            </a:r>
          </a:p>
          <a:p>
            <a:pPr algn="l">
              <a:lnSpc>
                <a:spcPct val="135000"/>
              </a:lnSpc>
              <a:spcBef>
                <a:spcPts val="1800"/>
              </a:spcBef>
            </a:pPr>
            <a:r>
              <a:rPr sz="1900" b="1" lang="ja-JP">
                <a:solidFill>
                  <a:srgbClr val="1A1E23"/>
                </a:solidFill>
                <a:latin typeface="BIZ UDPGothic"/>
                <a:ea typeface="BIZ UDPゴシック"/>
                <a:cs typeface="BIZ UDPGothic"/>
              </a:rPr>
              <a:t>端末の見守り　</a:t>
            </a:r>
            <a:r>
              <a:rPr sz="1900" b="0" lang="ja-JP">
                <a:solidFill>
                  <a:srgbClr val="1A1E23"/>
                </a:solidFill>
                <a:latin typeface="BIZ UDPGothic"/>
                <a:ea typeface="BIZ UDPゴシック"/>
                <a:cs typeface="BIZ UDPGothic"/>
              </a:rPr>
              <a:t>動いていない端末を定期的に見つける仕組みが要るか</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685800" y="502920"/>
            <a:ext cx="10820095" cy="1188720"/>
          </a:xfrm>
        </p:spPr>
        <p:txBody>
          <a:bodyPr wrap="square" lIns="0" rIns="0" tIns="0" bIns="0" anchor="t">
            <a:noAutofit/>
          </a:bodyPr>
          <a:lstStyle/>
          <a:p>
            <a:pPr algn="l">
              <a:lnSpc>
                <a:spcPct val="120000"/>
              </a:lnSpc>
            </a:pPr>
            <a:r>
              <a:rPr sz="3000" b="1" lang="ja-JP">
                <a:solidFill>
                  <a:srgbClr val="1A1E23"/>
                </a:solidFill>
                <a:latin typeface="BIZ UDPGothic"/>
                <a:ea typeface="BIZ UDPゴシック"/>
                <a:cs typeface="BIZ UDPGothic"/>
              </a:rPr>
              <a:t>実機と配信の準備を進め、</a:t>
            </a:r>
            <a:br/>
            <a:r>
              <a:rPr sz="3000" b="1" lang="ja-JP">
                <a:solidFill>
                  <a:srgbClr val="1A1E23"/>
                </a:solidFill>
                <a:latin typeface="BIZ UDPGothic"/>
                <a:ea typeface="BIZ UDPゴシック"/>
                <a:cs typeface="BIZ UDPGothic"/>
              </a:rPr>
              <a:t>1現場での試行につなげる</a:t>
            </a:r>
          </a:p>
        </p:txBody>
      </p:sp>
      <p:sp>
        <p:nvSpPr>
          <p:cNvPr id="3" name="TextBox 2"/>
          <p:cNvSpPr txBox="1"/>
          <p:nvPr/>
        </p:nvSpPr>
        <p:spPr>
          <a:xfrm>
            <a:off x="685800" y="6382512"/>
            <a:ext cx="9905695" cy="274320"/>
          </a:xfrm>
          <a:prstGeom prst="rect">
            <a:avLst/>
          </a:prstGeom>
          <a:noFill/>
        </p:spPr>
        <p:txBody>
          <a:bodyPr wrap="square" lIns="0" rIns="0" tIns="0" bIns="0" anchor="t">
            <a:noAutofit/>
          </a:bodyPr>
          <a:lstStyle/>
          <a:p>
            <a:pPr algn="l">
              <a:lnSpc>
                <a:spcPct val="130000"/>
              </a:lnSpc>
            </a:pPr>
            <a:r>
              <a:rPr sz="1000" b="0" lang="ja-JP">
                <a:solidFill>
                  <a:srgbClr val="69727D"/>
                </a:solidFill>
                <a:latin typeface="BIZ UDPGothic"/>
                <a:ea typeface="BIZ UDPゴシック"/>
                <a:cs typeface="BIZ UDPGothic"/>
              </a:rPr>
              <a:t>工事現場向け スマートウォッチ通知システム　試作の動作確認報告</a:t>
            </a:r>
          </a:p>
        </p:txBody>
      </p:sp>
      <p:sp>
        <p:nvSpPr>
          <p:cNvPr id="4" name="TextBox 3"/>
          <p:cNvSpPr txBox="1"/>
          <p:nvPr/>
        </p:nvSpPr>
        <p:spPr>
          <a:xfrm>
            <a:off x="10591495" y="6382512"/>
            <a:ext cx="914400" cy="274320"/>
          </a:xfrm>
          <a:prstGeom prst="rect">
            <a:avLst/>
          </a:prstGeom>
          <a:noFill/>
        </p:spPr>
        <p:txBody>
          <a:bodyPr wrap="square" lIns="0" rIns="0" tIns="0" bIns="0" anchor="t">
            <a:noAutofit/>
          </a:bodyPr>
          <a:lstStyle/>
          <a:p>
            <a:pPr algn="r">
              <a:lnSpc>
                <a:spcPct val="130000"/>
              </a:lnSpc>
            </a:pPr>
            <a:r>
              <a:rPr sz="1000" b="0" lang="ja-JP">
                <a:solidFill>
                  <a:srgbClr val="69727D"/>
                </a:solidFill>
                <a:latin typeface="BIZ UDPGothic"/>
                <a:ea typeface="BIZ UDPゴシック"/>
                <a:cs typeface="BIZ UDPGothic"/>
              </a:rPr>
              <a:t>19</a:t>
            </a:r>
          </a:p>
        </p:txBody>
      </p:sp>
      <p:cxnSp>
        <p:nvCxnSpPr>
          <p:cNvPr id="5" name="Connector 4"/>
          <p:cNvCxnSpPr/>
          <p:nvPr/>
        </p:nvCxnSpPr>
        <p:spPr>
          <a:xfrm>
            <a:off x="1417320" y="3246120"/>
            <a:ext cx="9357055" cy="0"/>
          </a:xfrm>
          <a:prstGeom prst="line">
            <a:avLst/>
          </a:prstGeom>
          <a:ln w="25400">
            <a:solidFill>
              <a:srgbClr val="D3D8DE"/>
            </a:solidFill>
          </a:ln>
        </p:spPr>
      </p:cxnSp>
      <p:sp>
        <p:nvSpPr>
          <p:cNvPr id="6" name="Oval 5"/>
          <p:cNvSpPr/>
          <p:nvPr/>
        </p:nvSpPr>
        <p:spPr>
          <a:xfrm>
            <a:off x="1143000" y="2971800"/>
            <a:ext cx="548640" cy="548640"/>
          </a:xfrm>
          <a:prstGeom prst="ellipse">
            <a:avLst/>
          </a:prstGeom>
          <a:solidFill>
            <a:srgbClr val="1E7A34"/>
          </a:solidFill>
          <a:ln>
            <a:noFill/>
          </a:ln>
        </p:spPr>
        <p:txBody>
          <a:bodyPr rtlCol="0" anchor="ctr" wrap="square" lIns="0" rIns="0" tIns="0" bIns="0">
            <a:noAutofit/>
          </a:bodyPr>
          <a:lstStyle/>
          <a:p>
            <a:pPr algn="ctr">
              <a:lnSpc>
                <a:spcPct val="100000"/>
              </a:lnSpc>
            </a:pPr>
            <a:r>
              <a:rPr sz="1600" b="1" lang="ja-JP">
                <a:solidFill>
                  <a:srgbClr val="FFFFFF"/>
                </a:solidFill>
                <a:latin typeface="BIZ UDPGothic"/>
                <a:ea typeface="BIZ UDPゴシック"/>
                <a:cs typeface="BIZ UDPGothic"/>
              </a:rPr>
              <a:t>済</a:t>
            </a:r>
          </a:p>
        </p:txBody>
      </p:sp>
      <p:sp>
        <p:nvSpPr>
          <p:cNvPr id="7" name="TextBox 6"/>
          <p:cNvSpPr txBox="1"/>
          <p:nvPr/>
        </p:nvSpPr>
        <p:spPr>
          <a:xfrm>
            <a:off x="640080" y="3703320"/>
            <a:ext cx="1554480" cy="1828800"/>
          </a:xfrm>
          <a:prstGeom prst="rect">
            <a:avLst/>
          </a:prstGeom>
          <a:noFill/>
        </p:spPr>
        <p:txBody>
          <a:bodyPr wrap="square" lIns="0" rIns="0" tIns="0" bIns="0" anchor="t">
            <a:noAutofit/>
          </a:bodyPr>
          <a:lstStyle/>
          <a:p>
            <a:pPr algn="ctr">
              <a:lnSpc>
                <a:spcPct val="135000"/>
              </a:lnSpc>
            </a:pPr>
            <a:r>
              <a:rPr sz="1600" b="1" lang="ja-JP">
                <a:solidFill>
                  <a:srgbClr val="1E7A34"/>
                </a:solidFill>
                <a:latin typeface="BIZ UDPGothic"/>
                <a:ea typeface="BIZ UDPゴシック"/>
                <a:cs typeface="BIZ UDPGothic"/>
              </a:rPr>
              <a:t>試作</a:t>
            </a:r>
          </a:p>
          <a:p>
            <a:pPr algn="ctr">
              <a:lnSpc>
                <a:spcPct val="135000"/>
              </a:lnSpc>
              <a:spcBef>
                <a:spcPts val="600"/>
              </a:spcBef>
            </a:pPr>
            <a:r>
              <a:rPr sz="1300" b="0" lang="ja-JP">
                <a:solidFill>
                  <a:srgbClr val="4B5560"/>
                </a:solidFill>
                <a:latin typeface="BIZ UDPGothic"/>
                <a:ea typeface="BIZ UDPゴシック"/>
                <a:cs typeface="BIZ UDPGothic"/>
              </a:rPr>
              <a:t>アプリと送信処理</a:t>
            </a:r>
            <a:br/>
            <a:r>
              <a:rPr sz="1300" b="0" lang="ja-JP">
                <a:solidFill>
                  <a:srgbClr val="4B5560"/>
                </a:solidFill>
                <a:latin typeface="BIZ UDPGothic"/>
                <a:ea typeface="BIZ UDPゴシック"/>
                <a:cs typeface="BIZ UDPGothic"/>
              </a:rPr>
              <a:t>エミュレーター確認</a:t>
            </a:r>
          </a:p>
        </p:txBody>
      </p:sp>
      <p:sp>
        <p:nvSpPr>
          <p:cNvPr id="8" name="Oval 7"/>
          <p:cNvSpPr/>
          <p:nvPr/>
        </p:nvSpPr>
        <p:spPr>
          <a:xfrm>
            <a:off x="2702509" y="2971800"/>
            <a:ext cx="548640" cy="548640"/>
          </a:xfrm>
          <a:prstGeom prst="ellipse">
            <a:avLst/>
          </a:prstGeom>
          <a:solidFill>
            <a:srgbClr val="FFFFFF"/>
          </a:solidFill>
          <a:ln w="22225">
            <a:solidFill>
              <a:srgbClr val="1A1E23"/>
            </a:solidFill>
          </a:ln>
        </p:spPr>
        <p:txBody>
          <a:bodyPr rtlCol="0" anchor="ctr" wrap="square" lIns="0" rIns="0" tIns="0" bIns="0">
            <a:noAutofit/>
          </a:bodyPr>
          <a:lstStyle/>
          <a:p>
            <a:pPr algn="ctr">
              <a:lnSpc>
                <a:spcPct val="100000"/>
              </a:lnSpc>
            </a:pPr>
            <a:r>
              <a:rPr sz="1600" b="1" lang="ja-JP">
                <a:solidFill>
                  <a:srgbClr val="1A1E23"/>
                </a:solidFill>
                <a:latin typeface="BIZ UDPGothic"/>
                <a:ea typeface="BIZ UDPゴシック"/>
                <a:cs typeface="BIZ UDPGothic"/>
              </a:rPr>
              <a:t>1</a:t>
            </a:r>
          </a:p>
        </p:txBody>
      </p:sp>
      <p:sp>
        <p:nvSpPr>
          <p:cNvPr id="9" name="TextBox 8"/>
          <p:cNvSpPr txBox="1"/>
          <p:nvPr/>
        </p:nvSpPr>
        <p:spPr>
          <a:xfrm>
            <a:off x="2199589" y="3703320"/>
            <a:ext cx="1554480" cy="1828800"/>
          </a:xfrm>
          <a:prstGeom prst="rect">
            <a:avLst/>
          </a:prstGeom>
          <a:noFill/>
        </p:spPr>
        <p:txBody>
          <a:bodyPr wrap="square" lIns="0" rIns="0" tIns="0" bIns="0" anchor="t">
            <a:noAutofit/>
          </a:bodyPr>
          <a:lstStyle/>
          <a:p>
            <a:pPr algn="ctr">
              <a:lnSpc>
                <a:spcPct val="135000"/>
              </a:lnSpc>
            </a:pPr>
            <a:r>
              <a:rPr sz="1600" b="1" lang="ja-JP">
                <a:solidFill>
                  <a:srgbClr val="1A1E23"/>
                </a:solidFill>
                <a:latin typeface="BIZ UDPGothic"/>
                <a:ea typeface="BIZ UDPゴシック"/>
                <a:cs typeface="BIZ UDPGothic"/>
              </a:rPr>
              <a:t>実機の調達</a:t>
            </a:r>
          </a:p>
          <a:p>
            <a:pPr algn="ctr">
              <a:lnSpc>
                <a:spcPct val="135000"/>
              </a:lnSpc>
              <a:spcBef>
                <a:spcPts val="600"/>
              </a:spcBef>
            </a:pPr>
            <a:r>
              <a:rPr sz="1300" b="0" lang="ja-JP">
                <a:solidFill>
                  <a:srgbClr val="4B5560"/>
                </a:solidFill>
                <a:latin typeface="BIZ UDPGothic"/>
                <a:ea typeface="BIZ UDPゴシック"/>
                <a:cs typeface="BIZ UDPGothic"/>
              </a:rPr>
              <a:t>機種を選び</a:t>
            </a:r>
            <a:br/>
            <a:r>
              <a:rPr sz="1300" b="0" lang="ja-JP">
                <a:solidFill>
                  <a:srgbClr val="4B5560"/>
                </a:solidFill>
                <a:latin typeface="BIZ UDPGothic"/>
                <a:ea typeface="BIZ UDPゴシック"/>
                <a:cs typeface="BIZ UDPGothic"/>
              </a:rPr>
              <a:t>検証用に2台</a:t>
            </a:r>
          </a:p>
        </p:txBody>
      </p:sp>
      <p:sp>
        <p:nvSpPr>
          <p:cNvPr id="10" name="Oval 9"/>
          <p:cNvSpPr/>
          <p:nvPr/>
        </p:nvSpPr>
        <p:spPr>
          <a:xfrm>
            <a:off x="4262018" y="2971800"/>
            <a:ext cx="548640" cy="548640"/>
          </a:xfrm>
          <a:prstGeom prst="ellipse">
            <a:avLst/>
          </a:prstGeom>
          <a:solidFill>
            <a:srgbClr val="FFFFFF"/>
          </a:solidFill>
          <a:ln w="22225">
            <a:solidFill>
              <a:srgbClr val="1A1E23"/>
            </a:solidFill>
          </a:ln>
        </p:spPr>
        <p:txBody>
          <a:bodyPr rtlCol="0" anchor="ctr" wrap="square" lIns="0" rIns="0" tIns="0" bIns="0">
            <a:noAutofit/>
          </a:bodyPr>
          <a:lstStyle/>
          <a:p>
            <a:pPr algn="ctr">
              <a:lnSpc>
                <a:spcPct val="100000"/>
              </a:lnSpc>
            </a:pPr>
            <a:r>
              <a:rPr sz="1600" b="1" lang="ja-JP">
                <a:solidFill>
                  <a:srgbClr val="1A1E23"/>
                </a:solidFill>
                <a:latin typeface="BIZ UDPGothic"/>
                <a:ea typeface="BIZ UDPゴシック"/>
                <a:cs typeface="BIZ UDPGothic"/>
              </a:rPr>
              <a:t>2</a:t>
            </a:r>
          </a:p>
        </p:txBody>
      </p:sp>
      <p:sp>
        <p:nvSpPr>
          <p:cNvPr id="11" name="TextBox 10"/>
          <p:cNvSpPr txBox="1"/>
          <p:nvPr/>
        </p:nvSpPr>
        <p:spPr>
          <a:xfrm>
            <a:off x="3759098" y="3703320"/>
            <a:ext cx="1554480" cy="1828800"/>
          </a:xfrm>
          <a:prstGeom prst="rect">
            <a:avLst/>
          </a:prstGeom>
          <a:noFill/>
        </p:spPr>
        <p:txBody>
          <a:bodyPr wrap="square" lIns="0" rIns="0" tIns="0" bIns="0" anchor="t">
            <a:noAutofit/>
          </a:bodyPr>
          <a:lstStyle/>
          <a:p>
            <a:pPr algn="ctr">
              <a:lnSpc>
                <a:spcPct val="135000"/>
              </a:lnSpc>
            </a:pPr>
            <a:r>
              <a:rPr sz="1600" b="1" lang="ja-JP">
                <a:solidFill>
                  <a:srgbClr val="1A1E23"/>
                </a:solidFill>
                <a:latin typeface="BIZ UDPGothic"/>
                <a:ea typeface="BIZ UDPゴシック"/>
                <a:cs typeface="BIZ UDPGothic"/>
              </a:rPr>
              <a:t>配信の準備</a:t>
            </a:r>
          </a:p>
          <a:p>
            <a:pPr algn="ctr">
              <a:lnSpc>
                <a:spcPct val="135000"/>
              </a:lnSpc>
              <a:spcBef>
                <a:spcPts val="600"/>
              </a:spcBef>
            </a:pPr>
            <a:r>
              <a:rPr sz="1300" b="0" lang="ja-JP">
                <a:solidFill>
                  <a:srgbClr val="4B5560"/>
                </a:solidFill>
                <a:latin typeface="BIZ UDPGothic"/>
                <a:ea typeface="BIZ UDPゴシック"/>
                <a:cs typeface="BIZ UDPGothic"/>
              </a:rPr>
              <a:t>Play Console登録</a:t>
            </a:r>
            <a:br/>
            <a:r>
              <a:rPr sz="1300" b="0" lang="ja-JP">
                <a:solidFill>
                  <a:srgbClr val="4B5560"/>
                </a:solidFill>
                <a:latin typeface="BIZ UDPGothic"/>
                <a:ea typeface="BIZ UDPゴシック"/>
                <a:cs typeface="BIZ UDPGothic"/>
              </a:rPr>
              <a:t>内部テスト配信</a:t>
            </a:r>
          </a:p>
        </p:txBody>
      </p:sp>
      <p:sp>
        <p:nvSpPr>
          <p:cNvPr id="12" name="Oval 11"/>
          <p:cNvSpPr/>
          <p:nvPr/>
        </p:nvSpPr>
        <p:spPr>
          <a:xfrm>
            <a:off x="5821527" y="2971800"/>
            <a:ext cx="548640" cy="548640"/>
          </a:xfrm>
          <a:prstGeom prst="ellipse">
            <a:avLst/>
          </a:prstGeom>
          <a:solidFill>
            <a:srgbClr val="FFFFFF"/>
          </a:solidFill>
          <a:ln w="22225">
            <a:solidFill>
              <a:srgbClr val="1A1E23"/>
            </a:solidFill>
          </a:ln>
        </p:spPr>
        <p:txBody>
          <a:bodyPr rtlCol="0" anchor="ctr" wrap="square" lIns="0" rIns="0" tIns="0" bIns="0">
            <a:noAutofit/>
          </a:bodyPr>
          <a:lstStyle/>
          <a:p>
            <a:pPr algn="ctr">
              <a:lnSpc>
                <a:spcPct val="100000"/>
              </a:lnSpc>
            </a:pPr>
            <a:r>
              <a:rPr sz="1600" b="1" lang="ja-JP">
                <a:solidFill>
                  <a:srgbClr val="1A1E23"/>
                </a:solidFill>
                <a:latin typeface="BIZ UDPGothic"/>
                <a:ea typeface="BIZ UDPゴシック"/>
                <a:cs typeface="BIZ UDPGothic"/>
              </a:rPr>
              <a:t>3</a:t>
            </a:r>
          </a:p>
        </p:txBody>
      </p:sp>
      <p:sp>
        <p:nvSpPr>
          <p:cNvPr id="13" name="TextBox 12"/>
          <p:cNvSpPr txBox="1"/>
          <p:nvPr/>
        </p:nvSpPr>
        <p:spPr>
          <a:xfrm>
            <a:off x="5318607" y="3703320"/>
            <a:ext cx="1554480" cy="1828800"/>
          </a:xfrm>
          <a:prstGeom prst="rect">
            <a:avLst/>
          </a:prstGeom>
          <a:noFill/>
        </p:spPr>
        <p:txBody>
          <a:bodyPr wrap="square" lIns="0" rIns="0" tIns="0" bIns="0" anchor="t">
            <a:noAutofit/>
          </a:bodyPr>
          <a:lstStyle/>
          <a:p>
            <a:pPr algn="ctr">
              <a:lnSpc>
                <a:spcPct val="135000"/>
              </a:lnSpc>
            </a:pPr>
            <a:r>
              <a:rPr sz="1600" b="1" lang="ja-JP">
                <a:solidFill>
                  <a:srgbClr val="1A1E23"/>
                </a:solidFill>
                <a:latin typeface="BIZ UDPGothic"/>
                <a:ea typeface="BIZ UDPゴシック"/>
                <a:cs typeface="BIZ UDPGothic"/>
              </a:rPr>
              <a:t>実機での確認</a:t>
            </a:r>
          </a:p>
          <a:p>
            <a:pPr algn="ctr">
              <a:lnSpc>
                <a:spcPct val="135000"/>
              </a:lnSpc>
              <a:spcBef>
                <a:spcPts val="600"/>
              </a:spcBef>
            </a:pPr>
            <a:r>
              <a:rPr sz="1300" b="0" lang="ja-JP">
                <a:solidFill>
                  <a:srgbClr val="4B5560"/>
                </a:solidFill>
                <a:latin typeface="BIZ UDPGothic"/>
                <a:ea typeface="BIZ UDPゴシック"/>
                <a:cs typeface="BIZ UDPGothic"/>
              </a:rPr>
              <a:t>4項目を確かめる</a:t>
            </a:r>
          </a:p>
        </p:txBody>
      </p:sp>
      <p:sp>
        <p:nvSpPr>
          <p:cNvPr id="14" name="Oval 13"/>
          <p:cNvSpPr/>
          <p:nvPr/>
        </p:nvSpPr>
        <p:spPr>
          <a:xfrm>
            <a:off x="7381036" y="2971800"/>
            <a:ext cx="548640" cy="548640"/>
          </a:xfrm>
          <a:prstGeom prst="ellipse">
            <a:avLst/>
          </a:prstGeom>
          <a:solidFill>
            <a:srgbClr val="FFFFFF"/>
          </a:solidFill>
          <a:ln w="22225">
            <a:solidFill>
              <a:srgbClr val="1A1E23"/>
            </a:solidFill>
          </a:ln>
        </p:spPr>
        <p:txBody>
          <a:bodyPr rtlCol="0" anchor="ctr" wrap="square" lIns="0" rIns="0" tIns="0" bIns="0">
            <a:noAutofit/>
          </a:bodyPr>
          <a:lstStyle/>
          <a:p>
            <a:pPr algn="ctr">
              <a:lnSpc>
                <a:spcPct val="100000"/>
              </a:lnSpc>
            </a:pPr>
            <a:r>
              <a:rPr sz="1600" b="1" lang="ja-JP">
                <a:solidFill>
                  <a:srgbClr val="1A1E23"/>
                </a:solidFill>
                <a:latin typeface="BIZ UDPGothic"/>
                <a:ea typeface="BIZ UDPゴシック"/>
                <a:cs typeface="BIZ UDPGothic"/>
              </a:rPr>
              <a:t>4</a:t>
            </a:r>
          </a:p>
        </p:txBody>
      </p:sp>
      <p:sp>
        <p:nvSpPr>
          <p:cNvPr id="15" name="TextBox 14"/>
          <p:cNvSpPr txBox="1"/>
          <p:nvPr/>
        </p:nvSpPr>
        <p:spPr>
          <a:xfrm>
            <a:off x="6878116" y="3703320"/>
            <a:ext cx="1554480" cy="1828800"/>
          </a:xfrm>
          <a:prstGeom prst="rect">
            <a:avLst/>
          </a:prstGeom>
          <a:noFill/>
        </p:spPr>
        <p:txBody>
          <a:bodyPr wrap="square" lIns="0" rIns="0" tIns="0" bIns="0" anchor="t">
            <a:noAutofit/>
          </a:bodyPr>
          <a:lstStyle/>
          <a:p>
            <a:pPr algn="ctr">
              <a:lnSpc>
                <a:spcPct val="135000"/>
              </a:lnSpc>
            </a:pPr>
            <a:r>
              <a:rPr sz="1600" b="1" lang="ja-JP">
                <a:solidFill>
                  <a:srgbClr val="1A1E23"/>
                </a:solidFill>
                <a:latin typeface="BIZ UDPGothic"/>
                <a:ea typeface="BIZ UDPゴシック"/>
                <a:cs typeface="BIZ UDPGothic"/>
              </a:rPr>
              <a:t>組み込み</a:t>
            </a:r>
          </a:p>
          <a:p>
            <a:pPr algn="ctr">
              <a:lnSpc>
                <a:spcPct val="135000"/>
              </a:lnSpc>
              <a:spcBef>
                <a:spcPts val="600"/>
              </a:spcBef>
            </a:pPr>
            <a:r>
              <a:rPr sz="1300" b="0" lang="ja-JP">
                <a:solidFill>
                  <a:srgbClr val="4B5560"/>
                </a:solidFill>
                <a:latin typeface="BIZ UDPGothic"/>
                <a:ea typeface="BIZ UDPゴシック"/>
                <a:cs typeface="BIZ UDPGothic"/>
              </a:rPr>
              <a:t>既存システムへ</a:t>
            </a:r>
            <a:br/>
            <a:r>
              <a:rPr sz="1300" b="0" lang="ja-JP">
                <a:solidFill>
                  <a:srgbClr val="4B5560"/>
                </a:solidFill>
                <a:latin typeface="BIZ UDPGothic"/>
                <a:ea typeface="BIZ UDPゴシック"/>
                <a:cs typeface="BIZ UDPGothic"/>
              </a:rPr>
              <a:t>結合テスト</a:t>
            </a:r>
          </a:p>
        </p:txBody>
      </p:sp>
      <p:sp>
        <p:nvSpPr>
          <p:cNvPr id="16" name="Oval 15"/>
          <p:cNvSpPr/>
          <p:nvPr/>
        </p:nvSpPr>
        <p:spPr>
          <a:xfrm>
            <a:off x="8940546" y="2971800"/>
            <a:ext cx="548640" cy="548640"/>
          </a:xfrm>
          <a:prstGeom prst="ellipse">
            <a:avLst/>
          </a:prstGeom>
          <a:solidFill>
            <a:srgbClr val="FFFFFF"/>
          </a:solidFill>
          <a:ln w="22225">
            <a:solidFill>
              <a:srgbClr val="1A1E23"/>
            </a:solidFill>
          </a:ln>
        </p:spPr>
        <p:txBody>
          <a:bodyPr rtlCol="0" anchor="ctr" wrap="square" lIns="0" rIns="0" tIns="0" bIns="0">
            <a:noAutofit/>
          </a:bodyPr>
          <a:lstStyle/>
          <a:p>
            <a:pPr algn="ctr">
              <a:lnSpc>
                <a:spcPct val="100000"/>
              </a:lnSpc>
            </a:pPr>
            <a:r>
              <a:rPr sz="1600" b="1" lang="ja-JP">
                <a:solidFill>
                  <a:srgbClr val="1A1E23"/>
                </a:solidFill>
                <a:latin typeface="BIZ UDPGothic"/>
                <a:ea typeface="BIZ UDPゴシック"/>
                <a:cs typeface="BIZ UDPGothic"/>
              </a:rPr>
              <a:t>5</a:t>
            </a:r>
          </a:p>
        </p:txBody>
      </p:sp>
      <p:sp>
        <p:nvSpPr>
          <p:cNvPr id="17" name="TextBox 16"/>
          <p:cNvSpPr txBox="1"/>
          <p:nvPr/>
        </p:nvSpPr>
        <p:spPr>
          <a:xfrm>
            <a:off x="8437626" y="3703320"/>
            <a:ext cx="1554480" cy="1828800"/>
          </a:xfrm>
          <a:prstGeom prst="rect">
            <a:avLst/>
          </a:prstGeom>
          <a:noFill/>
        </p:spPr>
        <p:txBody>
          <a:bodyPr wrap="square" lIns="0" rIns="0" tIns="0" bIns="0" anchor="t">
            <a:noAutofit/>
          </a:bodyPr>
          <a:lstStyle/>
          <a:p>
            <a:pPr algn="ctr">
              <a:lnSpc>
                <a:spcPct val="135000"/>
              </a:lnSpc>
            </a:pPr>
            <a:r>
              <a:rPr sz="1600" b="1" lang="ja-JP">
                <a:solidFill>
                  <a:srgbClr val="1A1E23"/>
                </a:solidFill>
                <a:latin typeface="BIZ UDPGothic"/>
                <a:ea typeface="BIZ UDPゴシック"/>
                <a:cs typeface="BIZ UDPGothic"/>
              </a:rPr>
              <a:t>キッティング</a:t>
            </a:r>
          </a:p>
          <a:p>
            <a:pPr algn="ctr">
              <a:lnSpc>
                <a:spcPct val="135000"/>
              </a:lnSpc>
              <a:spcBef>
                <a:spcPts val="600"/>
              </a:spcBef>
            </a:pPr>
            <a:r>
              <a:rPr sz="1300" b="0" lang="ja-JP">
                <a:solidFill>
                  <a:srgbClr val="4B5560"/>
                </a:solidFill>
                <a:latin typeface="BIZ UDPGothic"/>
                <a:ea typeface="BIZ UDPゴシック"/>
                <a:cs typeface="BIZ UDPGothic"/>
              </a:rPr>
              <a:t>2〜3台で</a:t>
            </a:r>
            <a:br/>
            <a:r>
              <a:rPr sz="1300" b="0" lang="ja-JP">
                <a:solidFill>
                  <a:srgbClr val="4B5560"/>
                </a:solidFill>
                <a:latin typeface="BIZ UDPGothic"/>
                <a:ea typeface="BIZ UDPゴシック"/>
                <a:cs typeface="BIZ UDPGothic"/>
              </a:rPr>
              <a:t>手順を試す</a:t>
            </a:r>
          </a:p>
        </p:txBody>
      </p:sp>
      <p:sp>
        <p:nvSpPr>
          <p:cNvPr id="18" name="Oval 17"/>
          <p:cNvSpPr/>
          <p:nvPr/>
        </p:nvSpPr>
        <p:spPr>
          <a:xfrm>
            <a:off x="10500055" y="2971800"/>
            <a:ext cx="548640" cy="548640"/>
          </a:xfrm>
          <a:prstGeom prst="ellipse">
            <a:avLst/>
          </a:prstGeom>
          <a:solidFill>
            <a:srgbClr val="FFFFFF"/>
          </a:solidFill>
          <a:ln w="22225">
            <a:solidFill>
              <a:srgbClr val="1A1E23"/>
            </a:solidFill>
          </a:ln>
        </p:spPr>
        <p:txBody>
          <a:bodyPr rtlCol="0" anchor="ctr" wrap="square" lIns="0" rIns="0" tIns="0" bIns="0">
            <a:noAutofit/>
          </a:bodyPr>
          <a:lstStyle/>
          <a:p>
            <a:pPr algn="ctr">
              <a:lnSpc>
                <a:spcPct val="100000"/>
              </a:lnSpc>
            </a:pPr>
            <a:r>
              <a:rPr sz="1600" b="1" lang="ja-JP">
                <a:solidFill>
                  <a:srgbClr val="1A1E23"/>
                </a:solidFill>
                <a:latin typeface="BIZ UDPGothic"/>
                <a:ea typeface="BIZ UDPゴシック"/>
                <a:cs typeface="BIZ UDPGothic"/>
              </a:rPr>
              <a:t>6</a:t>
            </a:r>
          </a:p>
        </p:txBody>
      </p:sp>
      <p:sp>
        <p:nvSpPr>
          <p:cNvPr id="19" name="TextBox 18"/>
          <p:cNvSpPr txBox="1"/>
          <p:nvPr/>
        </p:nvSpPr>
        <p:spPr>
          <a:xfrm>
            <a:off x="9997135" y="3703320"/>
            <a:ext cx="1554480" cy="1828800"/>
          </a:xfrm>
          <a:prstGeom prst="rect">
            <a:avLst/>
          </a:prstGeom>
          <a:noFill/>
        </p:spPr>
        <p:txBody>
          <a:bodyPr wrap="square" lIns="0" rIns="0" tIns="0" bIns="0" anchor="t">
            <a:noAutofit/>
          </a:bodyPr>
          <a:lstStyle/>
          <a:p>
            <a:pPr algn="ctr">
              <a:lnSpc>
                <a:spcPct val="135000"/>
              </a:lnSpc>
            </a:pPr>
            <a:r>
              <a:rPr sz="1600" b="1" lang="ja-JP">
                <a:solidFill>
                  <a:srgbClr val="1A1E23"/>
                </a:solidFill>
                <a:latin typeface="BIZ UDPGothic"/>
                <a:ea typeface="BIZ UDPゴシック"/>
                <a:cs typeface="BIZ UDPGothic"/>
              </a:rPr>
              <a:t>現場試行</a:t>
            </a:r>
          </a:p>
          <a:p>
            <a:pPr algn="ctr">
              <a:lnSpc>
                <a:spcPct val="135000"/>
              </a:lnSpc>
              <a:spcBef>
                <a:spcPts val="600"/>
              </a:spcBef>
            </a:pPr>
            <a:r>
              <a:rPr sz="1300" b="0" lang="ja-JP">
                <a:solidFill>
                  <a:srgbClr val="4B5560"/>
                </a:solidFill>
                <a:latin typeface="BIZ UDPGothic"/>
                <a:ea typeface="BIZ UDPゴシック"/>
                <a:cs typeface="BIZ UDPGothic"/>
              </a:rPr>
              <a:t>1現場で</a:t>
            </a:r>
            <a:br/>
            <a:r>
              <a:rPr sz="1300" b="0" lang="ja-JP">
                <a:solidFill>
                  <a:srgbClr val="4B5560"/>
                </a:solidFill>
                <a:latin typeface="BIZ UDPGothic"/>
                <a:ea typeface="BIZ UDPゴシック"/>
                <a:cs typeface="BIZ UDPGothic"/>
              </a:rPr>
              <a:t>2週間ほど</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BIZ UDPGothic"/>
        <a:ea typeface="BIZ UDPゴシック"/>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BIZ UDPGothic"/>
        <a:ea typeface="BIZ UDPゴシック"/>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BIZ UDPGothic"/>
        <a:ea typeface="BIZ UDPゴシック"/>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BIZ UDPGothic"/>
        <a:ea typeface="BIZ UDPゴシック"/>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工事現場向け スマートウォッチ通知システム 試作の動作確認報告</dc:title>
  <dc:subject/>
  <dc:creator/>
  <cp:keywords/>
  <dc:description>generated using python-pptx</dc:description>
  <cp:lastModifiedBy/>
  <cp:revision>1</cp:revision>
  <dcterms:created xsi:type="dcterms:W3CDTF">2013-01-27T09:14:16Z</dcterms:created>
  <dcterms:modified xsi:type="dcterms:W3CDTF">2013-01-27T09:15:58Z</dcterms:modified>
  <cp:category/>
  <dc:language>ja-JP</dc:language>
</cp:coreProperties>
</file>